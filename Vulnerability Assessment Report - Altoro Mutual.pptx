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Hedvig Letters Sans" charset="-122" pitchFamily="34"/>
      <p:regular r:id="rId20"/>
    </p:embeddedFont>
    <p:embeddedFont>
      <p:font typeface="Liter" charset="-122" pitchFamily="34"/>
      <p:regular r:id="rId21"/>
    </p:embeddedFont>
    <p:embeddedFont>
      <p:font typeface="Mi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37e0d5742f2bdecffb7404e878b964d540a05a27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50" r="15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D4A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381000"/>
            <a:ext cx="1381125" cy="342900"/>
          </a:xfrm>
          <a:custGeom>
            <a:avLst/>
            <a:gdLst/>
            <a:ahLst/>
            <a:cxnLst/>
            <a:rect l="l" t="t" r="r" b="b"/>
            <a:pathLst>
              <a:path w="1381125" h="342900">
                <a:moveTo>
                  <a:pt x="0" y="0"/>
                </a:moveTo>
                <a:lnTo>
                  <a:pt x="1381125" y="0"/>
                </a:lnTo>
                <a:lnTo>
                  <a:pt x="13811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381000"/>
            <a:ext cx="38100" cy="342900"/>
          </a:xfrm>
          <a:custGeom>
            <a:avLst/>
            <a:gdLst/>
            <a:ahLst/>
            <a:cxnLst/>
            <a:rect l="l" t="t" r="r" b="b"/>
            <a:pathLst>
              <a:path w="38100" h="342900">
                <a:moveTo>
                  <a:pt x="0" y="0"/>
                </a:moveTo>
                <a:lnTo>
                  <a:pt x="38100" y="0"/>
                </a:lnTo>
                <a:lnTo>
                  <a:pt x="381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457200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680899" y="38100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Assessment Date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661849" y="571500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March 22, 2026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175" y="1219200"/>
            <a:ext cx="1930400" cy="501650"/>
          </a:xfrm>
          <a:custGeom>
            <a:avLst/>
            <a:gdLst/>
            <a:ahLst/>
            <a:cxnLst/>
            <a:rect l="l" t="t" r="r" b="b"/>
            <a:pathLst>
              <a:path w="1930400" h="501650">
                <a:moveTo>
                  <a:pt x="76201" y="0"/>
                </a:moveTo>
                <a:lnTo>
                  <a:pt x="1854199" y="0"/>
                </a:lnTo>
                <a:cubicBezTo>
                  <a:pt x="1896256" y="0"/>
                  <a:pt x="1930400" y="34144"/>
                  <a:pt x="1930400" y="76201"/>
                </a:cubicBezTo>
                <a:lnTo>
                  <a:pt x="1930400" y="425449"/>
                </a:lnTo>
                <a:cubicBezTo>
                  <a:pt x="1930400" y="467506"/>
                  <a:pt x="1896256" y="501650"/>
                  <a:pt x="1854199" y="501650"/>
                </a:cubicBezTo>
                <a:lnTo>
                  <a:pt x="76201" y="501650"/>
                </a:lnTo>
                <a:cubicBezTo>
                  <a:pt x="34144" y="501650"/>
                  <a:pt x="0" y="467506"/>
                  <a:pt x="0" y="4254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 w="8467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6425" y="1355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3139" y="1295"/>
                </a:moveTo>
                <a:cubicBezTo>
                  <a:pt x="111264" y="446"/>
                  <a:pt x="109255" y="0"/>
                  <a:pt x="107156" y="0"/>
                </a:cubicBezTo>
                <a:cubicBezTo>
                  <a:pt x="105058" y="0"/>
                  <a:pt x="103049" y="446"/>
                  <a:pt x="101173" y="1295"/>
                </a:cubicBezTo>
                <a:lnTo>
                  <a:pt x="17100" y="36969"/>
                </a:lnTo>
                <a:cubicBezTo>
                  <a:pt x="7278" y="41121"/>
                  <a:pt x="-45" y="50810"/>
                  <a:pt x="0" y="62508"/>
                </a:cubicBezTo>
                <a:cubicBezTo>
                  <a:pt x="223" y="106799"/>
                  <a:pt x="18440" y="187836"/>
                  <a:pt x="95369" y="224671"/>
                </a:cubicBezTo>
                <a:cubicBezTo>
                  <a:pt x="102825" y="228243"/>
                  <a:pt x="111487" y="228243"/>
                  <a:pt x="118943" y="224671"/>
                </a:cubicBezTo>
                <a:cubicBezTo>
                  <a:pt x="195917" y="187836"/>
                  <a:pt x="214134" y="106799"/>
                  <a:pt x="214313" y="62508"/>
                </a:cubicBezTo>
                <a:cubicBezTo>
                  <a:pt x="214357" y="50810"/>
                  <a:pt x="207035" y="41121"/>
                  <a:pt x="197212" y="36969"/>
                </a:cubicBezTo>
                <a:lnTo>
                  <a:pt x="113139" y="1295"/>
                </a:lnTo>
                <a:close/>
                <a:moveTo>
                  <a:pt x="107156" y="57150"/>
                </a:moveTo>
                <a:cubicBezTo>
                  <a:pt x="113094" y="57150"/>
                  <a:pt x="117872" y="61927"/>
                  <a:pt x="117872" y="67866"/>
                </a:cubicBezTo>
                <a:cubicBezTo>
                  <a:pt x="117872" y="78090"/>
                  <a:pt x="130239" y="83225"/>
                  <a:pt x="137473" y="75992"/>
                </a:cubicBezTo>
                <a:cubicBezTo>
                  <a:pt x="141669" y="71795"/>
                  <a:pt x="148456" y="71795"/>
                  <a:pt x="152608" y="75992"/>
                </a:cubicBezTo>
                <a:cubicBezTo>
                  <a:pt x="156761" y="80189"/>
                  <a:pt x="156805" y="86975"/>
                  <a:pt x="152608" y="91127"/>
                </a:cubicBezTo>
                <a:cubicBezTo>
                  <a:pt x="145375" y="98361"/>
                  <a:pt x="150510" y="110728"/>
                  <a:pt x="160734" y="110728"/>
                </a:cubicBezTo>
                <a:cubicBezTo>
                  <a:pt x="166673" y="110728"/>
                  <a:pt x="171450" y="115506"/>
                  <a:pt x="171450" y="121444"/>
                </a:cubicBezTo>
                <a:cubicBezTo>
                  <a:pt x="171450" y="127382"/>
                  <a:pt x="166673" y="132159"/>
                  <a:pt x="160734" y="132159"/>
                </a:cubicBezTo>
                <a:cubicBezTo>
                  <a:pt x="150510" y="132159"/>
                  <a:pt x="145375" y="144527"/>
                  <a:pt x="152608" y="151760"/>
                </a:cubicBezTo>
                <a:cubicBezTo>
                  <a:pt x="156805" y="155957"/>
                  <a:pt x="156805" y="162744"/>
                  <a:pt x="152608" y="166896"/>
                </a:cubicBezTo>
                <a:cubicBezTo>
                  <a:pt x="148411" y="171048"/>
                  <a:pt x="141625" y="171093"/>
                  <a:pt x="137473" y="166896"/>
                </a:cubicBezTo>
                <a:cubicBezTo>
                  <a:pt x="130239" y="159663"/>
                  <a:pt x="117872" y="164797"/>
                  <a:pt x="117872" y="175022"/>
                </a:cubicBezTo>
                <a:cubicBezTo>
                  <a:pt x="117872" y="180960"/>
                  <a:pt x="113094" y="185737"/>
                  <a:pt x="107156" y="185737"/>
                </a:cubicBezTo>
                <a:cubicBezTo>
                  <a:pt x="101218" y="185737"/>
                  <a:pt x="96441" y="180960"/>
                  <a:pt x="96441" y="175022"/>
                </a:cubicBezTo>
                <a:cubicBezTo>
                  <a:pt x="96441" y="164797"/>
                  <a:pt x="84073" y="159663"/>
                  <a:pt x="76840" y="166896"/>
                </a:cubicBezTo>
                <a:cubicBezTo>
                  <a:pt x="72643" y="171093"/>
                  <a:pt x="65856" y="171093"/>
                  <a:pt x="61704" y="166896"/>
                </a:cubicBezTo>
                <a:cubicBezTo>
                  <a:pt x="57552" y="162699"/>
                  <a:pt x="57507" y="155912"/>
                  <a:pt x="61704" y="151760"/>
                </a:cubicBezTo>
                <a:cubicBezTo>
                  <a:pt x="68937" y="144527"/>
                  <a:pt x="63803" y="132159"/>
                  <a:pt x="53578" y="132159"/>
                </a:cubicBezTo>
                <a:cubicBezTo>
                  <a:pt x="47640" y="132159"/>
                  <a:pt x="42862" y="127382"/>
                  <a:pt x="42862" y="121444"/>
                </a:cubicBezTo>
                <a:cubicBezTo>
                  <a:pt x="42862" y="115506"/>
                  <a:pt x="47640" y="110728"/>
                  <a:pt x="53578" y="110728"/>
                </a:cubicBezTo>
                <a:cubicBezTo>
                  <a:pt x="63803" y="110728"/>
                  <a:pt x="68937" y="98361"/>
                  <a:pt x="61704" y="91127"/>
                </a:cubicBezTo>
                <a:cubicBezTo>
                  <a:pt x="57507" y="86931"/>
                  <a:pt x="57507" y="80144"/>
                  <a:pt x="61704" y="75992"/>
                </a:cubicBezTo>
                <a:cubicBezTo>
                  <a:pt x="65901" y="71839"/>
                  <a:pt x="72688" y="71795"/>
                  <a:pt x="76840" y="75992"/>
                </a:cubicBezTo>
                <a:cubicBezTo>
                  <a:pt x="84073" y="83225"/>
                  <a:pt x="96441" y="78090"/>
                  <a:pt x="96441" y="67866"/>
                </a:cubicBezTo>
                <a:cubicBezTo>
                  <a:pt x="96441" y="61927"/>
                  <a:pt x="101218" y="57150"/>
                  <a:pt x="107156" y="57150"/>
                </a:cubicBezTo>
                <a:close/>
                <a:moveTo>
                  <a:pt x="92869" y="117872"/>
                </a:moveTo>
                <a:cubicBezTo>
                  <a:pt x="98783" y="117872"/>
                  <a:pt x="103584" y="113070"/>
                  <a:pt x="103584" y="107156"/>
                </a:cubicBezTo>
                <a:cubicBezTo>
                  <a:pt x="103584" y="101242"/>
                  <a:pt x="98783" y="96441"/>
                  <a:pt x="92869" y="96441"/>
                </a:cubicBezTo>
                <a:cubicBezTo>
                  <a:pt x="86955" y="96441"/>
                  <a:pt x="82153" y="101242"/>
                  <a:pt x="82153" y="107156"/>
                </a:cubicBezTo>
                <a:cubicBezTo>
                  <a:pt x="82153" y="113070"/>
                  <a:pt x="86955" y="117872"/>
                  <a:pt x="92869" y="117872"/>
                </a:cubicBezTo>
                <a:close/>
                <a:moveTo>
                  <a:pt x="132159" y="135731"/>
                </a:moveTo>
                <a:cubicBezTo>
                  <a:pt x="132159" y="129817"/>
                  <a:pt x="127358" y="125016"/>
                  <a:pt x="121444" y="125016"/>
                </a:cubicBezTo>
                <a:cubicBezTo>
                  <a:pt x="115530" y="125016"/>
                  <a:pt x="110728" y="129817"/>
                  <a:pt x="110728" y="135731"/>
                </a:cubicBezTo>
                <a:cubicBezTo>
                  <a:pt x="110728" y="141645"/>
                  <a:pt x="115530" y="146447"/>
                  <a:pt x="121444" y="146447"/>
                </a:cubicBezTo>
                <a:cubicBezTo>
                  <a:pt x="127358" y="146447"/>
                  <a:pt x="132159" y="141645"/>
                  <a:pt x="132159" y="135731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1" name="Text 8"/>
          <p:cNvSpPr/>
          <p:nvPr/>
        </p:nvSpPr>
        <p:spPr>
          <a:xfrm>
            <a:off x="977900" y="1336675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VAPT REPORT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218122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Vulnerability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Assessment Report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1000" y="4048125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D4AA"/>
              </a:gs>
              <a:gs pos="100000">
                <a:srgbClr val="00D4AA">
                  <a:alpha val="30000"/>
                </a:srgbClr>
              </a:gs>
            </a:gsLst>
            <a:lin ang="0" scaled="1"/>
          </a:gradFill>
          <a:ln/>
        </p:spPr>
      </p:sp>
      <p:sp>
        <p:nvSpPr>
          <p:cNvPr id="14" name="Text 11"/>
          <p:cNvSpPr/>
          <p:nvPr/>
        </p:nvSpPr>
        <p:spPr>
          <a:xfrm>
            <a:off x="381000" y="4333875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Website Security Audit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81000" y="4791075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Altoro Mutual (demo.testfire.net)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4175" y="5476875"/>
            <a:ext cx="3702050" cy="996950"/>
          </a:xfrm>
          <a:custGeom>
            <a:avLst/>
            <a:gdLst/>
            <a:ahLst/>
            <a:cxnLst/>
            <a:rect l="l" t="t" r="r" b="b"/>
            <a:pathLst>
              <a:path w="3702050" h="996950">
                <a:moveTo>
                  <a:pt x="76197" y="0"/>
                </a:moveTo>
                <a:lnTo>
                  <a:pt x="3625853" y="0"/>
                </a:lnTo>
                <a:cubicBezTo>
                  <a:pt x="3667935" y="0"/>
                  <a:pt x="3702050" y="34115"/>
                  <a:pt x="3702050" y="76197"/>
                </a:cubicBezTo>
                <a:lnTo>
                  <a:pt x="3702050" y="920753"/>
                </a:lnTo>
                <a:cubicBezTo>
                  <a:pt x="3702050" y="962835"/>
                  <a:pt x="3667935" y="996950"/>
                  <a:pt x="3625853" y="996950"/>
                </a:cubicBezTo>
                <a:lnTo>
                  <a:pt x="76197" y="996950"/>
                </a:lnTo>
                <a:cubicBezTo>
                  <a:pt x="34115" y="996950"/>
                  <a:pt x="0" y="962835"/>
                  <a:pt x="0" y="92075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9750" y="563245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9750" y="5861050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GANDONOU Koffi Patrick-Léon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9750" y="612775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Cyber Security Intern - Future Intern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44975" y="5476875"/>
            <a:ext cx="3702050" cy="996950"/>
          </a:xfrm>
          <a:custGeom>
            <a:avLst/>
            <a:gdLst/>
            <a:ahLst/>
            <a:cxnLst/>
            <a:rect l="l" t="t" r="r" b="b"/>
            <a:pathLst>
              <a:path w="3702050" h="996950">
                <a:moveTo>
                  <a:pt x="76197" y="0"/>
                </a:moveTo>
                <a:lnTo>
                  <a:pt x="3625853" y="0"/>
                </a:lnTo>
                <a:cubicBezTo>
                  <a:pt x="3667935" y="0"/>
                  <a:pt x="3702050" y="34115"/>
                  <a:pt x="3702050" y="76197"/>
                </a:cubicBezTo>
                <a:lnTo>
                  <a:pt x="3702050" y="920753"/>
                </a:lnTo>
                <a:cubicBezTo>
                  <a:pt x="3702050" y="962835"/>
                  <a:pt x="3667935" y="996950"/>
                  <a:pt x="3625853" y="996950"/>
                </a:cubicBezTo>
                <a:lnTo>
                  <a:pt x="76197" y="996950"/>
                </a:lnTo>
                <a:cubicBezTo>
                  <a:pt x="34115" y="996950"/>
                  <a:pt x="0" y="962835"/>
                  <a:pt x="0" y="92075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00550" y="563245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400550" y="5861050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demo.testfire.net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400550" y="612775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65.61.137.117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105775" y="5476875"/>
            <a:ext cx="3702050" cy="996950"/>
          </a:xfrm>
          <a:custGeom>
            <a:avLst/>
            <a:gdLst/>
            <a:ahLst/>
            <a:cxnLst/>
            <a:rect l="l" t="t" r="r" b="b"/>
            <a:pathLst>
              <a:path w="3702050" h="996950">
                <a:moveTo>
                  <a:pt x="76197" y="0"/>
                </a:moveTo>
                <a:lnTo>
                  <a:pt x="3625853" y="0"/>
                </a:lnTo>
                <a:cubicBezTo>
                  <a:pt x="3667935" y="0"/>
                  <a:pt x="3702050" y="34115"/>
                  <a:pt x="3702050" y="76197"/>
                </a:cubicBezTo>
                <a:lnTo>
                  <a:pt x="3702050" y="920753"/>
                </a:lnTo>
                <a:cubicBezTo>
                  <a:pt x="3702050" y="962835"/>
                  <a:pt x="3667935" y="996950"/>
                  <a:pt x="3625853" y="996950"/>
                </a:cubicBezTo>
                <a:lnTo>
                  <a:pt x="76197" y="996950"/>
                </a:lnTo>
                <a:cubicBezTo>
                  <a:pt x="34115" y="996950"/>
                  <a:pt x="0" y="962835"/>
                  <a:pt x="0" y="92075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61350" y="563245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Assessment Type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261350" y="5861050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Passive VAPT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261350" y="612775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Read-Only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/>
              </a:gs>
              <a:gs pos="100000">
                <a:srgbClr val="00D4AA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61975" y="5715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09600"/>
            <a:ext cx="3171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146175"/>
            <a:ext cx="6197600" cy="2587625"/>
          </a:xfrm>
          <a:custGeom>
            <a:avLst/>
            <a:gdLst/>
            <a:ahLst/>
            <a:cxnLst/>
            <a:rect l="l" t="t" r="r" b="b"/>
            <a:pathLst>
              <a:path w="6197600" h="2587625">
                <a:moveTo>
                  <a:pt x="114295" y="0"/>
                </a:moveTo>
                <a:lnTo>
                  <a:pt x="6083305" y="0"/>
                </a:lnTo>
                <a:cubicBezTo>
                  <a:pt x="6146428" y="0"/>
                  <a:pt x="6197600" y="51172"/>
                  <a:pt x="6197600" y="114295"/>
                </a:cubicBezTo>
                <a:lnTo>
                  <a:pt x="6197600" y="2473330"/>
                </a:lnTo>
                <a:cubicBezTo>
                  <a:pt x="6197600" y="2536453"/>
                  <a:pt x="6146428" y="2587625"/>
                  <a:pt x="6083305" y="2587625"/>
                </a:cubicBezTo>
                <a:lnTo>
                  <a:pt x="114295" y="2587625"/>
                </a:lnTo>
                <a:cubicBezTo>
                  <a:pt x="51172" y="2587625"/>
                  <a:pt x="0" y="2536453"/>
                  <a:pt x="0" y="24733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1663" y="1485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815975" y="1447800"/>
            <a:ext cx="566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Assessment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7850" y="1828800"/>
            <a:ext cx="58864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report presents the findings of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passive web application vulnerability assessment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conducted against Altoro Mutual (demo.testfire.net), a publicly authorized test banking platform maintained by HCL Technologies.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7850" y="2686050"/>
            <a:ext cx="58864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assessment identified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6B6B"/>
                </a:solidFill>
                <a:highlight>
                  <a:srgbClr val="FF6B6B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alerts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across four risk tiers. The findings reveal a web application running on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highly outdated server infrastructure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lacking critical browser-enforced security headers.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175" y="3889375"/>
            <a:ext cx="6197600" cy="2587625"/>
          </a:xfrm>
          <a:custGeom>
            <a:avLst/>
            <a:gdLst/>
            <a:ahLst/>
            <a:cxnLst/>
            <a:rect l="l" t="t" r="r" b="b"/>
            <a:pathLst>
              <a:path w="6197600" h="2587625">
                <a:moveTo>
                  <a:pt x="114295" y="0"/>
                </a:moveTo>
                <a:lnTo>
                  <a:pt x="6083305" y="0"/>
                </a:lnTo>
                <a:cubicBezTo>
                  <a:pt x="6146428" y="0"/>
                  <a:pt x="6197600" y="51172"/>
                  <a:pt x="6197600" y="114295"/>
                </a:cubicBezTo>
                <a:lnTo>
                  <a:pt x="6197600" y="2473330"/>
                </a:lnTo>
                <a:cubicBezTo>
                  <a:pt x="6197600" y="2536453"/>
                  <a:pt x="6146428" y="2587625"/>
                  <a:pt x="6083305" y="2587625"/>
                </a:cubicBezTo>
                <a:lnTo>
                  <a:pt x="114295" y="2587625"/>
                </a:lnTo>
                <a:cubicBezTo>
                  <a:pt x="51172" y="2587625"/>
                  <a:pt x="0" y="2536453"/>
                  <a:pt x="0" y="24733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10000"/>
                </a:srgbClr>
              </a:gs>
            </a:gsLst>
            <a:lin ang="2700000" scaled="1"/>
          </a:gradFill>
          <a:ln w="8467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1663" y="4295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815975" y="4257675"/>
            <a:ext cx="566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Message for Business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1663" y="4676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906463" y="4638675"/>
            <a:ext cx="4286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website is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but not secure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modern standards.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2138" y="5038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891183" y="5000625"/>
            <a:ext cx="55721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issues identified are types that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attackers routinely exploit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against banking applications.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7375" y="56483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880070" y="5610225"/>
            <a:ext cx="5581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Fixing them is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expensive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it primarily requires configuration changes and a server upgrade.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39235" y="1146175"/>
            <a:ext cx="5064125" cy="3092450"/>
          </a:xfrm>
          <a:custGeom>
            <a:avLst/>
            <a:gdLst/>
            <a:ahLst/>
            <a:cxnLst/>
            <a:rect l="l" t="t" r="r" b="b"/>
            <a:pathLst>
              <a:path w="5064125" h="3092450">
                <a:moveTo>
                  <a:pt x="114297" y="0"/>
                </a:moveTo>
                <a:lnTo>
                  <a:pt x="4949828" y="0"/>
                </a:lnTo>
                <a:cubicBezTo>
                  <a:pt x="5012953" y="0"/>
                  <a:pt x="5064125" y="51172"/>
                  <a:pt x="5064125" y="114297"/>
                </a:cubicBezTo>
                <a:lnTo>
                  <a:pt x="5064125" y="2978153"/>
                </a:lnTo>
                <a:cubicBezTo>
                  <a:pt x="5064125" y="3041278"/>
                  <a:pt x="5012953" y="3092450"/>
                  <a:pt x="4949828" y="3092450"/>
                </a:cubicBezTo>
                <a:lnTo>
                  <a:pt x="114297" y="3092450"/>
                </a:lnTo>
                <a:cubicBezTo>
                  <a:pt x="51172" y="3092450"/>
                  <a:pt x="0" y="3041278"/>
                  <a:pt x="0" y="29781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5286" y="1339850"/>
            <a:ext cx="477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Distribution</a:t>
            </a:r>
            <a:endParaRPr lang="en-US" sz="1600" dirty="0"/>
          </a:p>
        </p:txBody>
      </p:sp>
      <p:pic>
        <p:nvPicPr>
          <p:cNvPr id="22" name="Image 0" descr="https://kimi-img.moonshot.cn/pub/slides/26-03-23-10:02:06-d709u7ggts4agcut1lh0.png">    </p:cNvPr>
          <p:cNvPicPr>
            <a:picLocks noChangeAspect="1"/>
          </p:cNvPicPr>
          <p:nvPr/>
        </p:nvPicPr>
        <p:blipFill>
          <a:blip r:embed="rId1"/>
          <a:srcRect l="0" r="0" t="34" b="34"/>
          <a:stretch/>
        </p:blipFill>
        <p:spPr>
          <a:xfrm>
            <a:off x="6932911" y="1758950"/>
            <a:ext cx="4676775" cy="2286000"/>
          </a:xfrm>
          <a:prstGeom prst="roundRect">
            <a:avLst>
              <a:gd name="adj" fmla="val 0"/>
            </a:avLst>
          </a:prstGeom>
        </p:spPr>
      </p:pic>
      <p:sp>
        <p:nvSpPr>
          <p:cNvPr id="23" name="Shape 20"/>
          <p:cNvSpPr/>
          <p:nvPr/>
        </p:nvSpPr>
        <p:spPr>
          <a:xfrm>
            <a:off x="6739235" y="4397375"/>
            <a:ext cx="2454275" cy="958850"/>
          </a:xfrm>
          <a:custGeom>
            <a:avLst/>
            <a:gdLst/>
            <a:ahLst/>
            <a:cxnLst/>
            <a:rect l="l" t="t" r="r" b="b"/>
            <a:pathLst>
              <a:path w="2454275" h="958850">
                <a:moveTo>
                  <a:pt x="114305" y="0"/>
                </a:moveTo>
                <a:lnTo>
                  <a:pt x="2339970" y="0"/>
                </a:lnTo>
                <a:cubicBezTo>
                  <a:pt x="2403099" y="0"/>
                  <a:pt x="2454275" y="51176"/>
                  <a:pt x="2454275" y="114305"/>
                </a:cubicBezTo>
                <a:lnTo>
                  <a:pt x="2454275" y="844545"/>
                </a:lnTo>
                <a:cubicBezTo>
                  <a:pt x="2454275" y="907674"/>
                  <a:pt x="2403099" y="958850"/>
                  <a:pt x="2339970" y="958850"/>
                </a:cubicBezTo>
                <a:lnTo>
                  <a:pt x="114305" y="958850"/>
                </a:lnTo>
                <a:cubicBezTo>
                  <a:pt x="51176" y="958850"/>
                  <a:pt x="0" y="907674"/>
                  <a:pt x="0" y="84454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 w="8467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09086" y="4552950"/>
            <a:ext cx="2314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56711" y="4972050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Risk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352855" y="4397375"/>
            <a:ext cx="2454275" cy="958850"/>
          </a:xfrm>
          <a:custGeom>
            <a:avLst/>
            <a:gdLst/>
            <a:ahLst/>
            <a:cxnLst/>
            <a:rect l="l" t="t" r="r" b="b"/>
            <a:pathLst>
              <a:path w="2454275" h="958850">
                <a:moveTo>
                  <a:pt x="114305" y="0"/>
                </a:moveTo>
                <a:lnTo>
                  <a:pt x="2339970" y="0"/>
                </a:lnTo>
                <a:cubicBezTo>
                  <a:pt x="2403099" y="0"/>
                  <a:pt x="2454275" y="51176"/>
                  <a:pt x="2454275" y="114305"/>
                </a:cubicBezTo>
                <a:lnTo>
                  <a:pt x="2454275" y="844545"/>
                </a:lnTo>
                <a:cubicBezTo>
                  <a:pt x="2454275" y="907674"/>
                  <a:pt x="2403099" y="958850"/>
                  <a:pt x="2339970" y="958850"/>
                </a:cubicBezTo>
                <a:lnTo>
                  <a:pt x="114305" y="958850"/>
                </a:lnTo>
                <a:cubicBezTo>
                  <a:pt x="51176" y="958850"/>
                  <a:pt x="0" y="907674"/>
                  <a:pt x="0" y="84454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 w="8467">
            <a:solidFill>
              <a:srgbClr val="FFA500">
                <a:alpha val="4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422706" y="4552950"/>
            <a:ext cx="2314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470331" y="4972050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 Risk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739235" y="5514976"/>
            <a:ext cx="2454275" cy="958850"/>
          </a:xfrm>
          <a:custGeom>
            <a:avLst/>
            <a:gdLst/>
            <a:ahLst/>
            <a:cxnLst/>
            <a:rect l="l" t="t" r="r" b="b"/>
            <a:pathLst>
              <a:path w="2454275" h="958850">
                <a:moveTo>
                  <a:pt x="114305" y="0"/>
                </a:moveTo>
                <a:lnTo>
                  <a:pt x="2339970" y="0"/>
                </a:lnTo>
                <a:cubicBezTo>
                  <a:pt x="2403099" y="0"/>
                  <a:pt x="2454275" y="51176"/>
                  <a:pt x="2454275" y="114305"/>
                </a:cubicBezTo>
                <a:lnTo>
                  <a:pt x="2454275" y="844545"/>
                </a:lnTo>
                <a:cubicBezTo>
                  <a:pt x="2454275" y="907674"/>
                  <a:pt x="2403099" y="958850"/>
                  <a:pt x="2339970" y="958850"/>
                </a:cubicBezTo>
                <a:lnTo>
                  <a:pt x="114305" y="958850"/>
                </a:lnTo>
                <a:cubicBezTo>
                  <a:pt x="51176" y="958850"/>
                  <a:pt x="0" y="907674"/>
                  <a:pt x="0" y="84454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 w="8467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09086" y="5670550"/>
            <a:ext cx="2314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856711" y="6089650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Risk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9352855" y="5514976"/>
            <a:ext cx="2454275" cy="958850"/>
          </a:xfrm>
          <a:custGeom>
            <a:avLst/>
            <a:gdLst/>
            <a:ahLst/>
            <a:cxnLst/>
            <a:rect l="l" t="t" r="r" b="b"/>
            <a:pathLst>
              <a:path w="2454275" h="958850">
                <a:moveTo>
                  <a:pt x="114305" y="0"/>
                </a:moveTo>
                <a:lnTo>
                  <a:pt x="2339970" y="0"/>
                </a:lnTo>
                <a:cubicBezTo>
                  <a:pt x="2403099" y="0"/>
                  <a:pt x="2454275" y="51176"/>
                  <a:pt x="2454275" y="114305"/>
                </a:cubicBezTo>
                <a:lnTo>
                  <a:pt x="2454275" y="844545"/>
                </a:lnTo>
                <a:cubicBezTo>
                  <a:pt x="2454275" y="907674"/>
                  <a:pt x="2403099" y="958850"/>
                  <a:pt x="2339970" y="958850"/>
                </a:cubicBezTo>
                <a:lnTo>
                  <a:pt x="114305" y="958850"/>
                </a:lnTo>
                <a:cubicBezTo>
                  <a:pt x="51176" y="958850"/>
                  <a:pt x="0" y="907674"/>
                  <a:pt x="0" y="84454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422706" y="5670550"/>
            <a:ext cx="2314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470331" y="6089650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6856" y="381542"/>
            <a:ext cx="485599" cy="485599"/>
          </a:xfrm>
          <a:custGeom>
            <a:avLst/>
            <a:gdLst/>
            <a:ahLst/>
            <a:cxnLst/>
            <a:rect l="l" t="t" r="r" b="b"/>
            <a:pathLst>
              <a:path w="485599" h="485599">
                <a:moveTo>
                  <a:pt x="104059" y="0"/>
                </a:moveTo>
                <a:lnTo>
                  <a:pt x="381540" y="0"/>
                </a:lnTo>
                <a:cubicBezTo>
                  <a:pt x="439010" y="0"/>
                  <a:pt x="485599" y="46589"/>
                  <a:pt x="485599" y="104059"/>
                </a:cubicBezTo>
                <a:lnTo>
                  <a:pt x="485599" y="381540"/>
                </a:lnTo>
                <a:cubicBezTo>
                  <a:pt x="485599" y="439010"/>
                  <a:pt x="439010" y="485599"/>
                  <a:pt x="381540" y="485599"/>
                </a:cubicBezTo>
                <a:lnTo>
                  <a:pt x="104059" y="485599"/>
                </a:lnTo>
                <a:cubicBezTo>
                  <a:pt x="46589" y="485599"/>
                  <a:pt x="0" y="439010"/>
                  <a:pt x="0" y="381540"/>
                </a:cubicBezTo>
                <a:lnTo>
                  <a:pt x="0" y="104059"/>
                </a:lnTo>
                <a:cubicBezTo>
                  <a:pt x="0" y="46627"/>
                  <a:pt x="46627" y="0"/>
                  <a:pt x="104059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/>
              </a:gs>
              <a:gs pos="100000">
                <a:srgbClr val="00D4AA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472592" y="520284"/>
            <a:ext cx="234128" cy="208114"/>
          </a:xfrm>
          <a:custGeom>
            <a:avLst/>
            <a:gdLst/>
            <a:ahLst/>
            <a:cxnLst/>
            <a:rect l="l" t="t" r="r" b="b"/>
            <a:pathLst>
              <a:path w="234128" h="208114">
                <a:moveTo>
                  <a:pt x="117064" y="-6504"/>
                </a:moveTo>
                <a:cubicBezTo>
                  <a:pt x="124259" y="-6504"/>
                  <a:pt x="130071" y="-691"/>
                  <a:pt x="130071" y="6504"/>
                </a:cubicBezTo>
                <a:lnTo>
                  <a:pt x="130071" y="13942"/>
                </a:lnTo>
                <a:cubicBezTo>
                  <a:pt x="169946" y="19633"/>
                  <a:pt x="201488" y="51175"/>
                  <a:pt x="207179" y="91050"/>
                </a:cubicBezTo>
                <a:lnTo>
                  <a:pt x="214617" y="91050"/>
                </a:lnTo>
                <a:cubicBezTo>
                  <a:pt x="221812" y="91050"/>
                  <a:pt x="227624" y="96862"/>
                  <a:pt x="227624" y="104057"/>
                </a:cubicBezTo>
                <a:cubicBezTo>
                  <a:pt x="227624" y="111251"/>
                  <a:pt x="221812" y="117064"/>
                  <a:pt x="214617" y="117064"/>
                </a:cubicBezTo>
                <a:lnTo>
                  <a:pt x="207179" y="117064"/>
                </a:lnTo>
                <a:cubicBezTo>
                  <a:pt x="201488" y="156939"/>
                  <a:pt x="169946" y="188481"/>
                  <a:pt x="130071" y="194172"/>
                </a:cubicBezTo>
                <a:lnTo>
                  <a:pt x="130071" y="201610"/>
                </a:lnTo>
                <a:cubicBezTo>
                  <a:pt x="130071" y="208805"/>
                  <a:pt x="124259" y="214617"/>
                  <a:pt x="117064" y="214617"/>
                </a:cubicBezTo>
                <a:cubicBezTo>
                  <a:pt x="109869" y="214617"/>
                  <a:pt x="104057" y="208805"/>
                  <a:pt x="104057" y="201610"/>
                </a:cubicBezTo>
                <a:lnTo>
                  <a:pt x="104057" y="194172"/>
                </a:lnTo>
                <a:cubicBezTo>
                  <a:pt x="64182" y="188481"/>
                  <a:pt x="32640" y="156939"/>
                  <a:pt x="26949" y="117064"/>
                </a:cubicBezTo>
                <a:lnTo>
                  <a:pt x="19511" y="117064"/>
                </a:lnTo>
                <a:cubicBezTo>
                  <a:pt x="12316" y="117064"/>
                  <a:pt x="6504" y="111251"/>
                  <a:pt x="6504" y="104057"/>
                </a:cubicBezTo>
                <a:cubicBezTo>
                  <a:pt x="6504" y="96862"/>
                  <a:pt x="12316" y="91050"/>
                  <a:pt x="19511" y="91050"/>
                </a:cubicBezTo>
                <a:lnTo>
                  <a:pt x="26949" y="91050"/>
                </a:lnTo>
                <a:cubicBezTo>
                  <a:pt x="32640" y="51175"/>
                  <a:pt x="64182" y="19633"/>
                  <a:pt x="104057" y="13942"/>
                </a:cubicBezTo>
                <a:lnTo>
                  <a:pt x="104057" y="6504"/>
                </a:lnTo>
                <a:cubicBezTo>
                  <a:pt x="104057" y="-691"/>
                  <a:pt x="109869" y="-6504"/>
                  <a:pt x="117064" y="-6504"/>
                </a:cubicBezTo>
                <a:close/>
                <a:moveTo>
                  <a:pt x="53329" y="117064"/>
                </a:moveTo>
                <a:cubicBezTo>
                  <a:pt x="58491" y="142550"/>
                  <a:pt x="78571" y="162630"/>
                  <a:pt x="104057" y="167792"/>
                </a:cubicBezTo>
                <a:lnTo>
                  <a:pt x="104057" y="162589"/>
                </a:lnTo>
                <a:cubicBezTo>
                  <a:pt x="104057" y="155394"/>
                  <a:pt x="109869" y="149582"/>
                  <a:pt x="117064" y="149582"/>
                </a:cubicBezTo>
                <a:cubicBezTo>
                  <a:pt x="124259" y="149582"/>
                  <a:pt x="130071" y="155394"/>
                  <a:pt x="130071" y="162589"/>
                </a:cubicBezTo>
                <a:lnTo>
                  <a:pt x="130071" y="167792"/>
                </a:lnTo>
                <a:cubicBezTo>
                  <a:pt x="155557" y="162630"/>
                  <a:pt x="175637" y="142550"/>
                  <a:pt x="180799" y="117064"/>
                </a:cubicBezTo>
                <a:lnTo>
                  <a:pt x="175596" y="117064"/>
                </a:lnTo>
                <a:cubicBezTo>
                  <a:pt x="168401" y="117064"/>
                  <a:pt x="162589" y="111251"/>
                  <a:pt x="162589" y="104057"/>
                </a:cubicBezTo>
                <a:cubicBezTo>
                  <a:pt x="162589" y="96862"/>
                  <a:pt x="168401" y="91050"/>
                  <a:pt x="175596" y="91050"/>
                </a:cubicBezTo>
                <a:lnTo>
                  <a:pt x="180799" y="91050"/>
                </a:lnTo>
                <a:cubicBezTo>
                  <a:pt x="175637" y="65564"/>
                  <a:pt x="155557" y="45484"/>
                  <a:pt x="130071" y="40322"/>
                </a:cubicBezTo>
                <a:lnTo>
                  <a:pt x="130071" y="45525"/>
                </a:lnTo>
                <a:cubicBezTo>
                  <a:pt x="130071" y="52719"/>
                  <a:pt x="124259" y="58532"/>
                  <a:pt x="117064" y="58532"/>
                </a:cubicBezTo>
                <a:cubicBezTo>
                  <a:pt x="109869" y="58532"/>
                  <a:pt x="104057" y="52719"/>
                  <a:pt x="104057" y="45525"/>
                </a:cubicBezTo>
                <a:lnTo>
                  <a:pt x="104057" y="40322"/>
                </a:lnTo>
                <a:cubicBezTo>
                  <a:pt x="78571" y="45484"/>
                  <a:pt x="58491" y="65564"/>
                  <a:pt x="53329" y="91050"/>
                </a:cubicBezTo>
                <a:lnTo>
                  <a:pt x="58532" y="91050"/>
                </a:lnTo>
                <a:cubicBezTo>
                  <a:pt x="65727" y="91050"/>
                  <a:pt x="71539" y="96862"/>
                  <a:pt x="71539" y="104057"/>
                </a:cubicBezTo>
                <a:cubicBezTo>
                  <a:pt x="71539" y="111251"/>
                  <a:pt x="65727" y="117064"/>
                  <a:pt x="58532" y="117064"/>
                </a:cubicBezTo>
                <a:lnTo>
                  <a:pt x="53329" y="117064"/>
                </a:lnTo>
                <a:close/>
                <a:moveTo>
                  <a:pt x="117064" y="84546"/>
                </a:moveTo>
                <a:cubicBezTo>
                  <a:pt x="127832" y="84546"/>
                  <a:pt x="136575" y="93289"/>
                  <a:pt x="136575" y="104057"/>
                </a:cubicBezTo>
                <a:cubicBezTo>
                  <a:pt x="136575" y="114825"/>
                  <a:pt x="127832" y="123568"/>
                  <a:pt x="117064" y="123568"/>
                </a:cubicBezTo>
                <a:cubicBezTo>
                  <a:pt x="106296" y="123568"/>
                  <a:pt x="97553" y="114825"/>
                  <a:pt x="97553" y="104057"/>
                </a:cubicBezTo>
                <a:cubicBezTo>
                  <a:pt x="97553" y="93289"/>
                  <a:pt x="106296" y="84546"/>
                  <a:pt x="117064" y="8454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" name="Text 2"/>
          <p:cNvSpPr/>
          <p:nvPr/>
        </p:nvSpPr>
        <p:spPr>
          <a:xfrm>
            <a:off x="971198" y="346856"/>
            <a:ext cx="4222976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spc="109" kern="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71198" y="554970"/>
            <a:ext cx="4309690" cy="346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8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Scope &amp; Rules of Engagement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9747" y="1078145"/>
            <a:ext cx="5676882" cy="3335602"/>
          </a:xfrm>
          <a:custGeom>
            <a:avLst/>
            <a:gdLst/>
            <a:ahLst/>
            <a:cxnLst/>
            <a:rect l="l" t="t" r="r" b="b"/>
            <a:pathLst>
              <a:path w="5676882" h="3335602">
                <a:moveTo>
                  <a:pt x="104071" y="0"/>
                </a:moveTo>
                <a:lnTo>
                  <a:pt x="5572811" y="0"/>
                </a:lnTo>
                <a:cubicBezTo>
                  <a:pt x="5630288" y="0"/>
                  <a:pt x="5676882" y="46594"/>
                  <a:pt x="5676882" y="104071"/>
                </a:cubicBezTo>
                <a:lnTo>
                  <a:pt x="5676882" y="3231531"/>
                </a:lnTo>
                <a:cubicBezTo>
                  <a:pt x="5676882" y="3289008"/>
                  <a:pt x="5630288" y="3335602"/>
                  <a:pt x="5572811" y="3335602"/>
                </a:cubicBezTo>
                <a:lnTo>
                  <a:pt x="104071" y="3335602"/>
                </a:lnTo>
                <a:cubicBezTo>
                  <a:pt x="46594" y="3335602"/>
                  <a:pt x="0" y="3289008"/>
                  <a:pt x="0" y="3231531"/>
                </a:cubicBezTo>
                <a:lnTo>
                  <a:pt x="0" y="104071"/>
                </a:lnTo>
                <a:cubicBezTo>
                  <a:pt x="0" y="46594"/>
                  <a:pt x="46594" y="0"/>
                  <a:pt x="10407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3058" y="1254464"/>
            <a:ext cx="173428" cy="173428"/>
          </a:xfrm>
          <a:custGeom>
            <a:avLst/>
            <a:gdLst/>
            <a:ahLst/>
            <a:cxnLst/>
            <a:rect l="l" t="t" r="r" b="b"/>
            <a:pathLst>
              <a:path w="173428" h="173428">
                <a:moveTo>
                  <a:pt x="151750" y="86714"/>
                </a:moveTo>
                <a:cubicBezTo>
                  <a:pt x="151750" y="50820"/>
                  <a:pt x="122608" y="21679"/>
                  <a:pt x="86714" y="21679"/>
                </a:cubicBezTo>
                <a:cubicBezTo>
                  <a:pt x="50820" y="21679"/>
                  <a:pt x="21679" y="50820"/>
                  <a:pt x="21679" y="86714"/>
                </a:cubicBezTo>
                <a:cubicBezTo>
                  <a:pt x="21679" y="122608"/>
                  <a:pt x="50820" y="151750"/>
                  <a:pt x="86714" y="151750"/>
                </a:cubicBezTo>
                <a:cubicBezTo>
                  <a:pt x="122608" y="151750"/>
                  <a:pt x="151750" y="122608"/>
                  <a:pt x="151750" y="86714"/>
                </a:cubicBezTo>
                <a:close/>
                <a:moveTo>
                  <a:pt x="0" y="86714"/>
                </a:moveTo>
                <a:cubicBezTo>
                  <a:pt x="0" y="38855"/>
                  <a:pt x="38855" y="0"/>
                  <a:pt x="86714" y="0"/>
                </a:cubicBezTo>
                <a:cubicBezTo>
                  <a:pt x="134573" y="0"/>
                  <a:pt x="173428" y="38855"/>
                  <a:pt x="173428" y="86714"/>
                </a:cubicBezTo>
                <a:cubicBezTo>
                  <a:pt x="173428" y="134573"/>
                  <a:pt x="134573" y="173428"/>
                  <a:pt x="86714" y="173428"/>
                </a:cubicBezTo>
                <a:cubicBezTo>
                  <a:pt x="38855" y="173428"/>
                  <a:pt x="0" y="134573"/>
                  <a:pt x="0" y="86714"/>
                </a:cubicBezTo>
                <a:close/>
                <a:moveTo>
                  <a:pt x="86714" y="113812"/>
                </a:moveTo>
                <a:cubicBezTo>
                  <a:pt x="101670" y="113812"/>
                  <a:pt x="113812" y="101670"/>
                  <a:pt x="113812" y="86714"/>
                </a:cubicBezTo>
                <a:cubicBezTo>
                  <a:pt x="113812" y="71758"/>
                  <a:pt x="101670" y="59616"/>
                  <a:pt x="86714" y="59616"/>
                </a:cubicBezTo>
                <a:cubicBezTo>
                  <a:pt x="71758" y="59616"/>
                  <a:pt x="59616" y="71758"/>
                  <a:pt x="59616" y="86714"/>
                </a:cubicBezTo>
                <a:cubicBezTo>
                  <a:pt x="59616" y="101670"/>
                  <a:pt x="71758" y="113812"/>
                  <a:pt x="86714" y="113812"/>
                </a:cubicBezTo>
                <a:close/>
                <a:moveTo>
                  <a:pt x="86714" y="37937"/>
                </a:moveTo>
                <a:cubicBezTo>
                  <a:pt x="113635" y="37937"/>
                  <a:pt x="135491" y="59794"/>
                  <a:pt x="135491" y="86714"/>
                </a:cubicBezTo>
                <a:cubicBezTo>
                  <a:pt x="135491" y="113635"/>
                  <a:pt x="113635" y="135491"/>
                  <a:pt x="86714" y="135491"/>
                </a:cubicBezTo>
                <a:cubicBezTo>
                  <a:pt x="59794" y="135491"/>
                  <a:pt x="37937" y="113635"/>
                  <a:pt x="37937" y="86714"/>
                </a:cubicBezTo>
                <a:cubicBezTo>
                  <a:pt x="37937" y="59794"/>
                  <a:pt x="59794" y="37937"/>
                  <a:pt x="86714" y="37937"/>
                </a:cubicBezTo>
                <a:close/>
                <a:moveTo>
                  <a:pt x="75875" y="86714"/>
                </a:moveTo>
                <a:cubicBezTo>
                  <a:pt x="75875" y="80732"/>
                  <a:pt x="80732" y="75875"/>
                  <a:pt x="86714" y="75875"/>
                </a:cubicBezTo>
                <a:cubicBezTo>
                  <a:pt x="92696" y="75875"/>
                  <a:pt x="97553" y="80732"/>
                  <a:pt x="97553" y="86714"/>
                </a:cubicBezTo>
                <a:cubicBezTo>
                  <a:pt x="97553" y="92696"/>
                  <a:pt x="92696" y="97553"/>
                  <a:pt x="86714" y="97553"/>
                </a:cubicBezTo>
                <a:cubicBezTo>
                  <a:pt x="80732" y="97553"/>
                  <a:pt x="75875" y="92696"/>
                  <a:pt x="75875" y="86714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708165" y="1219779"/>
            <a:ext cx="5263545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Assessment Parameters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1380" y="1601321"/>
            <a:ext cx="5393616" cy="589656"/>
          </a:xfrm>
          <a:custGeom>
            <a:avLst/>
            <a:gdLst/>
            <a:ahLst/>
            <a:cxnLst/>
            <a:rect l="l" t="t" r="r" b="b"/>
            <a:pathLst>
              <a:path w="5393616" h="589656">
                <a:moveTo>
                  <a:pt x="69373" y="0"/>
                </a:moveTo>
                <a:lnTo>
                  <a:pt x="5324243" y="0"/>
                </a:lnTo>
                <a:cubicBezTo>
                  <a:pt x="5362557" y="0"/>
                  <a:pt x="5393616" y="31059"/>
                  <a:pt x="5393616" y="69373"/>
                </a:cubicBezTo>
                <a:lnTo>
                  <a:pt x="5393616" y="520283"/>
                </a:lnTo>
                <a:cubicBezTo>
                  <a:pt x="5393616" y="558596"/>
                  <a:pt x="5362557" y="589656"/>
                  <a:pt x="5324243" y="589656"/>
                </a:cubicBezTo>
                <a:lnTo>
                  <a:pt x="69373" y="589656"/>
                </a:lnTo>
                <a:cubicBezTo>
                  <a:pt x="31085" y="589656"/>
                  <a:pt x="0" y="558571"/>
                  <a:pt x="0" y="520283"/>
                </a:cubicBezTo>
                <a:lnTo>
                  <a:pt x="0" y="69373"/>
                </a:lnTo>
                <a:cubicBezTo>
                  <a:pt x="0" y="31059"/>
                  <a:pt x="31059" y="0"/>
                  <a:pt x="6937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5437" y="1722720"/>
            <a:ext cx="346856" cy="346856"/>
          </a:xfrm>
          <a:custGeom>
            <a:avLst/>
            <a:gdLst/>
            <a:ahLst/>
            <a:cxnLst/>
            <a:rect l="l" t="t" r="r" b="b"/>
            <a:pathLst>
              <a:path w="346856" h="346856">
                <a:moveTo>
                  <a:pt x="69371" y="0"/>
                </a:moveTo>
                <a:lnTo>
                  <a:pt x="277485" y="0"/>
                </a:lnTo>
                <a:cubicBezTo>
                  <a:pt x="315798" y="0"/>
                  <a:pt x="346856" y="31059"/>
                  <a:pt x="346856" y="69371"/>
                </a:cubicBezTo>
                <a:lnTo>
                  <a:pt x="346856" y="277485"/>
                </a:lnTo>
                <a:cubicBezTo>
                  <a:pt x="346856" y="315798"/>
                  <a:pt x="315798" y="346856"/>
                  <a:pt x="277485" y="346856"/>
                </a:cubicBezTo>
                <a:lnTo>
                  <a:pt x="69371" y="346856"/>
                </a:lnTo>
                <a:cubicBezTo>
                  <a:pt x="31059" y="346856"/>
                  <a:pt x="0" y="315798"/>
                  <a:pt x="0" y="277485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99494" y="1826777"/>
            <a:ext cx="138743" cy="138743"/>
          </a:xfrm>
          <a:custGeom>
            <a:avLst/>
            <a:gdLst/>
            <a:ahLst/>
            <a:cxnLst/>
            <a:rect l="l" t="t" r="r" b="b"/>
            <a:pathLst>
              <a:path w="138743" h="138743">
                <a:moveTo>
                  <a:pt x="95358" y="75875"/>
                </a:moveTo>
                <a:lnTo>
                  <a:pt x="43628" y="75875"/>
                </a:lnTo>
                <a:cubicBezTo>
                  <a:pt x="44414" y="93353"/>
                  <a:pt x="48289" y="109449"/>
                  <a:pt x="53790" y="121237"/>
                </a:cubicBezTo>
                <a:cubicBezTo>
                  <a:pt x="56879" y="127876"/>
                  <a:pt x="60212" y="132564"/>
                  <a:pt x="63301" y="135437"/>
                </a:cubicBezTo>
                <a:cubicBezTo>
                  <a:pt x="66336" y="138282"/>
                  <a:pt x="68423" y="138743"/>
                  <a:pt x="69507" y="138743"/>
                </a:cubicBezTo>
                <a:cubicBezTo>
                  <a:pt x="70591" y="138743"/>
                  <a:pt x="72677" y="138282"/>
                  <a:pt x="75712" y="135437"/>
                </a:cubicBezTo>
                <a:cubicBezTo>
                  <a:pt x="78801" y="132564"/>
                  <a:pt x="82134" y="127849"/>
                  <a:pt x="85224" y="121237"/>
                </a:cubicBezTo>
                <a:cubicBezTo>
                  <a:pt x="90725" y="109449"/>
                  <a:pt x="94600" y="93353"/>
                  <a:pt x="95385" y="75875"/>
                </a:cubicBezTo>
                <a:close/>
                <a:moveTo>
                  <a:pt x="43601" y="62868"/>
                </a:moveTo>
                <a:lnTo>
                  <a:pt x="95331" y="62868"/>
                </a:lnTo>
                <a:cubicBezTo>
                  <a:pt x="94573" y="45389"/>
                  <a:pt x="90698" y="29293"/>
                  <a:pt x="85197" y="17505"/>
                </a:cubicBezTo>
                <a:cubicBezTo>
                  <a:pt x="82107" y="10893"/>
                  <a:pt x="78774" y="6178"/>
                  <a:pt x="75685" y="3306"/>
                </a:cubicBezTo>
                <a:cubicBezTo>
                  <a:pt x="72650" y="461"/>
                  <a:pt x="70564" y="0"/>
                  <a:pt x="69480" y="0"/>
                </a:cubicBezTo>
                <a:cubicBezTo>
                  <a:pt x="68396" y="0"/>
                  <a:pt x="66309" y="461"/>
                  <a:pt x="63274" y="3306"/>
                </a:cubicBezTo>
                <a:cubicBezTo>
                  <a:pt x="60185" y="6178"/>
                  <a:pt x="56852" y="10893"/>
                  <a:pt x="53763" y="17505"/>
                </a:cubicBezTo>
                <a:cubicBezTo>
                  <a:pt x="48262" y="29293"/>
                  <a:pt x="44387" y="45389"/>
                  <a:pt x="43601" y="62868"/>
                </a:cubicBezTo>
                <a:close/>
                <a:moveTo>
                  <a:pt x="30594" y="62868"/>
                </a:moveTo>
                <a:cubicBezTo>
                  <a:pt x="31542" y="39672"/>
                  <a:pt x="37531" y="18129"/>
                  <a:pt x="46284" y="3983"/>
                </a:cubicBezTo>
                <a:cubicBezTo>
                  <a:pt x="21326" y="12817"/>
                  <a:pt x="2954" y="35553"/>
                  <a:pt x="406" y="62868"/>
                </a:cubicBezTo>
                <a:lnTo>
                  <a:pt x="30594" y="62868"/>
                </a:lnTo>
                <a:close/>
                <a:moveTo>
                  <a:pt x="406" y="75875"/>
                </a:moveTo>
                <a:cubicBezTo>
                  <a:pt x="2954" y="103190"/>
                  <a:pt x="21326" y="125925"/>
                  <a:pt x="46284" y="134759"/>
                </a:cubicBezTo>
                <a:cubicBezTo>
                  <a:pt x="37531" y="120614"/>
                  <a:pt x="31542" y="99071"/>
                  <a:pt x="30594" y="75875"/>
                </a:cubicBezTo>
                <a:lnTo>
                  <a:pt x="406" y="75875"/>
                </a:lnTo>
                <a:close/>
                <a:moveTo>
                  <a:pt x="108366" y="75875"/>
                </a:moveTo>
                <a:cubicBezTo>
                  <a:pt x="107417" y="99071"/>
                  <a:pt x="101428" y="120614"/>
                  <a:pt x="92676" y="134759"/>
                </a:cubicBezTo>
                <a:cubicBezTo>
                  <a:pt x="117633" y="125898"/>
                  <a:pt x="136006" y="103190"/>
                  <a:pt x="138553" y="75875"/>
                </a:cubicBezTo>
                <a:lnTo>
                  <a:pt x="108366" y="75875"/>
                </a:lnTo>
                <a:close/>
                <a:moveTo>
                  <a:pt x="138553" y="62868"/>
                </a:moveTo>
                <a:cubicBezTo>
                  <a:pt x="136006" y="35553"/>
                  <a:pt x="117633" y="12817"/>
                  <a:pt x="92676" y="3983"/>
                </a:cubicBezTo>
                <a:cubicBezTo>
                  <a:pt x="101428" y="18129"/>
                  <a:pt x="107417" y="39672"/>
                  <a:pt x="108366" y="62868"/>
                </a:cubicBezTo>
                <a:lnTo>
                  <a:pt x="138553" y="62868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1081036" y="1705378"/>
            <a:ext cx="4760603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Website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81036" y="1878806"/>
            <a:ext cx="4769275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https://demo.testfire.net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1380" y="2295033"/>
            <a:ext cx="5393616" cy="589656"/>
          </a:xfrm>
          <a:custGeom>
            <a:avLst/>
            <a:gdLst/>
            <a:ahLst/>
            <a:cxnLst/>
            <a:rect l="l" t="t" r="r" b="b"/>
            <a:pathLst>
              <a:path w="5393616" h="589656">
                <a:moveTo>
                  <a:pt x="69373" y="0"/>
                </a:moveTo>
                <a:lnTo>
                  <a:pt x="5324243" y="0"/>
                </a:lnTo>
                <a:cubicBezTo>
                  <a:pt x="5362557" y="0"/>
                  <a:pt x="5393616" y="31059"/>
                  <a:pt x="5393616" y="69373"/>
                </a:cubicBezTo>
                <a:lnTo>
                  <a:pt x="5393616" y="520283"/>
                </a:lnTo>
                <a:cubicBezTo>
                  <a:pt x="5393616" y="558596"/>
                  <a:pt x="5362557" y="589656"/>
                  <a:pt x="5324243" y="589656"/>
                </a:cubicBezTo>
                <a:lnTo>
                  <a:pt x="69373" y="589656"/>
                </a:lnTo>
                <a:cubicBezTo>
                  <a:pt x="31085" y="589656"/>
                  <a:pt x="0" y="558571"/>
                  <a:pt x="0" y="520283"/>
                </a:cubicBezTo>
                <a:lnTo>
                  <a:pt x="0" y="69373"/>
                </a:lnTo>
                <a:cubicBezTo>
                  <a:pt x="0" y="31059"/>
                  <a:pt x="31059" y="0"/>
                  <a:pt x="6937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95437" y="2416433"/>
            <a:ext cx="346856" cy="346856"/>
          </a:xfrm>
          <a:custGeom>
            <a:avLst/>
            <a:gdLst/>
            <a:ahLst/>
            <a:cxnLst/>
            <a:rect l="l" t="t" r="r" b="b"/>
            <a:pathLst>
              <a:path w="346856" h="346856">
                <a:moveTo>
                  <a:pt x="69371" y="0"/>
                </a:moveTo>
                <a:lnTo>
                  <a:pt x="277485" y="0"/>
                </a:lnTo>
                <a:cubicBezTo>
                  <a:pt x="315798" y="0"/>
                  <a:pt x="346856" y="31059"/>
                  <a:pt x="346856" y="69371"/>
                </a:cubicBezTo>
                <a:lnTo>
                  <a:pt x="346856" y="277485"/>
                </a:lnTo>
                <a:cubicBezTo>
                  <a:pt x="346856" y="315798"/>
                  <a:pt x="315798" y="346856"/>
                  <a:pt x="277485" y="346856"/>
                </a:cubicBezTo>
                <a:lnTo>
                  <a:pt x="69371" y="346856"/>
                </a:lnTo>
                <a:cubicBezTo>
                  <a:pt x="31059" y="346856"/>
                  <a:pt x="0" y="315798"/>
                  <a:pt x="0" y="277485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90822" y="2520490"/>
            <a:ext cx="156085" cy="138743"/>
          </a:xfrm>
          <a:custGeom>
            <a:avLst/>
            <a:gdLst/>
            <a:ahLst/>
            <a:cxnLst/>
            <a:rect l="l" t="t" r="r" b="b"/>
            <a:pathLst>
              <a:path w="156085" h="138743">
                <a:moveTo>
                  <a:pt x="67203" y="23846"/>
                </a:moveTo>
                <a:lnTo>
                  <a:pt x="88882" y="23846"/>
                </a:lnTo>
                <a:lnTo>
                  <a:pt x="88882" y="36853"/>
                </a:lnTo>
                <a:lnTo>
                  <a:pt x="67203" y="36853"/>
                </a:lnTo>
                <a:lnTo>
                  <a:pt x="67203" y="23846"/>
                </a:lnTo>
                <a:close/>
                <a:moveTo>
                  <a:pt x="65036" y="8671"/>
                </a:moveTo>
                <a:cubicBezTo>
                  <a:pt x="57855" y="8671"/>
                  <a:pt x="52028" y="14498"/>
                  <a:pt x="52028" y="21679"/>
                </a:cubicBezTo>
                <a:lnTo>
                  <a:pt x="52028" y="39021"/>
                </a:lnTo>
                <a:cubicBezTo>
                  <a:pt x="52028" y="46202"/>
                  <a:pt x="57855" y="52028"/>
                  <a:pt x="65036" y="52028"/>
                </a:cubicBezTo>
                <a:lnTo>
                  <a:pt x="69371" y="52028"/>
                </a:lnTo>
                <a:lnTo>
                  <a:pt x="69371" y="60700"/>
                </a:lnTo>
                <a:lnTo>
                  <a:pt x="8671" y="60700"/>
                </a:lnTo>
                <a:cubicBezTo>
                  <a:pt x="3875" y="60700"/>
                  <a:pt x="0" y="64575"/>
                  <a:pt x="0" y="69371"/>
                </a:cubicBezTo>
                <a:cubicBezTo>
                  <a:pt x="0" y="74168"/>
                  <a:pt x="3875" y="78043"/>
                  <a:pt x="8671" y="78043"/>
                </a:cubicBezTo>
                <a:lnTo>
                  <a:pt x="34686" y="78043"/>
                </a:lnTo>
                <a:lnTo>
                  <a:pt x="34686" y="86714"/>
                </a:lnTo>
                <a:lnTo>
                  <a:pt x="30350" y="86714"/>
                </a:lnTo>
                <a:cubicBezTo>
                  <a:pt x="23169" y="86714"/>
                  <a:pt x="17343" y="92540"/>
                  <a:pt x="17343" y="99721"/>
                </a:cubicBezTo>
                <a:lnTo>
                  <a:pt x="17343" y="117064"/>
                </a:lnTo>
                <a:cubicBezTo>
                  <a:pt x="17343" y="124245"/>
                  <a:pt x="23169" y="130071"/>
                  <a:pt x="30350" y="130071"/>
                </a:cubicBezTo>
                <a:lnTo>
                  <a:pt x="56364" y="130071"/>
                </a:lnTo>
                <a:cubicBezTo>
                  <a:pt x="63545" y="130071"/>
                  <a:pt x="69371" y="124245"/>
                  <a:pt x="69371" y="117064"/>
                </a:cubicBezTo>
                <a:lnTo>
                  <a:pt x="69371" y="99721"/>
                </a:lnTo>
                <a:cubicBezTo>
                  <a:pt x="69371" y="92540"/>
                  <a:pt x="63545" y="86714"/>
                  <a:pt x="56364" y="86714"/>
                </a:cubicBezTo>
                <a:lnTo>
                  <a:pt x="52028" y="86714"/>
                </a:lnTo>
                <a:lnTo>
                  <a:pt x="52028" y="78043"/>
                </a:lnTo>
                <a:lnTo>
                  <a:pt x="104057" y="78043"/>
                </a:lnTo>
                <a:lnTo>
                  <a:pt x="104057" y="86714"/>
                </a:lnTo>
                <a:lnTo>
                  <a:pt x="99721" y="86714"/>
                </a:lnTo>
                <a:cubicBezTo>
                  <a:pt x="92540" y="86714"/>
                  <a:pt x="86714" y="92540"/>
                  <a:pt x="86714" y="99721"/>
                </a:cubicBezTo>
                <a:lnTo>
                  <a:pt x="86714" y="117064"/>
                </a:lnTo>
                <a:cubicBezTo>
                  <a:pt x="86714" y="124245"/>
                  <a:pt x="92540" y="130071"/>
                  <a:pt x="99721" y="130071"/>
                </a:cubicBezTo>
                <a:lnTo>
                  <a:pt x="125735" y="130071"/>
                </a:lnTo>
                <a:cubicBezTo>
                  <a:pt x="132916" y="130071"/>
                  <a:pt x="138743" y="124245"/>
                  <a:pt x="138743" y="117064"/>
                </a:cubicBezTo>
                <a:lnTo>
                  <a:pt x="138743" y="99721"/>
                </a:lnTo>
                <a:cubicBezTo>
                  <a:pt x="138743" y="92540"/>
                  <a:pt x="132916" y="86714"/>
                  <a:pt x="125735" y="86714"/>
                </a:cubicBezTo>
                <a:lnTo>
                  <a:pt x="121400" y="86714"/>
                </a:lnTo>
                <a:lnTo>
                  <a:pt x="121400" y="78043"/>
                </a:lnTo>
                <a:lnTo>
                  <a:pt x="147414" y="78043"/>
                </a:lnTo>
                <a:cubicBezTo>
                  <a:pt x="152210" y="78043"/>
                  <a:pt x="156085" y="74168"/>
                  <a:pt x="156085" y="69371"/>
                </a:cubicBezTo>
                <a:cubicBezTo>
                  <a:pt x="156085" y="64575"/>
                  <a:pt x="152210" y="60700"/>
                  <a:pt x="147414" y="60700"/>
                </a:cubicBezTo>
                <a:lnTo>
                  <a:pt x="86714" y="60700"/>
                </a:lnTo>
                <a:lnTo>
                  <a:pt x="86714" y="52028"/>
                </a:lnTo>
                <a:lnTo>
                  <a:pt x="91050" y="52028"/>
                </a:lnTo>
                <a:cubicBezTo>
                  <a:pt x="98231" y="52028"/>
                  <a:pt x="104057" y="46202"/>
                  <a:pt x="104057" y="39021"/>
                </a:cubicBezTo>
                <a:lnTo>
                  <a:pt x="104057" y="21679"/>
                </a:lnTo>
                <a:cubicBezTo>
                  <a:pt x="104057" y="14498"/>
                  <a:pt x="98231" y="8671"/>
                  <a:pt x="91050" y="8671"/>
                </a:cubicBezTo>
                <a:lnTo>
                  <a:pt x="65036" y="8671"/>
                </a:lnTo>
                <a:close/>
                <a:moveTo>
                  <a:pt x="121400" y="101889"/>
                </a:moveTo>
                <a:lnTo>
                  <a:pt x="123568" y="101889"/>
                </a:lnTo>
                <a:lnTo>
                  <a:pt x="123568" y="114896"/>
                </a:lnTo>
                <a:lnTo>
                  <a:pt x="101889" y="114896"/>
                </a:lnTo>
                <a:lnTo>
                  <a:pt x="101889" y="101889"/>
                </a:lnTo>
                <a:lnTo>
                  <a:pt x="121400" y="101889"/>
                </a:lnTo>
                <a:close/>
                <a:moveTo>
                  <a:pt x="52028" y="101889"/>
                </a:moveTo>
                <a:lnTo>
                  <a:pt x="54196" y="101889"/>
                </a:lnTo>
                <a:lnTo>
                  <a:pt x="54196" y="114896"/>
                </a:lnTo>
                <a:lnTo>
                  <a:pt x="32518" y="114896"/>
                </a:lnTo>
                <a:lnTo>
                  <a:pt x="32518" y="101889"/>
                </a:lnTo>
                <a:lnTo>
                  <a:pt x="52028" y="101889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1081036" y="2399090"/>
            <a:ext cx="4760603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Address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81036" y="2572518"/>
            <a:ext cx="4769275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65.61.137.117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1380" y="2988746"/>
            <a:ext cx="5393616" cy="589656"/>
          </a:xfrm>
          <a:custGeom>
            <a:avLst/>
            <a:gdLst/>
            <a:ahLst/>
            <a:cxnLst/>
            <a:rect l="l" t="t" r="r" b="b"/>
            <a:pathLst>
              <a:path w="5393616" h="589656">
                <a:moveTo>
                  <a:pt x="69373" y="0"/>
                </a:moveTo>
                <a:lnTo>
                  <a:pt x="5324243" y="0"/>
                </a:lnTo>
                <a:cubicBezTo>
                  <a:pt x="5362557" y="0"/>
                  <a:pt x="5393616" y="31059"/>
                  <a:pt x="5393616" y="69373"/>
                </a:cubicBezTo>
                <a:lnTo>
                  <a:pt x="5393616" y="520283"/>
                </a:lnTo>
                <a:cubicBezTo>
                  <a:pt x="5393616" y="558596"/>
                  <a:pt x="5362557" y="589656"/>
                  <a:pt x="5324243" y="589656"/>
                </a:cubicBezTo>
                <a:lnTo>
                  <a:pt x="69373" y="589656"/>
                </a:lnTo>
                <a:cubicBezTo>
                  <a:pt x="31085" y="589656"/>
                  <a:pt x="0" y="558571"/>
                  <a:pt x="0" y="520283"/>
                </a:cubicBezTo>
                <a:lnTo>
                  <a:pt x="0" y="69373"/>
                </a:lnTo>
                <a:cubicBezTo>
                  <a:pt x="0" y="31059"/>
                  <a:pt x="31059" y="0"/>
                  <a:pt x="6937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95437" y="3110146"/>
            <a:ext cx="346856" cy="346856"/>
          </a:xfrm>
          <a:custGeom>
            <a:avLst/>
            <a:gdLst/>
            <a:ahLst/>
            <a:cxnLst/>
            <a:rect l="l" t="t" r="r" b="b"/>
            <a:pathLst>
              <a:path w="346856" h="346856">
                <a:moveTo>
                  <a:pt x="69371" y="0"/>
                </a:moveTo>
                <a:lnTo>
                  <a:pt x="277485" y="0"/>
                </a:lnTo>
                <a:cubicBezTo>
                  <a:pt x="315798" y="0"/>
                  <a:pt x="346856" y="31059"/>
                  <a:pt x="346856" y="69371"/>
                </a:cubicBezTo>
                <a:lnTo>
                  <a:pt x="346856" y="277485"/>
                </a:lnTo>
                <a:cubicBezTo>
                  <a:pt x="346856" y="315798"/>
                  <a:pt x="315798" y="346856"/>
                  <a:pt x="277485" y="346856"/>
                </a:cubicBezTo>
                <a:lnTo>
                  <a:pt x="69371" y="346856"/>
                </a:lnTo>
                <a:cubicBezTo>
                  <a:pt x="31059" y="346856"/>
                  <a:pt x="0" y="315798"/>
                  <a:pt x="0" y="277485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99494" y="3214203"/>
            <a:ext cx="138743" cy="138743"/>
          </a:xfrm>
          <a:custGeom>
            <a:avLst/>
            <a:gdLst/>
            <a:ahLst/>
            <a:cxnLst/>
            <a:rect l="l" t="t" r="r" b="b"/>
            <a:pathLst>
              <a:path w="138743" h="138743">
                <a:moveTo>
                  <a:pt x="69371" y="0"/>
                </a:moveTo>
                <a:cubicBezTo>
                  <a:pt x="70618" y="0"/>
                  <a:pt x="71864" y="271"/>
                  <a:pt x="73002" y="786"/>
                </a:cubicBezTo>
                <a:lnTo>
                  <a:pt x="124055" y="22437"/>
                </a:lnTo>
                <a:cubicBezTo>
                  <a:pt x="130017" y="24957"/>
                  <a:pt x="134461" y="30838"/>
                  <a:pt x="134434" y="37937"/>
                </a:cubicBezTo>
                <a:cubicBezTo>
                  <a:pt x="134298" y="64819"/>
                  <a:pt x="123242" y="114002"/>
                  <a:pt x="76552" y="136358"/>
                </a:cubicBezTo>
                <a:cubicBezTo>
                  <a:pt x="72027" y="138526"/>
                  <a:pt x="66770" y="138526"/>
                  <a:pt x="62244" y="136358"/>
                </a:cubicBezTo>
                <a:cubicBezTo>
                  <a:pt x="15527" y="114002"/>
                  <a:pt x="4498" y="64819"/>
                  <a:pt x="4363" y="37937"/>
                </a:cubicBezTo>
                <a:cubicBezTo>
                  <a:pt x="4336" y="30838"/>
                  <a:pt x="8780" y="24957"/>
                  <a:pt x="14741" y="22437"/>
                </a:cubicBezTo>
                <a:lnTo>
                  <a:pt x="65767" y="786"/>
                </a:lnTo>
                <a:cubicBezTo>
                  <a:pt x="66905" y="271"/>
                  <a:pt x="68125" y="0"/>
                  <a:pt x="69371" y="0"/>
                </a:cubicBezTo>
                <a:close/>
                <a:moveTo>
                  <a:pt x="69371" y="18102"/>
                </a:moveTo>
                <a:lnTo>
                  <a:pt x="69371" y="120560"/>
                </a:lnTo>
                <a:cubicBezTo>
                  <a:pt x="106767" y="102458"/>
                  <a:pt x="116820" y="62353"/>
                  <a:pt x="117064" y="38344"/>
                </a:cubicBezTo>
                <a:lnTo>
                  <a:pt x="69371" y="18129"/>
                </a:lnTo>
                <a:lnTo>
                  <a:pt x="69371" y="18129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1081036" y="3092803"/>
            <a:ext cx="4760603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Authorization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1036" y="3266231"/>
            <a:ext cx="4769275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test app — HCL Technologies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1380" y="3682459"/>
            <a:ext cx="5393616" cy="589656"/>
          </a:xfrm>
          <a:custGeom>
            <a:avLst/>
            <a:gdLst/>
            <a:ahLst/>
            <a:cxnLst/>
            <a:rect l="l" t="t" r="r" b="b"/>
            <a:pathLst>
              <a:path w="5393616" h="589656">
                <a:moveTo>
                  <a:pt x="69373" y="0"/>
                </a:moveTo>
                <a:lnTo>
                  <a:pt x="5324243" y="0"/>
                </a:lnTo>
                <a:cubicBezTo>
                  <a:pt x="5362557" y="0"/>
                  <a:pt x="5393616" y="31059"/>
                  <a:pt x="5393616" y="69373"/>
                </a:cubicBezTo>
                <a:lnTo>
                  <a:pt x="5393616" y="520283"/>
                </a:lnTo>
                <a:cubicBezTo>
                  <a:pt x="5393616" y="558596"/>
                  <a:pt x="5362557" y="589656"/>
                  <a:pt x="5324243" y="589656"/>
                </a:cubicBezTo>
                <a:lnTo>
                  <a:pt x="69373" y="589656"/>
                </a:lnTo>
                <a:cubicBezTo>
                  <a:pt x="31085" y="589656"/>
                  <a:pt x="0" y="558571"/>
                  <a:pt x="0" y="520283"/>
                </a:cubicBezTo>
                <a:lnTo>
                  <a:pt x="0" y="69373"/>
                </a:lnTo>
                <a:cubicBezTo>
                  <a:pt x="0" y="31059"/>
                  <a:pt x="31059" y="0"/>
                  <a:pt x="6937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95437" y="3803858"/>
            <a:ext cx="346856" cy="346856"/>
          </a:xfrm>
          <a:custGeom>
            <a:avLst/>
            <a:gdLst/>
            <a:ahLst/>
            <a:cxnLst/>
            <a:rect l="l" t="t" r="r" b="b"/>
            <a:pathLst>
              <a:path w="346856" h="346856">
                <a:moveTo>
                  <a:pt x="69371" y="0"/>
                </a:moveTo>
                <a:lnTo>
                  <a:pt x="277485" y="0"/>
                </a:lnTo>
                <a:cubicBezTo>
                  <a:pt x="315798" y="0"/>
                  <a:pt x="346856" y="31059"/>
                  <a:pt x="346856" y="69371"/>
                </a:cubicBezTo>
                <a:lnTo>
                  <a:pt x="346856" y="277485"/>
                </a:lnTo>
                <a:cubicBezTo>
                  <a:pt x="346856" y="315798"/>
                  <a:pt x="315798" y="346856"/>
                  <a:pt x="277485" y="346856"/>
                </a:cubicBezTo>
                <a:lnTo>
                  <a:pt x="69371" y="346856"/>
                </a:lnTo>
                <a:cubicBezTo>
                  <a:pt x="31059" y="346856"/>
                  <a:pt x="0" y="315798"/>
                  <a:pt x="0" y="277485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16836" y="3907915"/>
            <a:ext cx="104057" cy="138743"/>
          </a:xfrm>
          <a:custGeom>
            <a:avLst/>
            <a:gdLst/>
            <a:ahLst/>
            <a:cxnLst/>
            <a:rect l="l" t="t" r="r" b="b"/>
            <a:pathLst>
              <a:path w="104057" h="138743">
                <a:moveTo>
                  <a:pt x="84384" y="8671"/>
                </a:moveTo>
                <a:lnTo>
                  <a:pt x="86714" y="8671"/>
                </a:lnTo>
                <a:cubicBezTo>
                  <a:pt x="96280" y="8671"/>
                  <a:pt x="104057" y="16449"/>
                  <a:pt x="104057" y="26014"/>
                </a:cubicBezTo>
                <a:lnTo>
                  <a:pt x="104057" y="121400"/>
                </a:lnTo>
                <a:cubicBezTo>
                  <a:pt x="104057" y="130965"/>
                  <a:pt x="96280" y="138743"/>
                  <a:pt x="86714" y="138743"/>
                </a:cubicBezTo>
                <a:lnTo>
                  <a:pt x="17343" y="138743"/>
                </a:lnTo>
                <a:cubicBezTo>
                  <a:pt x="7777" y="138743"/>
                  <a:pt x="0" y="130965"/>
                  <a:pt x="0" y="121400"/>
                </a:cubicBezTo>
                <a:lnTo>
                  <a:pt x="0" y="26014"/>
                </a:lnTo>
                <a:cubicBezTo>
                  <a:pt x="0" y="16449"/>
                  <a:pt x="7777" y="8671"/>
                  <a:pt x="17343" y="8671"/>
                </a:cubicBezTo>
                <a:lnTo>
                  <a:pt x="19673" y="8671"/>
                </a:lnTo>
                <a:cubicBezTo>
                  <a:pt x="22654" y="3496"/>
                  <a:pt x="28263" y="0"/>
                  <a:pt x="34686" y="0"/>
                </a:cubicBezTo>
                <a:lnTo>
                  <a:pt x="69371" y="0"/>
                </a:lnTo>
                <a:cubicBezTo>
                  <a:pt x="75794" y="0"/>
                  <a:pt x="81403" y="3496"/>
                  <a:pt x="84384" y="8671"/>
                </a:cubicBezTo>
                <a:close/>
                <a:moveTo>
                  <a:pt x="67203" y="30350"/>
                </a:moveTo>
                <a:cubicBezTo>
                  <a:pt x="70807" y="30350"/>
                  <a:pt x="73707" y="27450"/>
                  <a:pt x="73707" y="23846"/>
                </a:cubicBezTo>
                <a:cubicBezTo>
                  <a:pt x="73707" y="20242"/>
                  <a:pt x="70807" y="17343"/>
                  <a:pt x="67203" y="17343"/>
                </a:cubicBezTo>
                <a:lnTo>
                  <a:pt x="36853" y="17343"/>
                </a:lnTo>
                <a:cubicBezTo>
                  <a:pt x="33249" y="17343"/>
                  <a:pt x="30350" y="20242"/>
                  <a:pt x="30350" y="23846"/>
                </a:cubicBezTo>
                <a:cubicBezTo>
                  <a:pt x="30350" y="27450"/>
                  <a:pt x="33249" y="30350"/>
                  <a:pt x="36853" y="30350"/>
                </a:cubicBezTo>
                <a:lnTo>
                  <a:pt x="67203" y="30350"/>
                </a:lnTo>
                <a:close/>
                <a:moveTo>
                  <a:pt x="74899" y="70645"/>
                </a:moveTo>
                <a:cubicBezTo>
                  <a:pt x="76796" y="67610"/>
                  <a:pt x="75875" y="63599"/>
                  <a:pt x="72840" y="61675"/>
                </a:cubicBezTo>
                <a:cubicBezTo>
                  <a:pt x="69805" y="59751"/>
                  <a:pt x="65794" y="60700"/>
                  <a:pt x="63870" y="63735"/>
                </a:cubicBezTo>
                <a:lnTo>
                  <a:pt x="47232" y="90372"/>
                </a:lnTo>
                <a:lnTo>
                  <a:pt x="39916" y="80617"/>
                </a:lnTo>
                <a:cubicBezTo>
                  <a:pt x="37748" y="77745"/>
                  <a:pt x="33683" y="77148"/>
                  <a:pt x="30811" y="79316"/>
                </a:cubicBezTo>
                <a:cubicBezTo>
                  <a:pt x="27938" y="81484"/>
                  <a:pt x="27342" y="85549"/>
                  <a:pt x="29510" y="88421"/>
                </a:cubicBezTo>
                <a:lnTo>
                  <a:pt x="42517" y="105764"/>
                </a:lnTo>
                <a:cubicBezTo>
                  <a:pt x="43791" y="107471"/>
                  <a:pt x="45850" y="108447"/>
                  <a:pt x="47991" y="108366"/>
                </a:cubicBezTo>
                <a:cubicBezTo>
                  <a:pt x="50132" y="108284"/>
                  <a:pt x="52083" y="107146"/>
                  <a:pt x="53221" y="105303"/>
                </a:cubicBezTo>
                <a:lnTo>
                  <a:pt x="74899" y="70618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1081036" y="3786516"/>
            <a:ext cx="4760603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Assessment Type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81036" y="3959944"/>
            <a:ext cx="4769275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Read-Only / Passive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9747" y="4558272"/>
            <a:ext cx="5676882" cy="1948176"/>
          </a:xfrm>
          <a:custGeom>
            <a:avLst/>
            <a:gdLst/>
            <a:ahLst/>
            <a:cxnLst/>
            <a:rect l="l" t="t" r="r" b="b"/>
            <a:pathLst>
              <a:path w="5676882" h="1948176">
                <a:moveTo>
                  <a:pt x="104052" y="0"/>
                </a:moveTo>
                <a:lnTo>
                  <a:pt x="5572830" y="0"/>
                </a:lnTo>
                <a:cubicBezTo>
                  <a:pt x="5630296" y="0"/>
                  <a:pt x="5676882" y="46586"/>
                  <a:pt x="5676882" y="104052"/>
                </a:cubicBezTo>
                <a:lnTo>
                  <a:pt x="5676882" y="1844124"/>
                </a:lnTo>
                <a:cubicBezTo>
                  <a:pt x="5676882" y="1901591"/>
                  <a:pt x="5630296" y="1948176"/>
                  <a:pt x="5572830" y="1948176"/>
                </a:cubicBezTo>
                <a:lnTo>
                  <a:pt x="104052" y="1948176"/>
                </a:lnTo>
                <a:cubicBezTo>
                  <a:pt x="46586" y="1948176"/>
                  <a:pt x="0" y="1901591"/>
                  <a:pt x="0" y="1844124"/>
                </a:cubicBezTo>
                <a:lnTo>
                  <a:pt x="0" y="104052"/>
                </a:lnTo>
                <a:cubicBezTo>
                  <a:pt x="0" y="46586"/>
                  <a:pt x="46586" y="0"/>
                  <a:pt x="10405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10000"/>
                </a:srgbClr>
              </a:gs>
            </a:gsLst>
            <a:lin ang="2700000" scaled="1"/>
          </a:gradFill>
          <a:ln w="8467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3058" y="4734589"/>
            <a:ext cx="173428" cy="173428"/>
          </a:xfrm>
          <a:custGeom>
            <a:avLst/>
            <a:gdLst/>
            <a:ahLst/>
            <a:cxnLst/>
            <a:rect l="l" t="t" r="r" b="b"/>
            <a:pathLst>
              <a:path w="173428" h="173428">
                <a:moveTo>
                  <a:pt x="124381" y="139725"/>
                </a:moveTo>
                <a:lnTo>
                  <a:pt x="33703" y="49048"/>
                </a:lnTo>
                <a:cubicBezTo>
                  <a:pt x="26116" y="59684"/>
                  <a:pt x="21679" y="72691"/>
                  <a:pt x="21679" y="86714"/>
                </a:cubicBezTo>
                <a:cubicBezTo>
                  <a:pt x="21679" y="122619"/>
                  <a:pt x="50809" y="151750"/>
                  <a:pt x="86714" y="151750"/>
                </a:cubicBezTo>
                <a:cubicBezTo>
                  <a:pt x="100771" y="151750"/>
                  <a:pt x="113778" y="147312"/>
                  <a:pt x="124381" y="139725"/>
                </a:cubicBezTo>
                <a:close/>
                <a:moveTo>
                  <a:pt x="139725" y="124381"/>
                </a:moveTo>
                <a:cubicBezTo>
                  <a:pt x="147312" y="113744"/>
                  <a:pt x="151750" y="100737"/>
                  <a:pt x="151750" y="86714"/>
                </a:cubicBezTo>
                <a:cubicBezTo>
                  <a:pt x="151750" y="50809"/>
                  <a:pt x="122619" y="21679"/>
                  <a:pt x="86714" y="21679"/>
                </a:cubicBezTo>
                <a:cubicBezTo>
                  <a:pt x="72657" y="21679"/>
                  <a:pt x="59650" y="26116"/>
                  <a:pt x="49048" y="33703"/>
                </a:cubicBezTo>
                <a:lnTo>
                  <a:pt x="139725" y="124381"/>
                </a:lnTo>
                <a:close/>
                <a:moveTo>
                  <a:pt x="0" y="86714"/>
                </a:moveTo>
                <a:cubicBezTo>
                  <a:pt x="0" y="38855"/>
                  <a:pt x="38855" y="0"/>
                  <a:pt x="86714" y="0"/>
                </a:cubicBezTo>
                <a:cubicBezTo>
                  <a:pt x="134573" y="0"/>
                  <a:pt x="173428" y="38855"/>
                  <a:pt x="173428" y="86714"/>
                </a:cubicBezTo>
                <a:cubicBezTo>
                  <a:pt x="173428" y="134573"/>
                  <a:pt x="134573" y="173428"/>
                  <a:pt x="86714" y="173428"/>
                </a:cubicBezTo>
                <a:cubicBezTo>
                  <a:pt x="38855" y="173428"/>
                  <a:pt x="0" y="134573"/>
                  <a:pt x="0" y="86714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1" name="Text 29"/>
          <p:cNvSpPr/>
          <p:nvPr/>
        </p:nvSpPr>
        <p:spPr>
          <a:xfrm>
            <a:off x="708165" y="4699903"/>
            <a:ext cx="5263545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 of Scope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6065" y="5081445"/>
            <a:ext cx="104057" cy="138743"/>
          </a:xfrm>
          <a:custGeom>
            <a:avLst/>
            <a:gdLst/>
            <a:ahLst/>
            <a:cxnLst/>
            <a:rect l="l" t="t" r="r" b="b"/>
            <a:pathLst>
              <a:path w="104057" h="138743">
                <a:moveTo>
                  <a:pt x="14931" y="19890"/>
                </a:moveTo>
                <a:cubicBezTo>
                  <a:pt x="11544" y="16503"/>
                  <a:pt x="6043" y="16503"/>
                  <a:pt x="2656" y="19890"/>
                </a:cubicBezTo>
                <a:cubicBezTo>
                  <a:pt x="-732" y="23277"/>
                  <a:pt x="-732" y="28778"/>
                  <a:pt x="2656" y="32166"/>
                </a:cubicBezTo>
                <a:lnTo>
                  <a:pt x="39888" y="69371"/>
                </a:lnTo>
                <a:lnTo>
                  <a:pt x="2683" y="106604"/>
                </a:lnTo>
                <a:cubicBezTo>
                  <a:pt x="-705" y="109991"/>
                  <a:pt x="-705" y="115492"/>
                  <a:pt x="2683" y="118880"/>
                </a:cubicBezTo>
                <a:cubicBezTo>
                  <a:pt x="6070" y="122267"/>
                  <a:pt x="11571" y="122267"/>
                  <a:pt x="14958" y="118880"/>
                </a:cubicBezTo>
                <a:lnTo>
                  <a:pt x="52164" y="81647"/>
                </a:lnTo>
                <a:lnTo>
                  <a:pt x="89397" y="118852"/>
                </a:lnTo>
                <a:cubicBezTo>
                  <a:pt x="92784" y="122240"/>
                  <a:pt x="98285" y="122240"/>
                  <a:pt x="101672" y="118852"/>
                </a:cubicBezTo>
                <a:cubicBezTo>
                  <a:pt x="105060" y="115465"/>
                  <a:pt x="105060" y="109964"/>
                  <a:pt x="101672" y="106577"/>
                </a:cubicBezTo>
                <a:lnTo>
                  <a:pt x="64439" y="69371"/>
                </a:lnTo>
                <a:lnTo>
                  <a:pt x="101645" y="32138"/>
                </a:lnTo>
                <a:cubicBezTo>
                  <a:pt x="105032" y="28751"/>
                  <a:pt x="105032" y="23250"/>
                  <a:pt x="101645" y="19863"/>
                </a:cubicBezTo>
                <a:cubicBezTo>
                  <a:pt x="98258" y="16476"/>
                  <a:pt x="92757" y="16476"/>
                  <a:pt x="89370" y="19863"/>
                </a:cubicBezTo>
                <a:lnTo>
                  <a:pt x="52164" y="57096"/>
                </a:lnTo>
                <a:lnTo>
                  <a:pt x="14931" y="19890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3" name="Text 31"/>
          <p:cNvSpPr/>
          <p:nvPr/>
        </p:nvSpPr>
        <p:spPr>
          <a:xfrm>
            <a:off x="768865" y="5046760"/>
            <a:ext cx="2003095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 active exploitation attempts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6065" y="5358930"/>
            <a:ext cx="104057" cy="138743"/>
          </a:xfrm>
          <a:custGeom>
            <a:avLst/>
            <a:gdLst/>
            <a:ahLst/>
            <a:cxnLst/>
            <a:rect l="l" t="t" r="r" b="b"/>
            <a:pathLst>
              <a:path w="104057" h="138743">
                <a:moveTo>
                  <a:pt x="14931" y="19890"/>
                </a:moveTo>
                <a:cubicBezTo>
                  <a:pt x="11544" y="16503"/>
                  <a:pt x="6043" y="16503"/>
                  <a:pt x="2656" y="19890"/>
                </a:cubicBezTo>
                <a:cubicBezTo>
                  <a:pt x="-732" y="23277"/>
                  <a:pt x="-732" y="28778"/>
                  <a:pt x="2656" y="32166"/>
                </a:cubicBezTo>
                <a:lnTo>
                  <a:pt x="39888" y="69371"/>
                </a:lnTo>
                <a:lnTo>
                  <a:pt x="2683" y="106604"/>
                </a:lnTo>
                <a:cubicBezTo>
                  <a:pt x="-705" y="109991"/>
                  <a:pt x="-705" y="115492"/>
                  <a:pt x="2683" y="118880"/>
                </a:cubicBezTo>
                <a:cubicBezTo>
                  <a:pt x="6070" y="122267"/>
                  <a:pt x="11571" y="122267"/>
                  <a:pt x="14958" y="118880"/>
                </a:cubicBezTo>
                <a:lnTo>
                  <a:pt x="52164" y="81647"/>
                </a:lnTo>
                <a:lnTo>
                  <a:pt x="89397" y="118852"/>
                </a:lnTo>
                <a:cubicBezTo>
                  <a:pt x="92784" y="122240"/>
                  <a:pt x="98285" y="122240"/>
                  <a:pt x="101672" y="118852"/>
                </a:cubicBezTo>
                <a:cubicBezTo>
                  <a:pt x="105060" y="115465"/>
                  <a:pt x="105060" y="109964"/>
                  <a:pt x="101672" y="106577"/>
                </a:cubicBezTo>
                <a:lnTo>
                  <a:pt x="64439" y="69371"/>
                </a:lnTo>
                <a:lnTo>
                  <a:pt x="101645" y="32138"/>
                </a:lnTo>
                <a:cubicBezTo>
                  <a:pt x="105032" y="28751"/>
                  <a:pt x="105032" y="23250"/>
                  <a:pt x="101645" y="19863"/>
                </a:cubicBezTo>
                <a:cubicBezTo>
                  <a:pt x="98258" y="16476"/>
                  <a:pt x="92757" y="16476"/>
                  <a:pt x="89370" y="19863"/>
                </a:cubicBezTo>
                <a:lnTo>
                  <a:pt x="52164" y="57096"/>
                </a:lnTo>
                <a:lnTo>
                  <a:pt x="14931" y="19890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5" name="Text 33"/>
          <p:cNvSpPr/>
          <p:nvPr/>
        </p:nvSpPr>
        <p:spPr>
          <a:xfrm>
            <a:off x="768865" y="5324245"/>
            <a:ext cx="1812324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Denial-of-service (DoS) tests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6065" y="5636415"/>
            <a:ext cx="104057" cy="138743"/>
          </a:xfrm>
          <a:custGeom>
            <a:avLst/>
            <a:gdLst/>
            <a:ahLst/>
            <a:cxnLst/>
            <a:rect l="l" t="t" r="r" b="b"/>
            <a:pathLst>
              <a:path w="104057" h="138743">
                <a:moveTo>
                  <a:pt x="14931" y="19890"/>
                </a:moveTo>
                <a:cubicBezTo>
                  <a:pt x="11544" y="16503"/>
                  <a:pt x="6043" y="16503"/>
                  <a:pt x="2656" y="19890"/>
                </a:cubicBezTo>
                <a:cubicBezTo>
                  <a:pt x="-732" y="23277"/>
                  <a:pt x="-732" y="28778"/>
                  <a:pt x="2656" y="32166"/>
                </a:cubicBezTo>
                <a:lnTo>
                  <a:pt x="39888" y="69371"/>
                </a:lnTo>
                <a:lnTo>
                  <a:pt x="2683" y="106604"/>
                </a:lnTo>
                <a:cubicBezTo>
                  <a:pt x="-705" y="109991"/>
                  <a:pt x="-705" y="115492"/>
                  <a:pt x="2683" y="118880"/>
                </a:cubicBezTo>
                <a:cubicBezTo>
                  <a:pt x="6070" y="122267"/>
                  <a:pt x="11571" y="122267"/>
                  <a:pt x="14958" y="118880"/>
                </a:cubicBezTo>
                <a:lnTo>
                  <a:pt x="52164" y="81647"/>
                </a:lnTo>
                <a:lnTo>
                  <a:pt x="89397" y="118852"/>
                </a:lnTo>
                <a:cubicBezTo>
                  <a:pt x="92784" y="122240"/>
                  <a:pt x="98285" y="122240"/>
                  <a:pt x="101672" y="118852"/>
                </a:cubicBezTo>
                <a:cubicBezTo>
                  <a:pt x="105060" y="115465"/>
                  <a:pt x="105060" y="109964"/>
                  <a:pt x="101672" y="106577"/>
                </a:cubicBezTo>
                <a:lnTo>
                  <a:pt x="64439" y="69371"/>
                </a:lnTo>
                <a:lnTo>
                  <a:pt x="101645" y="32138"/>
                </a:lnTo>
                <a:cubicBezTo>
                  <a:pt x="105032" y="28751"/>
                  <a:pt x="105032" y="23250"/>
                  <a:pt x="101645" y="19863"/>
                </a:cubicBezTo>
                <a:cubicBezTo>
                  <a:pt x="98258" y="16476"/>
                  <a:pt x="92757" y="16476"/>
                  <a:pt x="89370" y="19863"/>
                </a:cubicBezTo>
                <a:lnTo>
                  <a:pt x="52164" y="57096"/>
                </a:lnTo>
                <a:lnTo>
                  <a:pt x="14931" y="19890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7" name="Text 35"/>
          <p:cNvSpPr/>
          <p:nvPr/>
        </p:nvSpPr>
        <p:spPr>
          <a:xfrm>
            <a:off x="768865" y="5601730"/>
            <a:ext cx="1994424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Credential attacks or brute force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26065" y="5913900"/>
            <a:ext cx="104057" cy="138743"/>
          </a:xfrm>
          <a:custGeom>
            <a:avLst/>
            <a:gdLst/>
            <a:ahLst/>
            <a:cxnLst/>
            <a:rect l="l" t="t" r="r" b="b"/>
            <a:pathLst>
              <a:path w="104057" h="138743">
                <a:moveTo>
                  <a:pt x="14931" y="19890"/>
                </a:moveTo>
                <a:cubicBezTo>
                  <a:pt x="11544" y="16503"/>
                  <a:pt x="6043" y="16503"/>
                  <a:pt x="2656" y="19890"/>
                </a:cubicBezTo>
                <a:cubicBezTo>
                  <a:pt x="-732" y="23277"/>
                  <a:pt x="-732" y="28778"/>
                  <a:pt x="2656" y="32166"/>
                </a:cubicBezTo>
                <a:lnTo>
                  <a:pt x="39888" y="69371"/>
                </a:lnTo>
                <a:lnTo>
                  <a:pt x="2683" y="106604"/>
                </a:lnTo>
                <a:cubicBezTo>
                  <a:pt x="-705" y="109991"/>
                  <a:pt x="-705" y="115492"/>
                  <a:pt x="2683" y="118880"/>
                </a:cubicBezTo>
                <a:cubicBezTo>
                  <a:pt x="6070" y="122267"/>
                  <a:pt x="11571" y="122267"/>
                  <a:pt x="14958" y="118880"/>
                </a:cubicBezTo>
                <a:lnTo>
                  <a:pt x="52164" y="81647"/>
                </a:lnTo>
                <a:lnTo>
                  <a:pt x="89397" y="118852"/>
                </a:lnTo>
                <a:cubicBezTo>
                  <a:pt x="92784" y="122240"/>
                  <a:pt x="98285" y="122240"/>
                  <a:pt x="101672" y="118852"/>
                </a:cubicBezTo>
                <a:cubicBezTo>
                  <a:pt x="105060" y="115465"/>
                  <a:pt x="105060" y="109964"/>
                  <a:pt x="101672" y="106577"/>
                </a:cubicBezTo>
                <a:lnTo>
                  <a:pt x="64439" y="69371"/>
                </a:lnTo>
                <a:lnTo>
                  <a:pt x="101645" y="32138"/>
                </a:lnTo>
                <a:cubicBezTo>
                  <a:pt x="105032" y="28751"/>
                  <a:pt x="105032" y="23250"/>
                  <a:pt x="101645" y="19863"/>
                </a:cubicBezTo>
                <a:cubicBezTo>
                  <a:pt x="98258" y="16476"/>
                  <a:pt x="92757" y="16476"/>
                  <a:pt x="89370" y="19863"/>
                </a:cubicBezTo>
                <a:lnTo>
                  <a:pt x="52164" y="57096"/>
                </a:lnTo>
                <a:lnTo>
                  <a:pt x="14931" y="19890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9" name="Text 37"/>
          <p:cNvSpPr/>
          <p:nvPr/>
        </p:nvSpPr>
        <p:spPr>
          <a:xfrm>
            <a:off x="768865" y="5879215"/>
            <a:ext cx="1612882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engineering attacks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26065" y="6191385"/>
            <a:ext cx="104057" cy="138743"/>
          </a:xfrm>
          <a:custGeom>
            <a:avLst/>
            <a:gdLst/>
            <a:ahLst/>
            <a:cxnLst/>
            <a:rect l="l" t="t" r="r" b="b"/>
            <a:pathLst>
              <a:path w="104057" h="138743">
                <a:moveTo>
                  <a:pt x="14931" y="19890"/>
                </a:moveTo>
                <a:cubicBezTo>
                  <a:pt x="11544" y="16503"/>
                  <a:pt x="6043" y="16503"/>
                  <a:pt x="2656" y="19890"/>
                </a:cubicBezTo>
                <a:cubicBezTo>
                  <a:pt x="-732" y="23277"/>
                  <a:pt x="-732" y="28778"/>
                  <a:pt x="2656" y="32166"/>
                </a:cubicBezTo>
                <a:lnTo>
                  <a:pt x="39888" y="69371"/>
                </a:lnTo>
                <a:lnTo>
                  <a:pt x="2683" y="106604"/>
                </a:lnTo>
                <a:cubicBezTo>
                  <a:pt x="-705" y="109991"/>
                  <a:pt x="-705" y="115492"/>
                  <a:pt x="2683" y="118880"/>
                </a:cubicBezTo>
                <a:cubicBezTo>
                  <a:pt x="6070" y="122267"/>
                  <a:pt x="11571" y="122267"/>
                  <a:pt x="14958" y="118880"/>
                </a:cubicBezTo>
                <a:lnTo>
                  <a:pt x="52164" y="81647"/>
                </a:lnTo>
                <a:lnTo>
                  <a:pt x="89397" y="118852"/>
                </a:lnTo>
                <a:cubicBezTo>
                  <a:pt x="92784" y="122240"/>
                  <a:pt x="98285" y="122240"/>
                  <a:pt x="101672" y="118852"/>
                </a:cubicBezTo>
                <a:cubicBezTo>
                  <a:pt x="105060" y="115465"/>
                  <a:pt x="105060" y="109964"/>
                  <a:pt x="101672" y="106577"/>
                </a:cubicBezTo>
                <a:lnTo>
                  <a:pt x="64439" y="69371"/>
                </a:lnTo>
                <a:lnTo>
                  <a:pt x="101645" y="32138"/>
                </a:lnTo>
                <a:cubicBezTo>
                  <a:pt x="105032" y="28751"/>
                  <a:pt x="105032" y="23250"/>
                  <a:pt x="101645" y="19863"/>
                </a:cubicBezTo>
                <a:cubicBezTo>
                  <a:pt x="98258" y="16476"/>
                  <a:pt x="92757" y="16476"/>
                  <a:pt x="89370" y="19863"/>
                </a:cubicBezTo>
                <a:lnTo>
                  <a:pt x="52164" y="57096"/>
                </a:lnTo>
                <a:lnTo>
                  <a:pt x="14931" y="19890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1" name="Text 39"/>
          <p:cNvSpPr/>
          <p:nvPr/>
        </p:nvSpPr>
        <p:spPr>
          <a:xfrm>
            <a:off x="768865" y="6156700"/>
            <a:ext cx="1491482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security testing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69165" y="1078145"/>
            <a:ext cx="5676882" cy="4272114"/>
          </a:xfrm>
          <a:custGeom>
            <a:avLst/>
            <a:gdLst/>
            <a:ahLst/>
            <a:cxnLst/>
            <a:rect l="l" t="t" r="r" b="b"/>
            <a:pathLst>
              <a:path w="5676882" h="4272114">
                <a:moveTo>
                  <a:pt x="104069" y="0"/>
                </a:moveTo>
                <a:lnTo>
                  <a:pt x="5572813" y="0"/>
                </a:lnTo>
                <a:cubicBezTo>
                  <a:pt x="5630289" y="0"/>
                  <a:pt x="5676882" y="46593"/>
                  <a:pt x="5676882" y="104069"/>
                </a:cubicBezTo>
                <a:lnTo>
                  <a:pt x="5676882" y="4168045"/>
                </a:lnTo>
                <a:cubicBezTo>
                  <a:pt x="5676882" y="4225521"/>
                  <a:pt x="5630289" y="4272114"/>
                  <a:pt x="5572813" y="4272114"/>
                </a:cubicBezTo>
                <a:lnTo>
                  <a:pt x="104069" y="4272114"/>
                </a:lnTo>
                <a:cubicBezTo>
                  <a:pt x="46593" y="4272114"/>
                  <a:pt x="0" y="4225521"/>
                  <a:pt x="0" y="4168045"/>
                </a:cubicBezTo>
                <a:lnTo>
                  <a:pt x="0" y="104069"/>
                </a:lnTo>
                <a:cubicBezTo>
                  <a:pt x="0" y="46632"/>
                  <a:pt x="46632" y="0"/>
                  <a:pt x="104069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>
                  <a:alpha val="20000"/>
                </a:srgbClr>
              </a:gs>
              <a:gs pos="100000">
                <a:srgbClr val="00D4AA">
                  <a:alpha val="10000"/>
                </a:srgbClr>
              </a:gs>
            </a:gsLst>
            <a:lin ang="2700000" scaled="1"/>
          </a:gradFill>
          <a:ln w="8467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32477" y="1254464"/>
            <a:ext cx="173428" cy="173428"/>
          </a:xfrm>
          <a:custGeom>
            <a:avLst/>
            <a:gdLst/>
            <a:ahLst/>
            <a:cxnLst/>
            <a:rect l="l" t="t" r="r" b="b"/>
            <a:pathLst>
              <a:path w="173428" h="173428">
                <a:moveTo>
                  <a:pt x="86714" y="173428"/>
                </a:moveTo>
                <a:cubicBezTo>
                  <a:pt x="134573" y="173428"/>
                  <a:pt x="173428" y="134573"/>
                  <a:pt x="173428" y="86714"/>
                </a:cubicBezTo>
                <a:cubicBezTo>
                  <a:pt x="173428" y="38855"/>
                  <a:pt x="134573" y="0"/>
                  <a:pt x="86714" y="0"/>
                </a:cubicBezTo>
                <a:cubicBezTo>
                  <a:pt x="38855" y="0"/>
                  <a:pt x="0" y="38855"/>
                  <a:pt x="0" y="86714"/>
                </a:cubicBezTo>
                <a:cubicBezTo>
                  <a:pt x="0" y="134573"/>
                  <a:pt x="38855" y="173428"/>
                  <a:pt x="86714" y="173428"/>
                </a:cubicBezTo>
                <a:close/>
                <a:moveTo>
                  <a:pt x="115303" y="72047"/>
                </a:moveTo>
                <a:lnTo>
                  <a:pt x="88204" y="115404"/>
                </a:lnTo>
                <a:cubicBezTo>
                  <a:pt x="86782" y="117674"/>
                  <a:pt x="84343" y="119096"/>
                  <a:pt x="81667" y="119232"/>
                </a:cubicBezTo>
                <a:cubicBezTo>
                  <a:pt x="78991" y="119367"/>
                  <a:pt x="76417" y="118148"/>
                  <a:pt x="74825" y="115980"/>
                </a:cubicBezTo>
                <a:lnTo>
                  <a:pt x="58566" y="94302"/>
                </a:lnTo>
                <a:cubicBezTo>
                  <a:pt x="55856" y="90711"/>
                  <a:pt x="56601" y="85630"/>
                  <a:pt x="60192" y="82920"/>
                </a:cubicBezTo>
                <a:cubicBezTo>
                  <a:pt x="63782" y="80211"/>
                  <a:pt x="68863" y="80956"/>
                  <a:pt x="71573" y="84546"/>
                </a:cubicBezTo>
                <a:lnTo>
                  <a:pt x="80719" y="96740"/>
                </a:lnTo>
                <a:lnTo>
                  <a:pt x="101516" y="63444"/>
                </a:lnTo>
                <a:cubicBezTo>
                  <a:pt x="103888" y="59650"/>
                  <a:pt x="108901" y="58464"/>
                  <a:pt x="112728" y="60869"/>
                </a:cubicBezTo>
                <a:cubicBezTo>
                  <a:pt x="116556" y="63274"/>
                  <a:pt x="117708" y="68253"/>
                  <a:pt x="115303" y="72081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4" name="Text 42"/>
          <p:cNvSpPr/>
          <p:nvPr/>
        </p:nvSpPr>
        <p:spPr>
          <a:xfrm>
            <a:off x="6527584" y="1219779"/>
            <a:ext cx="5263545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Scope Activities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10798" y="1618664"/>
            <a:ext cx="242799" cy="242799"/>
          </a:xfrm>
          <a:custGeom>
            <a:avLst/>
            <a:gdLst/>
            <a:ahLst/>
            <a:cxnLst/>
            <a:rect l="l" t="t" r="r" b="b"/>
            <a:pathLst>
              <a:path w="242799" h="242799">
                <a:moveTo>
                  <a:pt x="121400" y="0"/>
                </a:moveTo>
                <a:lnTo>
                  <a:pt x="121400" y="0"/>
                </a:lnTo>
                <a:cubicBezTo>
                  <a:pt x="188402" y="0"/>
                  <a:pt x="242799" y="54397"/>
                  <a:pt x="242799" y="121400"/>
                </a:cubicBezTo>
                <a:lnTo>
                  <a:pt x="242799" y="121400"/>
                </a:lnTo>
                <a:cubicBezTo>
                  <a:pt x="242799" y="188402"/>
                  <a:pt x="188402" y="242799"/>
                  <a:pt x="121400" y="242799"/>
                </a:cubicBezTo>
                <a:lnTo>
                  <a:pt x="121400" y="242799"/>
                </a:lnTo>
                <a:cubicBezTo>
                  <a:pt x="54397" y="242799"/>
                  <a:pt x="0" y="188402"/>
                  <a:pt x="0" y="121400"/>
                </a:cubicBezTo>
                <a:lnTo>
                  <a:pt x="0" y="121400"/>
                </a:lnTo>
                <a:cubicBezTo>
                  <a:pt x="0" y="54397"/>
                  <a:pt x="54397" y="0"/>
                  <a:pt x="121400" y="0"/>
                </a:cubicBezTo>
                <a:close/>
              </a:path>
            </a:pathLst>
          </a:custGeom>
          <a:solidFill>
            <a:srgbClr val="00D4AA">
              <a:alpha val="3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412868" y="1653349"/>
            <a:ext cx="95385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657655" y="1601321"/>
            <a:ext cx="2523380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Reconnaissance &amp; Information Gathering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57655" y="1809435"/>
            <a:ext cx="2514708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Open-source intelligence and surface mapping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10798" y="2104262"/>
            <a:ext cx="242799" cy="242799"/>
          </a:xfrm>
          <a:custGeom>
            <a:avLst/>
            <a:gdLst/>
            <a:ahLst/>
            <a:cxnLst/>
            <a:rect l="l" t="t" r="r" b="b"/>
            <a:pathLst>
              <a:path w="242799" h="242799">
                <a:moveTo>
                  <a:pt x="121400" y="0"/>
                </a:moveTo>
                <a:lnTo>
                  <a:pt x="121400" y="0"/>
                </a:lnTo>
                <a:cubicBezTo>
                  <a:pt x="188402" y="0"/>
                  <a:pt x="242799" y="54397"/>
                  <a:pt x="242799" y="121400"/>
                </a:cubicBezTo>
                <a:lnTo>
                  <a:pt x="242799" y="121400"/>
                </a:lnTo>
                <a:cubicBezTo>
                  <a:pt x="242799" y="188402"/>
                  <a:pt x="188402" y="242799"/>
                  <a:pt x="121400" y="242799"/>
                </a:cubicBezTo>
                <a:lnTo>
                  <a:pt x="121400" y="242799"/>
                </a:lnTo>
                <a:cubicBezTo>
                  <a:pt x="54397" y="242799"/>
                  <a:pt x="0" y="188402"/>
                  <a:pt x="0" y="121400"/>
                </a:cubicBezTo>
                <a:lnTo>
                  <a:pt x="0" y="121400"/>
                </a:lnTo>
                <a:cubicBezTo>
                  <a:pt x="0" y="54397"/>
                  <a:pt x="54397" y="0"/>
                  <a:pt x="121400" y="0"/>
                </a:cubicBezTo>
                <a:close/>
              </a:path>
            </a:pathLst>
          </a:custGeom>
          <a:solidFill>
            <a:srgbClr val="00D4AA">
              <a:alpha val="3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401216" y="2138948"/>
            <a:ext cx="121400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657655" y="2086920"/>
            <a:ext cx="2341280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&amp; Service Enumeration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657655" y="2295033"/>
            <a:ext cx="2332609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Nmap scanning for open ports and services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10798" y="2589861"/>
            <a:ext cx="242799" cy="242799"/>
          </a:xfrm>
          <a:custGeom>
            <a:avLst/>
            <a:gdLst/>
            <a:ahLst/>
            <a:cxnLst/>
            <a:rect l="l" t="t" r="r" b="b"/>
            <a:pathLst>
              <a:path w="242799" h="242799">
                <a:moveTo>
                  <a:pt x="121400" y="0"/>
                </a:moveTo>
                <a:lnTo>
                  <a:pt x="121400" y="0"/>
                </a:lnTo>
                <a:cubicBezTo>
                  <a:pt x="188402" y="0"/>
                  <a:pt x="242799" y="54397"/>
                  <a:pt x="242799" y="121400"/>
                </a:cubicBezTo>
                <a:lnTo>
                  <a:pt x="242799" y="121400"/>
                </a:lnTo>
                <a:cubicBezTo>
                  <a:pt x="242799" y="188402"/>
                  <a:pt x="188402" y="242799"/>
                  <a:pt x="121400" y="242799"/>
                </a:cubicBezTo>
                <a:lnTo>
                  <a:pt x="121400" y="242799"/>
                </a:lnTo>
                <a:cubicBezTo>
                  <a:pt x="54397" y="242799"/>
                  <a:pt x="0" y="188402"/>
                  <a:pt x="0" y="121400"/>
                </a:cubicBezTo>
                <a:lnTo>
                  <a:pt x="0" y="121400"/>
                </a:lnTo>
                <a:cubicBezTo>
                  <a:pt x="0" y="54397"/>
                  <a:pt x="54397" y="0"/>
                  <a:pt x="121400" y="0"/>
                </a:cubicBezTo>
                <a:close/>
              </a:path>
            </a:pathLst>
          </a:custGeom>
          <a:solidFill>
            <a:srgbClr val="00D4AA">
              <a:alpha val="3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399680" y="2624547"/>
            <a:ext cx="130071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657655" y="2572518"/>
            <a:ext cx="2462680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Fingerprinting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657655" y="2780632"/>
            <a:ext cx="2454009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Identifying frameworks, server versions, stack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10798" y="3075460"/>
            <a:ext cx="242799" cy="242799"/>
          </a:xfrm>
          <a:custGeom>
            <a:avLst/>
            <a:gdLst/>
            <a:ahLst/>
            <a:cxnLst/>
            <a:rect l="l" t="t" r="r" b="b"/>
            <a:pathLst>
              <a:path w="242799" h="242799">
                <a:moveTo>
                  <a:pt x="121400" y="0"/>
                </a:moveTo>
                <a:lnTo>
                  <a:pt x="121400" y="0"/>
                </a:lnTo>
                <a:cubicBezTo>
                  <a:pt x="188402" y="0"/>
                  <a:pt x="242799" y="54397"/>
                  <a:pt x="242799" y="121400"/>
                </a:cubicBezTo>
                <a:lnTo>
                  <a:pt x="242799" y="121400"/>
                </a:lnTo>
                <a:cubicBezTo>
                  <a:pt x="242799" y="188402"/>
                  <a:pt x="188402" y="242799"/>
                  <a:pt x="121400" y="242799"/>
                </a:cubicBezTo>
                <a:lnTo>
                  <a:pt x="121400" y="242799"/>
                </a:lnTo>
                <a:cubicBezTo>
                  <a:pt x="54397" y="242799"/>
                  <a:pt x="0" y="188402"/>
                  <a:pt x="0" y="121400"/>
                </a:cubicBezTo>
                <a:lnTo>
                  <a:pt x="0" y="121400"/>
                </a:lnTo>
                <a:cubicBezTo>
                  <a:pt x="0" y="54397"/>
                  <a:pt x="54397" y="0"/>
                  <a:pt x="121400" y="0"/>
                </a:cubicBezTo>
                <a:close/>
              </a:path>
            </a:pathLst>
          </a:custGeom>
          <a:solidFill>
            <a:srgbClr val="00D4AA">
              <a:alpha val="3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401306" y="3110146"/>
            <a:ext cx="121400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657655" y="3058117"/>
            <a:ext cx="2445337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Vulnerability Scanning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657655" y="3266231"/>
            <a:ext cx="2436666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Passive scanning with OWASP ZAP and Nikto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10798" y="3561059"/>
            <a:ext cx="242799" cy="242799"/>
          </a:xfrm>
          <a:custGeom>
            <a:avLst/>
            <a:gdLst/>
            <a:ahLst/>
            <a:cxnLst/>
            <a:rect l="l" t="t" r="r" b="b"/>
            <a:pathLst>
              <a:path w="242799" h="242799">
                <a:moveTo>
                  <a:pt x="121400" y="0"/>
                </a:moveTo>
                <a:lnTo>
                  <a:pt x="121400" y="0"/>
                </a:lnTo>
                <a:cubicBezTo>
                  <a:pt x="188402" y="0"/>
                  <a:pt x="242799" y="54397"/>
                  <a:pt x="242799" y="121400"/>
                </a:cubicBezTo>
                <a:lnTo>
                  <a:pt x="242799" y="121400"/>
                </a:lnTo>
                <a:cubicBezTo>
                  <a:pt x="242799" y="188402"/>
                  <a:pt x="188402" y="242799"/>
                  <a:pt x="121400" y="242799"/>
                </a:cubicBezTo>
                <a:lnTo>
                  <a:pt x="121400" y="242799"/>
                </a:lnTo>
                <a:cubicBezTo>
                  <a:pt x="54397" y="242799"/>
                  <a:pt x="0" y="188402"/>
                  <a:pt x="0" y="121400"/>
                </a:cubicBezTo>
                <a:lnTo>
                  <a:pt x="0" y="121400"/>
                </a:lnTo>
                <a:cubicBezTo>
                  <a:pt x="0" y="54397"/>
                  <a:pt x="54397" y="0"/>
                  <a:pt x="121400" y="0"/>
                </a:cubicBezTo>
                <a:close/>
              </a:path>
            </a:pathLst>
          </a:custGeom>
          <a:solidFill>
            <a:srgbClr val="00D4AA">
              <a:alpha val="3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399499" y="3595745"/>
            <a:ext cx="130071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657655" y="3543716"/>
            <a:ext cx="2514708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Header Analysis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657655" y="3751830"/>
            <a:ext cx="2506037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Checking for missing or misconfigured headers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69165" y="5494784"/>
            <a:ext cx="5676882" cy="1011664"/>
          </a:xfrm>
          <a:custGeom>
            <a:avLst/>
            <a:gdLst/>
            <a:ahLst/>
            <a:cxnLst/>
            <a:rect l="l" t="t" r="r" b="b"/>
            <a:pathLst>
              <a:path w="5676882" h="1011664">
                <a:moveTo>
                  <a:pt x="104060" y="0"/>
                </a:moveTo>
                <a:lnTo>
                  <a:pt x="5572822" y="0"/>
                </a:lnTo>
                <a:cubicBezTo>
                  <a:pt x="5630293" y="0"/>
                  <a:pt x="5676882" y="46589"/>
                  <a:pt x="5676882" y="104060"/>
                </a:cubicBezTo>
                <a:lnTo>
                  <a:pt x="5676882" y="907605"/>
                </a:lnTo>
                <a:cubicBezTo>
                  <a:pt x="5676882" y="965075"/>
                  <a:pt x="5630293" y="1011664"/>
                  <a:pt x="5572822" y="1011664"/>
                </a:cubicBezTo>
                <a:lnTo>
                  <a:pt x="104060" y="1011664"/>
                </a:lnTo>
                <a:cubicBezTo>
                  <a:pt x="46589" y="1011664"/>
                  <a:pt x="0" y="965075"/>
                  <a:pt x="0" y="907605"/>
                </a:cubicBezTo>
                <a:lnTo>
                  <a:pt x="0" y="104060"/>
                </a:lnTo>
                <a:cubicBezTo>
                  <a:pt x="0" y="46628"/>
                  <a:pt x="46628" y="0"/>
                  <a:pt x="10406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93456" y="5671101"/>
            <a:ext cx="173428" cy="173428"/>
          </a:xfrm>
          <a:custGeom>
            <a:avLst/>
            <a:gdLst/>
            <a:ahLst/>
            <a:cxnLst/>
            <a:rect l="l" t="t" r="r" b="b"/>
            <a:pathLst>
              <a:path w="173428" h="173428">
                <a:moveTo>
                  <a:pt x="86714" y="173428"/>
                </a:moveTo>
                <a:cubicBezTo>
                  <a:pt x="134573" y="173428"/>
                  <a:pt x="173428" y="134573"/>
                  <a:pt x="173428" y="86714"/>
                </a:cubicBezTo>
                <a:cubicBezTo>
                  <a:pt x="173428" y="38855"/>
                  <a:pt x="134573" y="0"/>
                  <a:pt x="86714" y="0"/>
                </a:cubicBezTo>
                <a:cubicBezTo>
                  <a:pt x="38855" y="0"/>
                  <a:pt x="0" y="38855"/>
                  <a:pt x="0" y="86714"/>
                </a:cubicBezTo>
                <a:cubicBezTo>
                  <a:pt x="0" y="134573"/>
                  <a:pt x="38855" y="173428"/>
                  <a:pt x="86714" y="173428"/>
                </a:cubicBezTo>
                <a:close/>
                <a:moveTo>
                  <a:pt x="75875" y="54196"/>
                </a:moveTo>
                <a:cubicBezTo>
                  <a:pt x="75875" y="48214"/>
                  <a:pt x="80732" y="43357"/>
                  <a:pt x="86714" y="43357"/>
                </a:cubicBezTo>
                <a:cubicBezTo>
                  <a:pt x="92696" y="43357"/>
                  <a:pt x="97553" y="48214"/>
                  <a:pt x="97553" y="54196"/>
                </a:cubicBezTo>
                <a:cubicBezTo>
                  <a:pt x="97553" y="60179"/>
                  <a:pt x="92696" y="65036"/>
                  <a:pt x="86714" y="65036"/>
                </a:cubicBezTo>
                <a:cubicBezTo>
                  <a:pt x="80732" y="65036"/>
                  <a:pt x="75875" y="60179"/>
                  <a:pt x="75875" y="54196"/>
                </a:cubicBezTo>
                <a:close/>
                <a:moveTo>
                  <a:pt x="73165" y="75875"/>
                </a:moveTo>
                <a:lnTo>
                  <a:pt x="89424" y="75875"/>
                </a:lnTo>
                <a:cubicBezTo>
                  <a:pt x="93929" y="75875"/>
                  <a:pt x="97553" y="79499"/>
                  <a:pt x="97553" y="84004"/>
                </a:cubicBezTo>
                <a:lnTo>
                  <a:pt x="97553" y="113812"/>
                </a:lnTo>
                <a:lnTo>
                  <a:pt x="100263" y="113812"/>
                </a:lnTo>
                <a:cubicBezTo>
                  <a:pt x="104768" y="113812"/>
                  <a:pt x="108393" y="117437"/>
                  <a:pt x="108393" y="121942"/>
                </a:cubicBezTo>
                <a:cubicBezTo>
                  <a:pt x="108393" y="126447"/>
                  <a:pt x="104768" y="130071"/>
                  <a:pt x="100263" y="130071"/>
                </a:cubicBezTo>
                <a:lnTo>
                  <a:pt x="73165" y="130071"/>
                </a:lnTo>
                <a:cubicBezTo>
                  <a:pt x="68660" y="130071"/>
                  <a:pt x="65036" y="126447"/>
                  <a:pt x="65036" y="121942"/>
                </a:cubicBezTo>
                <a:cubicBezTo>
                  <a:pt x="65036" y="117437"/>
                  <a:pt x="68660" y="113812"/>
                  <a:pt x="73165" y="113812"/>
                </a:cubicBezTo>
                <a:lnTo>
                  <a:pt x="81294" y="113812"/>
                </a:lnTo>
                <a:lnTo>
                  <a:pt x="81294" y="92134"/>
                </a:lnTo>
                <a:lnTo>
                  <a:pt x="73165" y="92134"/>
                </a:lnTo>
                <a:cubicBezTo>
                  <a:pt x="68660" y="92134"/>
                  <a:pt x="65036" y="88509"/>
                  <a:pt x="65036" y="84004"/>
                </a:cubicBezTo>
                <a:cubicBezTo>
                  <a:pt x="65036" y="79499"/>
                  <a:pt x="68660" y="75875"/>
                  <a:pt x="73165" y="75875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67" name="Text 65"/>
          <p:cNvSpPr/>
          <p:nvPr/>
        </p:nvSpPr>
        <p:spPr>
          <a:xfrm>
            <a:off x="6549804" y="5636415"/>
            <a:ext cx="5220188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Note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549804" y="5913900"/>
            <a:ext cx="5220188" cy="450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2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assessment strictly adhered to a </a:t>
            </a:r>
            <a:pPr>
              <a:lnSpc>
                <a:spcPct val="140000"/>
              </a:lnSpc>
            </a:pPr>
            <a:r>
              <a:rPr lang="en-US" sz="1092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read-only, non-destructive approach</a:t>
            </a:r>
            <a:pPr>
              <a:lnSpc>
                <a:spcPct val="140000"/>
              </a:lnSpc>
            </a:pPr>
            <a:r>
              <a:rPr lang="en-US" sz="1092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No data was accessed, modified, or exfiltrated during the assessment.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/>
              </a:gs>
              <a:gs pos="100000">
                <a:srgbClr val="00D4AA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19113" y="5715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09600"/>
            <a:ext cx="3419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&amp; Methodology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184275"/>
            <a:ext cx="5635625" cy="4540250"/>
          </a:xfrm>
          <a:custGeom>
            <a:avLst/>
            <a:gdLst/>
            <a:ahLst/>
            <a:cxnLst/>
            <a:rect l="l" t="t" r="r" b="b"/>
            <a:pathLst>
              <a:path w="5635625" h="4540250">
                <a:moveTo>
                  <a:pt x="114278" y="0"/>
                </a:moveTo>
                <a:lnTo>
                  <a:pt x="5521347" y="0"/>
                </a:lnTo>
                <a:cubicBezTo>
                  <a:pt x="5584461" y="0"/>
                  <a:pt x="5635625" y="51164"/>
                  <a:pt x="5635625" y="114278"/>
                </a:cubicBezTo>
                <a:lnTo>
                  <a:pt x="5635625" y="4425972"/>
                </a:lnTo>
                <a:cubicBezTo>
                  <a:pt x="5635625" y="4489086"/>
                  <a:pt x="5584461" y="4540250"/>
                  <a:pt x="5521347" y="4540250"/>
                </a:cubicBezTo>
                <a:lnTo>
                  <a:pt x="114278" y="4540250"/>
                </a:lnTo>
                <a:cubicBezTo>
                  <a:pt x="51164" y="4540250"/>
                  <a:pt x="0" y="4489086"/>
                  <a:pt x="0" y="4425972"/>
                </a:cubicBezTo>
                <a:lnTo>
                  <a:pt x="0" y="114278"/>
                </a:lnTo>
                <a:cubicBezTo>
                  <a:pt x="0" y="51206"/>
                  <a:pt x="51206" y="0"/>
                  <a:pt x="11427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1656" y="137795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89533" y="36686"/>
                </a:moveTo>
                <a:cubicBezTo>
                  <a:pt x="192360" y="33858"/>
                  <a:pt x="197086" y="34565"/>
                  <a:pt x="198500" y="38286"/>
                </a:cubicBezTo>
                <a:cubicBezTo>
                  <a:pt x="201030" y="44872"/>
                  <a:pt x="202406" y="52053"/>
                  <a:pt x="202406" y="59531"/>
                </a:cubicBezTo>
                <a:cubicBezTo>
                  <a:pt x="202406" y="92422"/>
                  <a:pt x="175766" y="119063"/>
                  <a:pt x="142875" y="119063"/>
                </a:cubicBezTo>
                <a:cubicBezTo>
                  <a:pt x="136364" y="119063"/>
                  <a:pt x="130076" y="118021"/>
                  <a:pt x="124197" y="116086"/>
                </a:cubicBezTo>
                <a:lnTo>
                  <a:pt x="54657" y="185626"/>
                </a:lnTo>
                <a:cubicBezTo>
                  <a:pt x="44202" y="196081"/>
                  <a:pt x="27236" y="196081"/>
                  <a:pt x="16780" y="185626"/>
                </a:cubicBezTo>
                <a:cubicBezTo>
                  <a:pt x="6325" y="175171"/>
                  <a:pt x="6325" y="158204"/>
                  <a:pt x="16780" y="147749"/>
                </a:cubicBezTo>
                <a:lnTo>
                  <a:pt x="86320" y="78209"/>
                </a:lnTo>
                <a:cubicBezTo>
                  <a:pt x="84386" y="72330"/>
                  <a:pt x="83344" y="66080"/>
                  <a:pt x="83344" y="59531"/>
                </a:cubicBezTo>
                <a:cubicBezTo>
                  <a:pt x="83344" y="26640"/>
                  <a:pt x="109984" y="0"/>
                  <a:pt x="142875" y="0"/>
                </a:cubicBezTo>
                <a:cubicBezTo>
                  <a:pt x="150354" y="0"/>
                  <a:pt x="157535" y="1377"/>
                  <a:pt x="164120" y="3907"/>
                </a:cubicBezTo>
                <a:cubicBezTo>
                  <a:pt x="167841" y="5321"/>
                  <a:pt x="168511" y="10046"/>
                  <a:pt x="165720" y="12874"/>
                </a:cubicBezTo>
                <a:lnTo>
                  <a:pt x="132717" y="45876"/>
                </a:lnTo>
                <a:cubicBezTo>
                  <a:pt x="131601" y="46992"/>
                  <a:pt x="130969" y="48518"/>
                  <a:pt x="130969" y="50081"/>
                </a:cubicBezTo>
                <a:lnTo>
                  <a:pt x="130969" y="65484"/>
                </a:lnTo>
                <a:cubicBezTo>
                  <a:pt x="130969" y="68759"/>
                  <a:pt x="133648" y="71438"/>
                  <a:pt x="136922" y="71438"/>
                </a:cubicBezTo>
                <a:lnTo>
                  <a:pt x="152326" y="71438"/>
                </a:lnTo>
                <a:cubicBezTo>
                  <a:pt x="153888" y="71438"/>
                  <a:pt x="155414" y="70805"/>
                  <a:pt x="156530" y="69689"/>
                </a:cubicBezTo>
                <a:lnTo>
                  <a:pt x="189533" y="36686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777875" y="1339851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800" y="1758951"/>
            <a:ext cx="5305425" cy="571500"/>
          </a:xfrm>
          <a:custGeom>
            <a:avLst/>
            <a:gdLst/>
            <a:ahLst/>
            <a:cxnLst/>
            <a:rect l="l" t="t" r="r" b="b"/>
            <a:pathLst>
              <a:path w="5305425" h="571500">
                <a:moveTo>
                  <a:pt x="38100" y="0"/>
                </a:moveTo>
                <a:lnTo>
                  <a:pt x="5229227" y="0"/>
                </a:lnTo>
                <a:cubicBezTo>
                  <a:pt x="5271310" y="0"/>
                  <a:pt x="5305425" y="34115"/>
                  <a:pt x="5305425" y="76198"/>
                </a:cubicBezTo>
                <a:lnTo>
                  <a:pt x="5305425" y="495302"/>
                </a:lnTo>
                <a:cubicBezTo>
                  <a:pt x="5305425" y="537385"/>
                  <a:pt x="5271310" y="571500"/>
                  <a:pt x="5229227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8800" y="1758951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1" name="Shape 9"/>
          <p:cNvSpPr/>
          <p:nvPr/>
        </p:nvSpPr>
        <p:spPr>
          <a:xfrm>
            <a:off x="654050" y="18542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8825" y="196850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9350" y="1835151"/>
            <a:ext cx="471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Nmap v7.95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9350" y="2063751"/>
            <a:ext cx="470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scanning, OS detection, service enumeration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8800" y="2406651"/>
            <a:ext cx="5305425" cy="571500"/>
          </a:xfrm>
          <a:custGeom>
            <a:avLst/>
            <a:gdLst/>
            <a:ahLst/>
            <a:cxnLst/>
            <a:rect l="l" t="t" r="r" b="b"/>
            <a:pathLst>
              <a:path w="5305425" h="571500">
                <a:moveTo>
                  <a:pt x="38100" y="0"/>
                </a:moveTo>
                <a:lnTo>
                  <a:pt x="5229227" y="0"/>
                </a:lnTo>
                <a:cubicBezTo>
                  <a:pt x="5271310" y="0"/>
                  <a:pt x="5305425" y="34115"/>
                  <a:pt x="5305425" y="76198"/>
                </a:cubicBezTo>
                <a:lnTo>
                  <a:pt x="5305425" y="495302"/>
                </a:lnTo>
                <a:cubicBezTo>
                  <a:pt x="5305425" y="537385"/>
                  <a:pt x="5271310" y="571500"/>
                  <a:pt x="5229227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58800" y="2406651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7" name="Shape 15"/>
          <p:cNvSpPr/>
          <p:nvPr/>
        </p:nvSpPr>
        <p:spPr>
          <a:xfrm>
            <a:off x="654050" y="25019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8825" y="261620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57150" y="28575"/>
                </a:moveTo>
                <a:cubicBezTo>
                  <a:pt x="57150" y="12799"/>
                  <a:pt x="69949" y="0"/>
                  <a:pt x="85725" y="0"/>
                </a:cubicBezTo>
                <a:cubicBezTo>
                  <a:pt x="101501" y="0"/>
                  <a:pt x="114300" y="12799"/>
                  <a:pt x="114300" y="28575"/>
                </a:cubicBezTo>
                <a:lnTo>
                  <a:pt x="114300" y="29647"/>
                </a:lnTo>
                <a:cubicBezTo>
                  <a:pt x="114300" y="34320"/>
                  <a:pt x="110520" y="38100"/>
                  <a:pt x="105847" y="38100"/>
                </a:cubicBezTo>
                <a:lnTo>
                  <a:pt x="65633" y="38100"/>
                </a:lnTo>
                <a:cubicBezTo>
                  <a:pt x="60960" y="38100"/>
                  <a:pt x="57180" y="34320"/>
                  <a:pt x="57180" y="29647"/>
                </a:cubicBezTo>
                <a:lnTo>
                  <a:pt x="57180" y="28575"/>
                </a:lnTo>
                <a:close/>
                <a:moveTo>
                  <a:pt x="160020" y="32385"/>
                </a:moveTo>
                <a:cubicBezTo>
                  <a:pt x="163175" y="36582"/>
                  <a:pt x="162312" y="42565"/>
                  <a:pt x="158115" y="45720"/>
                </a:cubicBezTo>
                <a:lnTo>
                  <a:pt x="129004" y="67538"/>
                </a:lnTo>
                <a:cubicBezTo>
                  <a:pt x="130582" y="70187"/>
                  <a:pt x="131772" y="73104"/>
                  <a:pt x="132517" y="76200"/>
                </a:cubicBezTo>
                <a:lnTo>
                  <a:pt x="161925" y="76200"/>
                </a:lnTo>
                <a:cubicBezTo>
                  <a:pt x="167194" y="76200"/>
                  <a:pt x="171450" y="80456"/>
                  <a:pt x="171450" y="85725"/>
                </a:cubicBezTo>
                <a:cubicBezTo>
                  <a:pt x="171450" y="90994"/>
                  <a:pt x="167194" y="95250"/>
                  <a:pt x="161925" y="95250"/>
                </a:cubicBezTo>
                <a:lnTo>
                  <a:pt x="133350" y="95250"/>
                </a:lnTo>
                <a:lnTo>
                  <a:pt x="133350" y="104775"/>
                </a:lnTo>
                <a:cubicBezTo>
                  <a:pt x="133350" y="105549"/>
                  <a:pt x="133320" y="106353"/>
                  <a:pt x="133290" y="107126"/>
                </a:cubicBezTo>
                <a:lnTo>
                  <a:pt x="158115" y="125730"/>
                </a:lnTo>
                <a:cubicBezTo>
                  <a:pt x="162312" y="128885"/>
                  <a:pt x="163175" y="134868"/>
                  <a:pt x="160020" y="139065"/>
                </a:cubicBezTo>
                <a:cubicBezTo>
                  <a:pt x="156865" y="143262"/>
                  <a:pt x="150882" y="144125"/>
                  <a:pt x="146685" y="140970"/>
                </a:cubicBezTo>
                <a:lnTo>
                  <a:pt x="127903" y="126891"/>
                </a:lnTo>
                <a:cubicBezTo>
                  <a:pt x="120997" y="140047"/>
                  <a:pt x="108109" y="149572"/>
                  <a:pt x="92869" y="151864"/>
                </a:cubicBezTo>
                <a:lnTo>
                  <a:pt x="92869" y="83344"/>
                </a:lnTo>
                <a:cubicBezTo>
                  <a:pt x="92869" y="79385"/>
                  <a:pt x="89684" y="76200"/>
                  <a:pt x="85725" y="76200"/>
                </a:cubicBezTo>
                <a:cubicBezTo>
                  <a:pt x="81766" y="76200"/>
                  <a:pt x="78581" y="79385"/>
                  <a:pt x="78581" y="83344"/>
                </a:cubicBezTo>
                <a:lnTo>
                  <a:pt x="78581" y="151864"/>
                </a:lnTo>
                <a:cubicBezTo>
                  <a:pt x="63341" y="149572"/>
                  <a:pt x="50453" y="140047"/>
                  <a:pt x="43547" y="126891"/>
                </a:cubicBezTo>
                <a:lnTo>
                  <a:pt x="24765" y="140970"/>
                </a:lnTo>
                <a:cubicBezTo>
                  <a:pt x="20568" y="144125"/>
                  <a:pt x="14585" y="143262"/>
                  <a:pt x="11430" y="139065"/>
                </a:cubicBezTo>
                <a:cubicBezTo>
                  <a:pt x="8275" y="134868"/>
                  <a:pt x="9138" y="128885"/>
                  <a:pt x="13335" y="125730"/>
                </a:cubicBezTo>
                <a:lnTo>
                  <a:pt x="38160" y="107126"/>
                </a:lnTo>
                <a:cubicBezTo>
                  <a:pt x="38130" y="106353"/>
                  <a:pt x="38100" y="105579"/>
                  <a:pt x="38100" y="104775"/>
                </a:cubicBezTo>
                <a:lnTo>
                  <a:pt x="38100" y="95250"/>
                </a:lnTo>
                <a:lnTo>
                  <a:pt x="9525" y="95250"/>
                </a:lnTo>
                <a:cubicBezTo>
                  <a:pt x="4256" y="95250"/>
                  <a:pt x="0" y="90994"/>
                  <a:pt x="0" y="85725"/>
                </a:cubicBezTo>
                <a:cubicBezTo>
                  <a:pt x="0" y="80456"/>
                  <a:pt x="4256" y="76200"/>
                  <a:pt x="9525" y="76200"/>
                </a:cubicBezTo>
                <a:lnTo>
                  <a:pt x="38933" y="76200"/>
                </a:lnTo>
                <a:cubicBezTo>
                  <a:pt x="39678" y="73104"/>
                  <a:pt x="40868" y="70187"/>
                  <a:pt x="42446" y="67538"/>
                </a:cubicBezTo>
                <a:lnTo>
                  <a:pt x="13335" y="45720"/>
                </a:lnTo>
                <a:cubicBezTo>
                  <a:pt x="9138" y="42565"/>
                  <a:pt x="8275" y="36582"/>
                  <a:pt x="11430" y="32385"/>
                </a:cubicBezTo>
                <a:cubicBezTo>
                  <a:pt x="14585" y="28188"/>
                  <a:pt x="20568" y="27325"/>
                  <a:pt x="24765" y="30480"/>
                </a:cubicBezTo>
                <a:lnTo>
                  <a:pt x="57150" y="54769"/>
                </a:lnTo>
                <a:cubicBezTo>
                  <a:pt x="60811" y="53251"/>
                  <a:pt x="64830" y="52388"/>
                  <a:pt x="69056" y="52388"/>
                </a:cubicBezTo>
                <a:lnTo>
                  <a:pt x="102394" y="52388"/>
                </a:lnTo>
                <a:cubicBezTo>
                  <a:pt x="106620" y="52388"/>
                  <a:pt x="110639" y="53221"/>
                  <a:pt x="114300" y="54769"/>
                </a:cubicBezTo>
                <a:lnTo>
                  <a:pt x="146685" y="30480"/>
                </a:lnTo>
                <a:cubicBezTo>
                  <a:pt x="150882" y="27325"/>
                  <a:pt x="156865" y="28188"/>
                  <a:pt x="160020" y="32385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1149350" y="2482851"/>
            <a:ext cx="471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Nikto v2.5.0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9350" y="2711451"/>
            <a:ext cx="470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server vulnerability scanner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8800" y="3054351"/>
            <a:ext cx="5305425" cy="571500"/>
          </a:xfrm>
          <a:custGeom>
            <a:avLst/>
            <a:gdLst/>
            <a:ahLst/>
            <a:cxnLst/>
            <a:rect l="l" t="t" r="r" b="b"/>
            <a:pathLst>
              <a:path w="5305425" h="571500">
                <a:moveTo>
                  <a:pt x="38100" y="0"/>
                </a:moveTo>
                <a:lnTo>
                  <a:pt x="5229227" y="0"/>
                </a:lnTo>
                <a:cubicBezTo>
                  <a:pt x="5271310" y="0"/>
                  <a:pt x="5305425" y="34115"/>
                  <a:pt x="5305425" y="76198"/>
                </a:cubicBezTo>
                <a:lnTo>
                  <a:pt x="5305425" y="495302"/>
                </a:lnTo>
                <a:cubicBezTo>
                  <a:pt x="5305425" y="537385"/>
                  <a:pt x="5271310" y="571500"/>
                  <a:pt x="5229227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58800" y="3054351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3" name="Shape 21"/>
          <p:cNvSpPr/>
          <p:nvPr/>
        </p:nvSpPr>
        <p:spPr>
          <a:xfrm>
            <a:off x="654050" y="31496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68350" y="32639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76200"/>
                </a:moveTo>
                <a:cubicBezTo>
                  <a:pt x="14288" y="41999"/>
                  <a:pt x="41999" y="14288"/>
                  <a:pt x="76200" y="14288"/>
                </a:cubicBezTo>
                <a:cubicBezTo>
                  <a:pt x="94982" y="14288"/>
                  <a:pt x="111800" y="22652"/>
                  <a:pt x="123170" y="35868"/>
                </a:cubicBezTo>
                <a:cubicBezTo>
                  <a:pt x="125730" y="38874"/>
                  <a:pt x="130254" y="39201"/>
                  <a:pt x="133231" y="36641"/>
                </a:cubicBezTo>
                <a:cubicBezTo>
                  <a:pt x="136208" y="34082"/>
                  <a:pt x="136565" y="29557"/>
                  <a:pt x="134005" y="26581"/>
                </a:cubicBezTo>
                <a:cubicBezTo>
                  <a:pt x="120045" y="10299"/>
                  <a:pt x="99328" y="0"/>
                  <a:pt x="76200" y="0"/>
                </a:cubicBezTo>
                <a:cubicBezTo>
                  <a:pt x="34111" y="0"/>
                  <a:pt x="0" y="34111"/>
                  <a:pt x="0" y="76200"/>
                </a:cubicBezTo>
                <a:lnTo>
                  <a:pt x="0" y="88106"/>
                </a:lnTo>
                <a:cubicBezTo>
                  <a:pt x="0" y="92065"/>
                  <a:pt x="3185" y="95250"/>
                  <a:pt x="7144" y="95250"/>
                </a:cubicBezTo>
                <a:cubicBezTo>
                  <a:pt x="11103" y="95250"/>
                  <a:pt x="14288" y="92065"/>
                  <a:pt x="14288" y="88106"/>
                </a:cubicBezTo>
                <a:lnTo>
                  <a:pt x="14288" y="76200"/>
                </a:lnTo>
                <a:close/>
                <a:moveTo>
                  <a:pt x="150763" y="60454"/>
                </a:moveTo>
                <a:cubicBezTo>
                  <a:pt x="149959" y="56584"/>
                  <a:pt x="146149" y="54114"/>
                  <a:pt x="142309" y="54947"/>
                </a:cubicBezTo>
                <a:cubicBezTo>
                  <a:pt x="138470" y="55781"/>
                  <a:pt x="135969" y="59561"/>
                  <a:pt x="136803" y="63401"/>
                </a:cubicBezTo>
                <a:cubicBezTo>
                  <a:pt x="137666" y="67538"/>
                  <a:pt x="138142" y="71824"/>
                  <a:pt x="138142" y="76230"/>
                </a:cubicBezTo>
                <a:lnTo>
                  <a:pt x="138142" y="88136"/>
                </a:lnTo>
                <a:cubicBezTo>
                  <a:pt x="138142" y="92095"/>
                  <a:pt x="141327" y="95280"/>
                  <a:pt x="145286" y="95280"/>
                </a:cubicBezTo>
                <a:cubicBezTo>
                  <a:pt x="149245" y="95280"/>
                  <a:pt x="152430" y="92095"/>
                  <a:pt x="152430" y="88136"/>
                </a:cubicBezTo>
                <a:lnTo>
                  <a:pt x="152430" y="76230"/>
                </a:lnTo>
                <a:cubicBezTo>
                  <a:pt x="152430" y="70842"/>
                  <a:pt x="151864" y="65574"/>
                  <a:pt x="150793" y="60484"/>
                </a:cubicBezTo>
                <a:close/>
                <a:moveTo>
                  <a:pt x="76200" y="23813"/>
                </a:moveTo>
                <a:cubicBezTo>
                  <a:pt x="70545" y="23813"/>
                  <a:pt x="65068" y="24705"/>
                  <a:pt x="59978" y="26372"/>
                </a:cubicBezTo>
                <a:cubicBezTo>
                  <a:pt x="55453" y="27861"/>
                  <a:pt x="54412" y="33427"/>
                  <a:pt x="57507" y="37058"/>
                </a:cubicBezTo>
                <a:cubicBezTo>
                  <a:pt x="59621" y="39529"/>
                  <a:pt x="63103" y="40273"/>
                  <a:pt x="66258" y="39410"/>
                </a:cubicBezTo>
                <a:cubicBezTo>
                  <a:pt x="69413" y="38546"/>
                  <a:pt x="72747" y="38100"/>
                  <a:pt x="76200" y="38100"/>
                </a:cubicBezTo>
                <a:cubicBezTo>
                  <a:pt x="97244" y="38100"/>
                  <a:pt x="114300" y="55156"/>
                  <a:pt x="114300" y="76200"/>
                </a:cubicBezTo>
                <a:lnTo>
                  <a:pt x="114300" y="83612"/>
                </a:lnTo>
                <a:cubicBezTo>
                  <a:pt x="114300" y="91113"/>
                  <a:pt x="113854" y="98584"/>
                  <a:pt x="112990" y="106025"/>
                </a:cubicBezTo>
                <a:cubicBezTo>
                  <a:pt x="112484" y="110371"/>
                  <a:pt x="115788" y="114300"/>
                  <a:pt x="120194" y="114300"/>
                </a:cubicBezTo>
                <a:cubicBezTo>
                  <a:pt x="123706" y="114300"/>
                  <a:pt x="126712" y="111740"/>
                  <a:pt x="127129" y="108258"/>
                </a:cubicBezTo>
                <a:cubicBezTo>
                  <a:pt x="128111" y="100102"/>
                  <a:pt x="128617" y="91886"/>
                  <a:pt x="128617" y="83641"/>
                </a:cubicBezTo>
                <a:lnTo>
                  <a:pt x="128617" y="76230"/>
                </a:lnTo>
                <a:cubicBezTo>
                  <a:pt x="128617" y="47298"/>
                  <a:pt x="105162" y="23842"/>
                  <a:pt x="76230" y="23842"/>
                </a:cubicBezTo>
                <a:close/>
                <a:moveTo>
                  <a:pt x="44857" y="44261"/>
                </a:moveTo>
                <a:cubicBezTo>
                  <a:pt x="42148" y="41106"/>
                  <a:pt x="37326" y="40868"/>
                  <a:pt x="34766" y="44142"/>
                </a:cubicBezTo>
                <a:cubicBezTo>
                  <a:pt x="27890" y="53013"/>
                  <a:pt x="23812" y="64115"/>
                  <a:pt x="23812" y="76200"/>
                </a:cubicBezTo>
                <a:lnTo>
                  <a:pt x="23812" y="83612"/>
                </a:lnTo>
                <a:cubicBezTo>
                  <a:pt x="23812" y="90815"/>
                  <a:pt x="23039" y="98018"/>
                  <a:pt x="21491" y="105013"/>
                </a:cubicBezTo>
                <a:cubicBezTo>
                  <a:pt x="20479" y="109657"/>
                  <a:pt x="23842" y="114270"/>
                  <a:pt x="28605" y="114270"/>
                </a:cubicBezTo>
                <a:cubicBezTo>
                  <a:pt x="31730" y="114270"/>
                  <a:pt x="34528" y="112187"/>
                  <a:pt x="35213" y="109121"/>
                </a:cubicBezTo>
                <a:cubicBezTo>
                  <a:pt x="37118" y="100757"/>
                  <a:pt x="38100" y="92214"/>
                  <a:pt x="38100" y="83582"/>
                </a:cubicBezTo>
                <a:lnTo>
                  <a:pt x="38100" y="76170"/>
                </a:lnTo>
                <a:cubicBezTo>
                  <a:pt x="38100" y="68074"/>
                  <a:pt x="40630" y="60573"/>
                  <a:pt x="44916" y="54412"/>
                </a:cubicBezTo>
                <a:cubicBezTo>
                  <a:pt x="47059" y="51316"/>
                  <a:pt x="47298" y="47089"/>
                  <a:pt x="44857" y="44232"/>
                </a:cubicBezTo>
                <a:close/>
                <a:moveTo>
                  <a:pt x="76200" y="47625"/>
                </a:moveTo>
                <a:cubicBezTo>
                  <a:pt x="60424" y="47625"/>
                  <a:pt x="47625" y="60424"/>
                  <a:pt x="47625" y="76200"/>
                </a:cubicBezTo>
                <a:lnTo>
                  <a:pt x="47625" y="83612"/>
                </a:lnTo>
                <a:cubicBezTo>
                  <a:pt x="47625" y="94298"/>
                  <a:pt x="46256" y="104894"/>
                  <a:pt x="43517" y="115193"/>
                </a:cubicBezTo>
                <a:cubicBezTo>
                  <a:pt x="42386" y="119449"/>
                  <a:pt x="45512" y="123825"/>
                  <a:pt x="49917" y="123825"/>
                </a:cubicBezTo>
                <a:cubicBezTo>
                  <a:pt x="52745" y="123825"/>
                  <a:pt x="55245" y="121980"/>
                  <a:pt x="55989" y="119241"/>
                </a:cubicBezTo>
                <a:cubicBezTo>
                  <a:pt x="59115" y="107633"/>
                  <a:pt x="60722" y="95667"/>
                  <a:pt x="60722" y="83612"/>
                </a:cubicBezTo>
                <a:lnTo>
                  <a:pt x="60722" y="76200"/>
                </a:lnTo>
                <a:cubicBezTo>
                  <a:pt x="60722" y="67657"/>
                  <a:pt x="67657" y="60722"/>
                  <a:pt x="76200" y="60722"/>
                </a:cubicBezTo>
                <a:cubicBezTo>
                  <a:pt x="84743" y="60722"/>
                  <a:pt x="91678" y="67657"/>
                  <a:pt x="91678" y="76200"/>
                </a:cubicBezTo>
                <a:lnTo>
                  <a:pt x="91678" y="83612"/>
                </a:lnTo>
                <a:cubicBezTo>
                  <a:pt x="91678" y="94417"/>
                  <a:pt x="90636" y="105162"/>
                  <a:pt x="88583" y="115729"/>
                </a:cubicBezTo>
                <a:cubicBezTo>
                  <a:pt x="87779" y="119866"/>
                  <a:pt x="90874" y="123825"/>
                  <a:pt x="95071" y="123825"/>
                </a:cubicBezTo>
                <a:cubicBezTo>
                  <a:pt x="98108" y="123825"/>
                  <a:pt x="100727" y="121741"/>
                  <a:pt x="101322" y="118765"/>
                </a:cubicBezTo>
                <a:cubicBezTo>
                  <a:pt x="103614" y="107216"/>
                  <a:pt x="104775" y="95458"/>
                  <a:pt x="104775" y="83612"/>
                </a:cubicBezTo>
                <a:lnTo>
                  <a:pt x="104775" y="76200"/>
                </a:lnTo>
                <a:cubicBezTo>
                  <a:pt x="104775" y="60424"/>
                  <a:pt x="91976" y="47625"/>
                  <a:pt x="76200" y="47625"/>
                </a:cubicBezTo>
                <a:close/>
                <a:moveTo>
                  <a:pt x="83344" y="76200"/>
                </a:moveTo>
                <a:cubicBezTo>
                  <a:pt x="83344" y="72241"/>
                  <a:pt x="80159" y="69056"/>
                  <a:pt x="76200" y="69056"/>
                </a:cubicBezTo>
                <a:cubicBezTo>
                  <a:pt x="72241" y="69056"/>
                  <a:pt x="69056" y="72241"/>
                  <a:pt x="69056" y="76200"/>
                </a:cubicBezTo>
                <a:lnTo>
                  <a:pt x="69056" y="83612"/>
                </a:lnTo>
                <a:cubicBezTo>
                  <a:pt x="69056" y="101441"/>
                  <a:pt x="65782" y="119122"/>
                  <a:pt x="59382" y="135761"/>
                </a:cubicBezTo>
                <a:lnTo>
                  <a:pt x="57626" y="140315"/>
                </a:lnTo>
                <a:cubicBezTo>
                  <a:pt x="56197" y="144006"/>
                  <a:pt x="58043" y="148144"/>
                  <a:pt x="61734" y="149543"/>
                </a:cubicBezTo>
                <a:cubicBezTo>
                  <a:pt x="65425" y="150941"/>
                  <a:pt x="69562" y="149126"/>
                  <a:pt x="70961" y="145435"/>
                </a:cubicBezTo>
                <a:lnTo>
                  <a:pt x="72717" y="140881"/>
                </a:lnTo>
                <a:cubicBezTo>
                  <a:pt x="79742" y="122605"/>
                  <a:pt x="83344" y="103197"/>
                  <a:pt x="83344" y="83612"/>
                </a:cubicBezTo>
                <a:lnTo>
                  <a:pt x="83344" y="76200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5" name="Text 23"/>
          <p:cNvSpPr/>
          <p:nvPr/>
        </p:nvSpPr>
        <p:spPr>
          <a:xfrm>
            <a:off x="1149350" y="3130551"/>
            <a:ext cx="471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WhatWeb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9350" y="3359151"/>
            <a:ext cx="470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fingerprinting &amp; framework detection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8800" y="3702051"/>
            <a:ext cx="5305425" cy="571500"/>
          </a:xfrm>
          <a:custGeom>
            <a:avLst/>
            <a:gdLst/>
            <a:ahLst/>
            <a:cxnLst/>
            <a:rect l="l" t="t" r="r" b="b"/>
            <a:pathLst>
              <a:path w="5305425" h="571500">
                <a:moveTo>
                  <a:pt x="38100" y="0"/>
                </a:moveTo>
                <a:lnTo>
                  <a:pt x="5229227" y="0"/>
                </a:lnTo>
                <a:cubicBezTo>
                  <a:pt x="5271310" y="0"/>
                  <a:pt x="5305425" y="34115"/>
                  <a:pt x="5305425" y="76198"/>
                </a:cubicBezTo>
                <a:lnTo>
                  <a:pt x="5305425" y="495302"/>
                </a:lnTo>
                <a:cubicBezTo>
                  <a:pt x="5305425" y="537385"/>
                  <a:pt x="5271310" y="571500"/>
                  <a:pt x="5229227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58800" y="3702051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4050" y="37973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68350" y="39116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1" name="Text 29"/>
          <p:cNvSpPr/>
          <p:nvPr/>
        </p:nvSpPr>
        <p:spPr>
          <a:xfrm>
            <a:off x="1149350" y="3778251"/>
            <a:ext cx="471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OWASP ZAP v2.16.1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49350" y="4006851"/>
            <a:ext cx="470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passive web app vulnerability scanner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58800" y="4349751"/>
            <a:ext cx="5305425" cy="571500"/>
          </a:xfrm>
          <a:custGeom>
            <a:avLst/>
            <a:gdLst/>
            <a:ahLst/>
            <a:cxnLst/>
            <a:rect l="l" t="t" r="r" b="b"/>
            <a:pathLst>
              <a:path w="5305425" h="571500">
                <a:moveTo>
                  <a:pt x="38100" y="0"/>
                </a:moveTo>
                <a:lnTo>
                  <a:pt x="5229227" y="0"/>
                </a:lnTo>
                <a:cubicBezTo>
                  <a:pt x="5271310" y="0"/>
                  <a:pt x="5305425" y="34115"/>
                  <a:pt x="5305425" y="76198"/>
                </a:cubicBezTo>
                <a:lnTo>
                  <a:pt x="5305425" y="495302"/>
                </a:lnTo>
                <a:cubicBezTo>
                  <a:pt x="5305425" y="537385"/>
                  <a:pt x="5271310" y="571500"/>
                  <a:pt x="5229227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8800" y="4349751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5" name="Shape 33"/>
          <p:cNvSpPr/>
          <p:nvPr/>
        </p:nvSpPr>
        <p:spPr>
          <a:xfrm>
            <a:off x="654050" y="44450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77875" y="455930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5752" y="36701"/>
                </a:moveTo>
                <a:cubicBezTo>
                  <a:pt x="66050" y="36850"/>
                  <a:pt x="66288" y="37207"/>
                  <a:pt x="66645" y="37207"/>
                </a:cubicBezTo>
                <a:cubicBezTo>
                  <a:pt x="66973" y="37207"/>
                  <a:pt x="67479" y="37088"/>
                  <a:pt x="67508" y="36761"/>
                </a:cubicBezTo>
                <a:cubicBezTo>
                  <a:pt x="67568" y="36344"/>
                  <a:pt x="66943" y="36076"/>
                  <a:pt x="66556" y="35897"/>
                </a:cubicBezTo>
                <a:cubicBezTo>
                  <a:pt x="66050" y="35689"/>
                  <a:pt x="65395" y="35600"/>
                  <a:pt x="64919" y="35868"/>
                </a:cubicBezTo>
                <a:cubicBezTo>
                  <a:pt x="64800" y="35927"/>
                  <a:pt x="64681" y="36076"/>
                  <a:pt x="64740" y="36195"/>
                </a:cubicBezTo>
                <a:cubicBezTo>
                  <a:pt x="64830" y="36582"/>
                  <a:pt x="65425" y="36522"/>
                  <a:pt x="65752" y="36701"/>
                </a:cubicBezTo>
                <a:close/>
                <a:moveTo>
                  <a:pt x="59234" y="37207"/>
                </a:moveTo>
                <a:cubicBezTo>
                  <a:pt x="59591" y="37207"/>
                  <a:pt x="59829" y="36850"/>
                  <a:pt x="60127" y="36701"/>
                </a:cubicBezTo>
                <a:cubicBezTo>
                  <a:pt x="60454" y="36522"/>
                  <a:pt x="61049" y="36582"/>
                  <a:pt x="61168" y="36225"/>
                </a:cubicBezTo>
                <a:cubicBezTo>
                  <a:pt x="61228" y="36106"/>
                  <a:pt x="61109" y="35957"/>
                  <a:pt x="60990" y="35897"/>
                </a:cubicBezTo>
                <a:cubicBezTo>
                  <a:pt x="60514" y="35629"/>
                  <a:pt x="59859" y="35719"/>
                  <a:pt x="59353" y="35927"/>
                </a:cubicBezTo>
                <a:cubicBezTo>
                  <a:pt x="58966" y="36106"/>
                  <a:pt x="58341" y="36374"/>
                  <a:pt x="58400" y="36790"/>
                </a:cubicBezTo>
                <a:cubicBezTo>
                  <a:pt x="58430" y="37088"/>
                  <a:pt x="58936" y="37237"/>
                  <a:pt x="59234" y="37207"/>
                </a:cubicBezTo>
                <a:close/>
                <a:moveTo>
                  <a:pt x="125016" y="120194"/>
                </a:moveTo>
                <a:cubicBezTo>
                  <a:pt x="123944" y="119003"/>
                  <a:pt x="123438" y="116741"/>
                  <a:pt x="122873" y="114330"/>
                </a:cubicBezTo>
                <a:cubicBezTo>
                  <a:pt x="122337" y="111919"/>
                  <a:pt x="121712" y="109329"/>
                  <a:pt x="119747" y="107662"/>
                </a:cubicBezTo>
                <a:cubicBezTo>
                  <a:pt x="119360" y="107335"/>
                  <a:pt x="118973" y="107037"/>
                  <a:pt x="118556" y="106799"/>
                </a:cubicBezTo>
                <a:cubicBezTo>
                  <a:pt x="118170" y="106561"/>
                  <a:pt x="117753" y="106353"/>
                  <a:pt x="117336" y="106204"/>
                </a:cubicBezTo>
                <a:cubicBezTo>
                  <a:pt x="120075" y="98078"/>
                  <a:pt x="119003" y="89981"/>
                  <a:pt x="116235" y="82659"/>
                </a:cubicBezTo>
                <a:cubicBezTo>
                  <a:pt x="112841" y="73700"/>
                  <a:pt x="106918" y="65871"/>
                  <a:pt x="102394" y="60514"/>
                </a:cubicBezTo>
                <a:cubicBezTo>
                  <a:pt x="97304" y="54114"/>
                  <a:pt x="92363" y="48042"/>
                  <a:pt x="92452" y="39082"/>
                </a:cubicBezTo>
                <a:cubicBezTo>
                  <a:pt x="92601" y="25420"/>
                  <a:pt x="93970" y="30"/>
                  <a:pt x="69890" y="0"/>
                </a:cubicBezTo>
                <a:cubicBezTo>
                  <a:pt x="39410" y="-60"/>
                  <a:pt x="47030" y="30778"/>
                  <a:pt x="46702" y="40243"/>
                </a:cubicBezTo>
                <a:cubicBezTo>
                  <a:pt x="46196" y="47208"/>
                  <a:pt x="44797" y="52685"/>
                  <a:pt x="40005" y="59501"/>
                </a:cubicBezTo>
                <a:cubicBezTo>
                  <a:pt x="34379" y="66199"/>
                  <a:pt x="26462" y="77004"/>
                  <a:pt x="22711" y="88285"/>
                </a:cubicBezTo>
                <a:cubicBezTo>
                  <a:pt x="20925" y="93613"/>
                  <a:pt x="20092" y="99030"/>
                  <a:pt x="20866" y="104150"/>
                </a:cubicBezTo>
                <a:cubicBezTo>
                  <a:pt x="18931" y="105876"/>
                  <a:pt x="17472" y="108525"/>
                  <a:pt x="15925" y="110163"/>
                </a:cubicBezTo>
                <a:cubicBezTo>
                  <a:pt x="14674" y="111443"/>
                  <a:pt x="12859" y="111919"/>
                  <a:pt x="10864" y="112633"/>
                </a:cubicBezTo>
                <a:cubicBezTo>
                  <a:pt x="8870" y="113348"/>
                  <a:pt x="6697" y="114419"/>
                  <a:pt x="5358" y="116949"/>
                </a:cubicBezTo>
                <a:cubicBezTo>
                  <a:pt x="4733" y="118110"/>
                  <a:pt x="4524" y="119360"/>
                  <a:pt x="4524" y="120640"/>
                </a:cubicBezTo>
                <a:cubicBezTo>
                  <a:pt x="4524" y="121801"/>
                  <a:pt x="4703" y="122992"/>
                  <a:pt x="4882" y="124152"/>
                </a:cubicBezTo>
                <a:cubicBezTo>
                  <a:pt x="5239" y="126563"/>
                  <a:pt x="5626" y="128826"/>
                  <a:pt x="5120" y="130344"/>
                </a:cubicBezTo>
                <a:cubicBezTo>
                  <a:pt x="3572" y="134630"/>
                  <a:pt x="3364" y="137606"/>
                  <a:pt x="4465" y="139779"/>
                </a:cubicBezTo>
                <a:cubicBezTo>
                  <a:pt x="5596" y="141952"/>
                  <a:pt x="7858" y="142905"/>
                  <a:pt x="10448" y="143441"/>
                </a:cubicBezTo>
                <a:cubicBezTo>
                  <a:pt x="15597" y="144512"/>
                  <a:pt x="22592" y="144244"/>
                  <a:pt x="28099" y="147161"/>
                </a:cubicBezTo>
                <a:cubicBezTo>
                  <a:pt x="33992" y="150257"/>
                  <a:pt x="39975" y="151358"/>
                  <a:pt x="44738" y="150257"/>
                </a:cubicBezTo>
                <a:cubicBezTo>
                  <a:pt x="48191" y="149483"/>
                  <a:pt x="51018" y="147399"/>
                  <a:pt x="52447" y="144244"/>
                </a:cubicBezTo>
                <a:cubicBezTo>
                  <a:pt x="56168" y="144214"/>
                  <a:pt x="60275" y="142637"/>
                  <a:pt x="66824" y="142280"/>
                </a:cubicBezTo>
                <a:cubicBezTo>
                  <a:pt x="71259" y="141923"/>
                  <a:pt x="76825" y="143857"/>
                  <a:pt x="83225" y="143500"/>
                </a:cubicBezTo>
                <a:cubicBezTo>
                  <a:pt x="83403" y="144185"/>
                  <a:pt x="83641" y="144869"/>
                  <a:pt x="83969" y="145494"/>
                </a:cubicBezTo>
                <a:lnTo>
                  <a:pt x="83969" y="145524"/>
                </a:lnTo>
                <a:cubicBezTo>
                  <a:pt x="86439" y="150495"/>
                  <a:pt x="91053" y="152757"/>
                  <a:pt x="95964" y="152370"/>
                </a:cubicBezTo>
                <a:cubicBezTo>
                  <a:pt x="100905" y="151983"/>
                  <a:pt x="106114" y="149096"/>
                  <a:pt x="110341" y="144066"/>
                </a:cubicBezTo>
                <a:cubicBezTo>
                  <a:pt x="114389" y="139184"/>
                  <a:pt x="121057" y="137160"/>
                  <a:pt x="125492" y="134481"/>
                </a:cubicBezTo>
                <a:cubicBezTo>
                  <a:pt x="127695" y="133142"/>
                  <a:pt x="129480" y="131475"/>
                  <a:pt x="129629" y="129034"/>
                </a:cubicBezTo>
                <a:cubicBezTo>
                  <a:pt x="129748" y="126593"/>
                  <a:pt x="128320" y="123885"/>
                  <a:pt x="125016" y="120194"/>
                </a:cubicBezTo>
                <a:close/>
                <a:moveTo>
                  <a:pt x="66615" y="25985"/>
                </a:moveTo>
                <a:cubicBezTo>
                  <a:pt x="69533" y="19377"/>
                  <a:pt x="76795" y="19496"/>
                  <a:pt x="79712" y="25866"/>
                </a:cubicBezTo>
                <a:cubicBezTo>
                  <a:pt x="81647" y="30093"/>
                  <a:pt x="80784" y="35064"/>
                  <a:pt x="78432" y="37892"/>
                </a:cubicBezTo>
                <a:cubicBezTo>
                  <a:pt x="77956" y="37654"/>
                  <a:pt x="76676" y="37118"/>
                  <a:pt x="74682" y="36433"/>
                </a:cubicBezTo>
                <a:cubicBezTo>
                  <a:pt x="75009" y="36076"/>
                  <a:pt x="75605" y="35629"/>
                  <a:pt x="75843" y="35064"/>
                </a:cubicBezTo>
                <a:cubicBezTo>
                  <a:pt x="77272" y="31552"/>
                  <a:pt x="75783" y="27027"/>
                  <a:pt x="73134" y="26938"/>
                </a:cubicBezTo>
                <a:cubicBezTo>
                  <a:pt x="70961" y="26789"/>
                  <a:pt x="68997" y="30153"/>
                  <a:pt x="69622" y="33784"/>
                </a:cubicBezTo>
                <a:cubicBezTo>
                  <a:pt x="68401" y="33189"/>
                  <a:pt x="66824" y="32742"/>
                  <a:pt x="65752" y="32474"/>
                </a:cubicBezTo>
                <a:cubicBezTo>
                  <a:pt x="65455" y="30420"/>
                  <a:pt x="65663" y="28129"/>
                  <a:pt x="66615" y="25985"/>
                </a:cubicBezTo>
                <a:close/>
                <a:moveTo>
                  <a:pt x="54501" y="22562"/>
                </a:moveTo>
                <a:cubicBezTo>
                  <a:pt x="57507" y="22562"/>
                  <a:pt x="60692" y="26789"/>
                  <a:pt x="60186" y="32534"/>
                </a:cubicBezTo>
                <a:cubicBezTo>
                  <a:pt x="59144" y="32831"/>
                  <a:pt x="58073" y="33278"/>
                  <a:pt x="57150" y="33903"/>
                </a:cubicBezTo>
                <a:cubicBezTo>
                  <a:pt x="57507" y="31254"/>
                  <a:pt x="56168" y="27920"/>
                  <a:pt x="54293" y="28069"/>
                </a:cubicBezTo>
                <a:cubicBezTo>
                  <a:pt x="51792" y="28277"/>
                  <a:pt x="51375" y="34379"/>
                  <a:pt x="53757" y="36433"/>
                </a:cubicBezTo>
                <a:cubicBezTo>
                  <a:pt x="54054" y="36671"/>
                  <a:pt x="54322" y="36374"/>
                  <a:pt x="52001" y="38070"/>
                </a:cubicBezTo>
                <a:cubicBezTo>
                  <a:pt x="47357" y="33724"/>
                  <a:pt x="48875" y="22562"/>
                  <a:pt x="54501" y="22562"/>
                </a:cubicBezTo>
                <a:close/>
                <a:moveTo>
                  <a:pt x="50453" y="40630"/>
                </a:moveTo>
                <a:cubicBezTo>
                  <a:pt x="52298" y="39261"/>
                  <a:pt x="54501" y="37654"/>
                  <a:pt x="54650" y="37505"/>
                </a:cubicBezTo>
                <a:cubicBezTo>
                  <a:pt x="56049" y="36195"/>
                  <a:pt x="58668" y="33278"/>
                  <a:pt x="62954" y="33278"/>
                </a:cubicBezTo>
                <a:cubicBezTo>
                  <a:pt x="65068" y="33278"/>
                  <a:pt x="67598" y="33963"/>
                  <a:pt x="70664" y="35927"/>
                </a:cubicBezTo>
                <a:cubicBezTo>
                  <a:pt x="72539" y="37148"/>
                  <a:pt x="74027" y="37237"/>
                  <a:pt x="77391" y="38695"/>
                </a:cubicBezTo>
                <a:cubicBezTo>
                  <a:pt x="79891" y="39737"/>
                  <a:pt x="81469" y="41583"/>
                  <a:pt x="80516" y="44113"/>
                </a:cubicBezTo>
                <a:cubicBezTo>
                  <a:pt x="79742" y="46226"/>
                  <a:pt x="77242" y="48399"/>
                  <a:pt x="73759" y="49500"/>
                </a:cubicBezTo>
                <a:cubicBezTo>
                  <a:pt x="70455" y="50572"/>
                  <a:pt x="67866" y="54263"/>
                  <a:pt x="62389" y="53935"/>
                </a:cubicBezTo>
                <a:cubicBezTo>
                  <a:pt x="61228" y="53876"/>
                  <a:pt x="60305" y="53638"/>
                  <a:pt x="59531" y="53310"/>
                </a:cubicBezTo>
                <a:cubicBezTo>
                  <a:pt x="57150" y="52268"/>
                  <a:pt x="55900" y="50215"/>
                  <a:pt x="53578" y="48845"/>
                </a:cubicBezTo>
                <a:cubicBezTo>
                  <a:pt x="51018" y="47417"/>
                  <a:pt x="49649" y="45750"/>
                  <a:pt x="49203" y="44291"/>
                </a:cubicBezTo>
                <a:cubicBezTo>
                  <a:pt x="48786" y="42833"/>
                  <a:pt x="49203" y="41612"/>
                  <a:pt x="50453" y="40630"/>
                </a:cubicBezTo>
                <a:close/>
                <a:moveTo>
                  <a:pt x="51435" y="140047"/>
                </a:moveTo>
                <a:cubicBezTo>
                  <a:pt x="50631" y="150495"/>
                  <a:pt x="38368" y="150287"/>
                  <a:pt x="29021" y="145405"/>
                </a:cubicBezTo>
                <a:cubicBezTo>
                  <a:pt x="20122" y="140702"/>
                  <a:pt x="8602" y="143470"/>
                  <a:pt x="6251" y="138886"/>
                </a:cubicBezTo>
                <a:cubicBezTo>
                  <a:pt x="5536" y="137487"/>
                  <a:pt x="5536" y="135106"/>
                  <a:pt x="7025" y="131028"/>
                </a:cubicBezTo>
                <a:lnTo>
                  <a:pt x="7025" y="130969"/>
                </a:lnTo>
                <a:cubicBezTo>
                  <a:pt x="7739" y="128707"/>
                  <a:pt x="7203" y="126206"/>
                  <a:pt x="6846" y="123855"/>
                </a:cubicBezTo>
                <a:cubicBezTo>
                  <a:pt x="6489" y="121533"/>
                  <a:pt x="6310" y="119390"/>
                  <a:pt x="7114" y="117902"/>
                </a:cubicBezTo>
                <a:cubicBezTo>
                  <a:pt x="8156" y="115907"/>
                  <a:pt x="9644" y="115193"/>
                  <a:pt x="11519" y="114538"/>
                </a:cubicBezTo>
                <a:cubicBezTo>
                  <a:pt x="14585" y="113437"/>
                  <a:pt x="15032" y="113526"/>
                  <a:pt x="17353" y="111591"/>
                </a:cubicBezTo>
                <a:cubicBezTo>
                  <a:pt x="18990" y="109895"/>
                  <a:pt x="20181" y="107752"/>
                  <a:pt x="21610" y="106234"/>
                </a:cubicBezTo>
                <a:cubicBezTo>
                  <a:pt x="23128" y="104596"/>
                  <a:pt x="24586" y="103823"/>
                  <a:pt x="26878" y="104180"/>
                </a:cubicBezTo>
                <a:cubicBezTo>
                  <a:pt x="29289" y="104537"/>
                  <a:pt x="31373" y="106204"/>
                  <a:pt x="33397" y="108942"/>
                </a:cubicBezTo>
                <a:lnTo>
                  <a:pt x="39231" y="119539"/>
                </a:lnTo>
                <a:cubicBezTo>
                  <a:pt x="42059" y="125462"/>
                  <a:pt x="52060" y="133945"/>
                  <a:pt x="51435" y="140047"/>
                </a:cubicBezTo>
                <a:close/>
                <a:moveTo>
                  <a:pt x="51018" y="132338"/>
                </a:moveTo>
                <a:cubicBezTo>
                  <a:pt x="49798" y="130373"/>
                  <a:pt x="48161" y="128290"/>
                  <a:pt x="46732" y="126504"/>
                </a:cubicBezTo>
                <a:cubicBezTo>
                  <a:pt x="48845" y="126504"/>
                  <a:pt x="50959" y="125849"/>
                  <a:pt x="51703" y="123855"/>
                </a:cubicBezTo>
                <a:cubicBezTo>
                  <a:pt x="52388" y="122009"/>
                  <a:pt x="51703" y="119420"/>
                  <a:pt x="49500" y="116443"/>
                </a:cubicBezTo>
                <a:cubicBezTo>
                  <a:pt x="45482" y="111026"/>
                  <a:pt x="38100" y="106769"/>
                  <a:pt x="38100" y="106769"/>
                </a:cubicBezTo>
                <a:cubicBezTo>
                  <a:pt x="34082" y="104269"/>
                  <a:pt x="31819" y="101203"/>
                  <a:pt x="30778" y="97869"/>
                </a:cubicBezTo>
                <a:cubicBezTo>
                  <a:pt x="29736" y="94536"/>
                  <a:pt x="29885" y="90934"/>
                  <a:pt x="30688" y="87392"/>
                </a:cubicBezTo>
                <a:cubicBezTo>
                  <a:pt x="32236" y="80576"/>
                  <a:pt x="36225" y="73938"/>
                  <a:pt x="38785" y="69771"/>
                </a:cubicBezTo>
                <a:cubicBezTo>
                  <a:pt x="39469" y="69265"/>
                  <a:pt x="39023" y="70723"/>
                  <a:pt x="36195" y="75962"/>
                </a:cubicBezTo>
                <a:cubicBezTo>
                  <a:pt x="33665" y="80754"/>
                  <a:pt x="28932" y="91827"/>
                  <a:pt x="35421" y="100489"/>
                </a:cubicBezTo>
                <a:cubicBezTo>
                  <a:pt x="35600" y="94327"/>
                  <a:pt x="37058" y="88047"/>
                  <a:pt x="39529" y="82183"/>
                </a:cubicBezTo>
                <a:cubicBezTo>
                  <a:pt x="43101" y="74027"/>
                  <a:pt x="50631" y="59888"/>
                  <a:pt x="51227" y="48637"/>
                </a:cubicBezTo>
                <a:cubicBezTo>
                  <a:pt x="51554" y="48875"/>
                  <a:pt x="52596" y="49590"/>
                  <a:pt x="53072" y="49857"/>
                </a:cubicBezTo>
                <a:cubicBezTo>
                  <a:pt x="54441" y="50661"/>
                  <a:pt x="55483" y="51852"/>
                  <a:pt x="56823" y="52923"/>
                </a:cubicBezTo>
                <a:cubicBezTo>
                  <a:pt x="60514" y="55900"/>
                  <a:pt x="65306" y="55662"/>
                  <a:pt x="69443" y="53280"/>
                </a:cubicBezTo>
                <a:cubicBezTo>
                  <a:pt x="71289" y="52239"/>
                  <a:pt x="72777" y="51048"/>
                  <a:pt x="74176" y="50602"/>
                </a:cubicBezTo>
                <a:cubicBezTo>
                  <a:pt x="77123" y="49679"/>
                  <a:pt x="79474" y="48042"/>
                  <a:pt x="80814" y="46137"/>
                </a:cubicBezTo>
                <a:cubicBezTo>
                  <a:pt x="83106" y="55185"/>
                  <a:pt x="88463" y="68253"/>
                  <a:pt x="91886" y="74622"/>
                </a:cubicBezTo>
                <a:cubicBezTo>
                  <a:pt x="93702" y="78016"/>
                  <a:pt x="97334" y="85189"/>
                  <a:pt x="98911" y="93851"/>
                </a:cubicBezTo>
                <a:cubicBezTo>
                  <a:pt x="99893" y="93821"/>
                  <a:pt x="100995" y="93970"/>
                  <a:pt x="102156" y="94268"/>
                </a:cubicBezTo>
                <a:cubicBezTo>
                  <a:pt x="106263" y="83641"/>
                  <a:pt x="98673" y="72182"/>
                  <a:pt x="95220" y="68997"/>
                </a:cubicBezTo>
                <a:cubicBezTo>
                  <a:pt x="93821" y="67628"/>
                  <a:pt x="93762" y="67032"/>
                  <a:pt x="94446" y="67062"/>
                </a:cubicBezTo>
                <a:cubicBezTo>
                  <a:pt x="98197" y="70396"/>
                  <a:pt x="103138" y="77093"/>
                  <a:pt x="104924" y="84624"/>
                </a:cubicBezTo>
                <a:cubicBezTo>
                  <a:pt x="105757" y="88076"/>
                  <a:pt x="105906" y="91678"/>
                  <a:pt x="105043" y="95250"/>
                </a:cubicBezTo>
                <a:cubicBezTo>
                  <a:pt x="109924" y="97274"/>
                  <a:pt x="115729" y="100578"/>
                  <a:pt x="114181" y="105608"/>
                </a:cubicBezTo>
                <a:cubicBezTo>
                  <a:pt x="113526" y="105579"/>
                  <a:pt x="113228" y="105608"/>
                  <a:pt x="112931" y="105608"/>
                </a:cubicBezTo>
                <a:cubicBezTo>
                  <a:pt x="113883" y="102602"/>
                  <a:pt x="111770" y="100370"/>
                  <a:pt x="106144" y="97840"/>
                </a:cubicBezTo>
                <a:cubicBezTo>
                  <a:pt x="100310" y="95280"/>
                  <a:pt x="95429" y="95280"/>
                  <a:pt x="94744" y="101560"/>
                </a:cubicBezTo>
                <a:cubicBezTo>
                  <a:pt x="91142" y="102810"/>
                  <a:pt x="89297" y="105936"/>
                  <a:pt x="88374" y="109686"/>
                </a:cubicBezTo>
                <a:cubicBezTo>
                  <a:pt x="87541" y="113020"/>
                  <a:pt x="87303" y="117038"/>
                  <a:pt x="87064" y="121563"/>
                </a:cubicBezTo>
                <a:cubicBezTo>
                  <a:pt x="86916" y="123855"/>
                  <a:pt x="85993" y="126921"/>
                  <a:pt x="85040" y="130195"/>
                </a:cubicBezTo>
                <a:cubicBezTo>
                  <a:pt x="75486" y="137011"/>
                  <a:pt x="62210" y="139988"/>
                  <a:pt x="51018" y="132338"/>
                </a:cubicBezTo>
                <a:close/>
                <a:moveTo>
                  <a:pt x="127635" y="128915"/>
                </a:moveTo>
                <a:cubicBezTo>
                  <a:pt x="127367" y="133916"/>
                  <a:pt x="115372" y="134838"/>
                  <a:pt x="108823" y="142756"/>
                </a:cubicBezTo>
                <a:cubicBezTo>
                  <a:pt x="104894" y="147429"/>
                  <a:pt x="100072" y="150019"/>
                  <a:pt x="95845" y="150346"/>
                </a:cubicBezTo>
                <a:cubicBezTo>
                  <a:pt x="91619" y="150674"/>
                  <a:pt x="87957" y="148917"/>
                  <a:pt x="85814" y="144601"/>
                </a:cubicBezTo>
                <a:cubicBezTo>
                  <a:pt x="84415" y="141297"/>
                  <a:pt x="85100" y="137726"/>
                  <a:pt x="86142" y="133796"/>
                </a:cubicBezTo>
                <a:cubicBezTo>
                  <a:pt x="87243" y="129570"/>
                  <a:pt x="88880" y="125224"/>
                  <a:pt x="89089" y="121712"/>
                </a:cubicBezTo>
                <a:cubicBezTo>
                  <a:pt x="89327" y="117187"/>
                  <a:pt x="89595" y="113228"/>
                  <a:pt x="90339" y="110192"/>
                </a:cubicBezTo>
                <a:cubicBezTo>
                  <a:pt x="91113" y="107126"/>
                  <a:pt x="92303" y="105073"/>
                  <a:pt x="94417" y="103912"/>
                </a:cubicBezTo>
                <a:cubicBezTo>
                  <a:pt x="94506" y="103852"/>
                  <a:pt x="94625" y="103822"/>
                  <a:pt x="94714" y="103763"/>
                </a:cubicBezTo>
                <a:cubicBezTo>
                  <a:pt x="94952" y="107692"/>
                  <a:pt x="96887" y="111681"/>
                  <a:pt x="100310" y="112544"/>
                </a:cubicBezTo>
                <a:cubicBezTo>
                  <a:pt x="104061" y="113526"/>
                  <a:pt x="109448" y="110311"/>
                  <a:pt x="111740" y="107692"/>
                </a:cubicBezTo>
                <a:cubicBezTo>
                  <a:pt x="114419" y="107603"/>
                  <a:pt x="116413" y="107424"/>
                  <a:pt x="118467" y="109210"/>
                </a:cubicBezTo>
                <a:cubicBezTo>
                  <a:pt x="121414" y="111740"/>
                  <a:pt x="120581" y="118229"/>
                  <a:pt x="123557" y="121593"/>
                </a:cubicBezTo>
                <a:cubicBezTo>
                  <a:pt x="126712" y="125045"/>
                  <a:pt x="127724" y="127397"/>
                  <a:pt x="127635" y="128915"/>
                </a:cubicBezTo>
                <a:close/>
                <a:moveTo>
                  <a:pt x="51614" y="44261"/>
                </a:moveTo>
                <a:cubicBezTo>
                  <a:pt x="52209" y="44827"/>
                  <a:pt x="53013" y="45601"/>
                  <a:pt x="53995" y="46375"/>
                </a:cubicBezTo>
                <a:cubicBezTo>
                  <a:pt x="55959" y="47923"/>
                  <a:pt x="58698" y="49530"/>
                  <a:pt x="62121" y="49530"/>
                </a:cubicBezTo>
                <a:cubicBezTo>
                  <a:pt x="65574" y="49530"/>
                  <a:pt x="68818" y="47774"/>
                  <a:pt x="71586" y="46315"/>
                </a:cubicBezTo>
                <a:cubicBezTo>
                  <a:pt x="73045" y="45541"/>
                  <a:pt x="74831" y="44232"/>
                  <a:pt x="75992" y="43220"/>
                </a:cubicBezTo>
                <a:cubicBezTo>
                  <a:pt x="77153" y="42208"/>
                  <a:pt x="77748" y="41344"/>
                  <a:pt x="76914" y="41255"/>
                </a:cubicBezTo>
                <a:cubicBezTo>
                  <a:pt x="76081" y="41166"/>
                  <a:pt x="76140" y="42029"/>
                  <a:pt x="75128" y="42773"/>
                </a:cubicBezTo>
                <a:cubicBezTo>
                  <a:pt x="73819" y="43726"/>
                  <a:pt x="72241" y="44976"/>
                  <a:pt x="70991" y="45690"/>
                </a:cubicBezTo>
                <a:cubicBezTo>
                  <a:pt x="68788" y="46940"/>
                  <a:pt x="65187" y="48726"/>
                  <a:pt x="62091" y="48726"/>
                </a:cubicBezTo>
                <a:cubicBezTo>
                  <a:pt x="58995" y="48726"/>
                  <a:pt x="56525" y="47298"/>
                  <a:pt x="54679" y="45839"/>
                </a:cubicBezTo>
                <a:cubicBezTo>
                  <a:pt x="53757" y="45095"/>
                  <a:pt x="52983" y="44351"/>
                  <a:pt x="52388" y="43785"/>
                </a:cubicBezTo>
                <a:cubicBezTo>
                  <a:pt x="51941" y="43369"/>
                  <a:pt x="51822" y="42416"/>
                  <a:pt x="51108" y="42327"/>
                </a:cubicBezTo>
                <a:cubicBezTo>
                  <a:pt x="50691" y="42297"/>
                  <a:pt x="50572" y="43428"/>
                  <a:pt x="51614" y="44261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7" name="Text 35"/>
          <p:cNvSpPr/>
          <p:nvPr/>
        </p:nvSpPr>
        <p:spPr>
          <a:xfrm>
            <a:off x="1149350" y="4425951"/>
            <a:ext cx="471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Kali Linux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49350" y="4654551"/>
            <a:ext cx="470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Operating system for security assessments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58800" y="4997451"/>
            <a:ext cx="5305425" cy="571500"/>
          </a:xfrm>
          <a:custGeom>
            <a:avLst/>
            <a:gdLst/>
            <a:ahLst/>
            <a:cxnLst/>
            <a:rect l="l" t="t" r="r" b="b"/>
            <a:pathLst>
              <a:path w="5305425" h="571500">
                <a:moveTo>
                  <a:pt x="38100" y="0"/>
                </a:moveTo>
                <a:lnTo>
                  <a:pt x="5229227" y="0"/>
                </a:lnTo>
                <a:cubicBezTo>
                  <a:pt x="5271310" y="0"/>
                  <a:pt x="5305425" y="34115"/>
                  <a:pt x="5305425" y="76198"/>
                </a:cubicBezTo>
                <a:lnTo>
                  <a:pt x="5305425" y="495302"/>
                </a:lnTo>
                <a:cubicBezTo>
                  <a:pt x="5305425" y="537385"/>
                  <a:pt x="5271310" y="571500"/>
                  <a:pt x="5229227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8800" y="4997451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1" name="Shape 39"/>
          <p:cNvSpPr/>
          <p:nvPr/>
        </p:nvSpPr>
        <p:spPr>
          <a:xfrm>
            <a:off x="654050" y="50927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68350" y="52070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870" y="71884"/>
                </a:moveTo>
                <a:cubicBezTo>
                  <a:pt x="149840" y="71408"/>
                  <a:pt x="149810" y="70961"/>
                  <a:pt x="149810" y="70485"/>
                </a:cubicBezTo>
                <a:lnTo>
                  <a:pt x="149810" y="70455"/>
                </a:lnTo>
                <a:lnTo>
                  <a:pt x="149691" y="69056"/>
                </a:lnTo>
                <a:lnTo>
                  <a:pt x="149691" y="69026"/>
                </a:lnTo>
                <a:cubicBezTo>
                  <a:pt x="149304" y="64889"/>
                  <a:pt x="148590" y="60781"/>
                  <a:pt x="147518" y="56763"/>
                </a:cubicBezTo>
                <a:cubicBezTo>
                  <a:pt x="147518" y="56733"/>
                  <a:pt x="147518" y="56733"/>
                  <a:pt x="147489" y="56704"/>
                </a:cubicBezTo>
                <a:lnTo>
                  <a:pt x="147161" y="55513"/>
                </a:lnTo>
                <a:cubicBezTo>
                  <a:pt x="147131" y="55453"/>
                  <a:pt x="147131" y="55364"/>
                  <a:pt x="147102" y="55334"/>
                </a:cubicBezTo>
                <a:cubicBezTo>
                  <a:pt x="146983" y="54977"/>
                  <a:pt x="146893" y="54590"/>
                  <a:pt x="146774" y="54233"/>
                </a:cubicBezTo>
                <a:cubicBezTo>
                  <a:pt x="146745" y="54173"/>
                  <a:pt x="146745" y="54054"/>
                  <a:pt x="146715" y="53995"/>
                </a:cubicBezTo>
                <a:cubicBezTo>
                  <a:pt x="146596" y="53638"/>
                  <a:pt x="146506" y="53280"/>
                  <a:pt x="146387" y="52953"/>
                </a:cubicBezTo>
                <a:cubicBezTo>
                  <a:pt x="146358" y="52834"/>
                  <a:pt x="146328" y="52774"/>
                  <a:pt x="146268" y="52655"/>
                </a:cubicBezTo>
                <a:cubicBezTo>
                  <a:pt x="146149" y="52298"/>
                  <a:pt x="146060" y="51971"/>
                  <a:pt x="145911" y="51614"/>
                </a:cubicBezTo>
                <a:lnTo>
                  <a:pt x="145792" y="51286"/>
                </a:lnTo>
                <a:cubicBezTo>
                  <a:pt x="145673" y="50959"/>
                  <a:pt x="145554" y="50602"/>
                  <a:pt x="145435" y="50274"/>
                </a:cubicBezTo>
                <a:cubicBezTo>
                  <a:pt x="145405" y="50185"/>
                  <a:pt x="145375" y="50066"/>
                  <a:pt x="145316" y="49976"/>
                </a:cubicBezTo>
                <a:cubicBezTo>
                  <a:pt x="145167" y="49649"/>
                  <a:pt x="145078" y="49292"/>
                  <a:pt x="144929" y="48964"/>
                </a:cubicBezTo>
                <a:cubicBezTo>
                  <a:pt x="144899" y="48905"/>
                  <a:pt x="144869" y="48786"/>
                  <a:pt x="144810" y="48726"/>
                </a:cubicBezTo>
                <a:cubicBezTo>
                  <a:pt x="144661" y="48369"/>
                  <a:pt x="144512" y="48042"/>
                  <a:pt x="144393" y="47685"/>
                </a:cubicBezTo>
                <a:cubicBezTo>
                  <a:pt x="144393" y="47655"/>
                  <a:pt x="144363" y="47625"/>
                  <a:pt x="144363" y="47565"/>
                </a:cubicBezTo>
                <a:cubicBezTo>
                  <a:pt x="143887" y="46434"/>
                  <a:pt x="143411" y="45274"/>
                  <a:pt x="142875" y="44172"/>
                </a:cubicBezTo>
                <a:lnTo>
                  <a:pt x="142756" y="43964"/>
                </a:lnTo>
                <a:cubicBezTo>
                  <a:pt x="142607" y="43666"/>
                  <a:pt x="142518" y="43428"/>
                  <a:pt x="142369" y="43190"/>
                </a:cubicBezTo>
                <a:cubicBezTo>
                  <a:pt x="142309" y="43041"/>
                  <a:pt x="142220" y="42863"/>
                  <a:pt x="142161" y="42714"/>
                </a:cubicBezTo>
                <a:cubicBezTo>
                  <a:pt x="142042" y="42476"/>
                  <a:pt x="141923" y="42237"/>
                  <a:pt x="141803" y="41999"/>
                </a:cubicBezTo>
                <a:cubicBezTo>
                  <a:pt x="141684" y="41821"/>
                  <a:pt x="141625" y="41642"/>
                  <a:pt x="141506" y="41464"/>
                </a:cubicBezTo>
                <a:cubicBezTo>
                  <a:pt x="141387" y="41285"/>
                  <a:pt x="141268" y="41047"/>
                  <a:pt x="141149" y="40779"/>
                </a:cubicBezTo>
                <a:cubicBezTo>
                  <a:pt x="141030" y="40600"/>
                  <a:pt x="140940" y="40392"/>
                  <a:pt x="140821" y="40213"/>
                </a:cubicBezTo>
                <a:cubicBezTo>
                  <a:pt x="140702" y="40035"/>
                  <a:pt x="140583" y="39797"/>
                  <a:pt x="140464" y="39559"/>
                </a:cubicBezTo>
                <a:cubicBezTo>
                  <a:pt x="140345" y="39350"/>
                  <a:pt x="140226" y="39142"/>
                  <a:pt x="140107" y="38963"/>
                </a:cubicBezTo>
                <a:cubicBezTo>
                  <a:pt x="139988" y="38755"/>
                  <a:pt x="139869" y="38576"/>
                  <a:pt x="139750" y="38368"/>
                </a:cubicBezTo>
                <a:cubicBezTo>
                  <a:pt x="139631" y="38160"/>
                  <a:pt x="139511" y="37981"/>
                  <a:pt x="139392" y="37773"/>
                </a:cubicBezTo>
                <a:cubicBezTo>
                  <a:pt x="139273" y="37564"/>
                  <a:pt x="139154" y="37386"/>
                  <a:pt x="139035" y="37207"/>
                </a:cubicBezTo>
                <a:cubicBezTo>
                  <a:pt x="138916" y="37028"/>
                  <a:pt x="138797" y="36790"/>
                  <a:pt x="138648" y="36552"/>
                </a:cubicBezTo>
                <a:cubicBezTo>
                  <a:pt x="138529" y="36374"/>
                  <a:pt x="138410" y="36195"/>
                  <a:pt x="138291" y="36016"/>
                </a:cubicBezTo>
                <a:lnTo>
                  <a:pt x="137874" y="35391"/>
                </a:lnTo>
                <a:cubicBezTo>
                  <a:pt x="137755" y="35213"/>
                  <a:pt x="137636" y="35034"/>
                  <a:pt x="137517" y="34856"/>
                </a:cubicBezTo>
                <a:cubicBezTo>
                  <a:pt x="137368" y="34647"/>
                  <a:pt x="137190" y="34379"/>
                  <a:pt x="137041" y="34171"/>
                </a:cubicBezTo>
                <a:cubicBezTo>
                  <a:pt x="136922" y="34022"/>
                  <a:pt x="136833" y="33844"/>
                  <a:pt x="136714" y="33695"/>
                </a:cubicBezTo>
                <a:lnTo>
                  <a:pt x="136178" y="32951"/>
                </a:lnTo>
                <a:cubicBezTo>
                  <a:pt x="136059" y="32802"/>
                  <a:pt x="135999" y="32712"/>
                  <a:pt x="135880" y="32564"/>
                </a:cubicBezTo>
                <a:cubicBezTo>
                  <a:pt x="135582" y="32177"/>
                  <a:pt x="135344" y="31819"/>
                  <a:pt x="135047" y="31462"/>
                </a:cubicBezTo>
                <a:cubicBezTo>
                  <a:pt x="132904" y="28664"/>
                  <a:pt x="130582" y="26015"/>
                  <a:pt x="128052" y="23545"/>
                </a:cubicBezTo>
                <a:cubicBezTo>
                  <a:pt x="126355" y="21759"/>
                  <a:pt x="124539" y="20122"/>
                  <a:pt x="122605" y="18574"/>
                </a:cubicBezTo>
                <a:cubicBezTo>
                  <a:pt x="121414" y="17532"/>
                  <a:pt x="120164" y="16579"/>
                  <a:pt x="118884" y="15657"/>
                </a:cubicBezTo>
                <a:cubicBezTo>
                  <a:pt x="116592" y="13930"/>
                  <a:pt x="114121" y="12442"/>
                  <a:pt x="111562" y="11162"/>
                </a:cubicBezTo>
                <a:cubicBezTo>
                  <a:pt x="110847" y="10775"/>
                  <a:pt x="110133" y="10418"/>
                  <a:pt x="109418" y="10061"/>
                </a:cubicBezTo>
                <a:cubicBezTo>
                  <a:pt x="104150" y="7501"/>
                  <a:pt x="98614" y="5536"/>
                  <a:pt x="92928" y="4227"/>
                </a:cubicBezTo>
                <a:cubicBezTo>
                  <a:pt x="92363" y="4108"/>
                  <a:pt x="91797" y="3989"/>
                  <a:pt x="91261" y="3870"/>
                </a:cubicBezTo>
                <a:lnTo>
                  <a:pt x="91232" y="3870"/>
                </a:lnTo>
                <a:cubicBezTo>
                  <a:pt x="90934" y="3840"/>
                  <a:pt x="90696" y="3750"/>
                  <a:pt x="90398" y="3721"/>
                </a:cubicBezTo>
                <a:cubicBezTo>
                  <a:pt x="86678" y="3006"/>
                  <a:pt x="82897" y="2619"/>
                  <a:pt x="79087" y="2530"/>
                </a:cubicBezTo>
                <a:lnTo>
                  <a:pt x="75932" y="2530"/>
                </a:lnTo>
                <a:cubicBezTo>
                  <a:pt x="71378" y="2590"/>
                  <a:pt x="66854" y="3096"/>
                  <a:pt x="62389" y="4018"/>
                </a:cubicBezTo>
                <a:cubicBezTo>
                  <a:pt x="52388" y="6132"/>
                  <a:pt x="43577" y="10329"/>
                  <a:pt x="37713" y="15627"/>
                </a:cubicBezTo>
                <a:cubicBezTo>
                  <a:pt x="37386" y="15925"/>
                  <a:pt x="37148" y="16133"/>
                  <a:pt x="36999" y="16282"/>
                </a:cubicBezTo>
                <a:lnTo>
                  <a:pt x="36850" y="16431"/>
                </a:lnTo>
                <a:lnTo>
                  <a:pt x="36880" y="16431"/>
                </a:lnTo>
                <a:cubicBezTo>
                  <a:pt x="36880" y="16431"/>
                  <a:pt x="36909" y="16431"/>
                  <a:pt x="36909" y="16431"/>
                </a:cubicBezTo>
                <a:cubicBezTo>
                  <a:pt x="36909" y="16431"/>
                  <a:pt x="36909" y="16401"/>
                  <a:pt x="36909" y="16401"/>
                </a:cubicBezTo>
                <a:lnTo>
                  <a:pt x="36880" y="16431"/>
                </a:lnTo>
                <a:cubicBezTo>
                  <a:pt x="36909" y="16401"/>
                  <a:pt x="36909" y="16401"/>
                  <a:pt x="36939" y="16401"/>
                </a:cubicBezTo>
                <a:cubicBezTo>
                  <a:pt x="41285" y="13781"/>
                  <a:pt x="47327" y="11638"/>
                  <a:pt x="51643" y="10567"/>
                </a:cubicBezTo>
                <a:lnTo>
                  <a:pt x="53400" y="10150"/>
                </a:lnTo>
                <a:cubicBezTo>
                  <a:pt x="53519" y="10120"/>
                  <a:pt x="53638" y="10120"/>
                  <a:pt x="53757" y="10091"/>
                </a:cubicBezTo>
                <a:cubicBezTo>
                  <a:pt x="54263" y="9971"/>
                  <a:pt x="54769" y="9882"/>
                  <a:pt x="55305" y="9763"/>
                </a:cubicBezTo>
                <a:cubicBezTo>
                  <a:pt x="55364" y="9763"/>
                  <a:pt x="55483" y="9733"/>
                  <a:pt x="55543" y="9733"/>
                </a:cubicBezTo>
                <a:cubicBezTo>
                  <a:pt x="74652" y="6251"/>
                  <a:pt x="95012" y="11966"/>
                  <a:pt x="109180" y="25509"/>
                </a:cubicBezTo>
                <a:cubicBezTo>
                  <a:pt x="112246" y="28426"/>
                  <a:pt x="114925" y="31700"/>
                  <a:pt x="117187" y="35272"/>
                </a:cubicBezTo>
                <a:cubicBezTo>
                  <a:pt x="126236" y="49917"/>
                  <a:pt x="125373" y="68342"/>
                  <a:pt x="118318" y="79206"/>
                </a:cubicBezTo>
                <a:cubicBezTo>
                  <a:pt x="108079" y="94982"/>
                  <a:pt x="85159" y="100429"/>
                  <a:pt x="70991" y="86588"/>
                </a:cubicBezTo>
                <a:cubicBezTo>
                  <a:pt x="66229" y="81975"/>
                  <a:pt x="63490" y="75664"/>
                  <a:pt x="63371" y="69026"/>
                </a:cubicBezTo>
                <a:cubicBezTo>
                  <a:pt x="63311" y="65842"/>
                  <a:pt x="63966" y="62716"/>
                  <a:pt x="65216" y="59799"/>
                </a:cubicBezTo>
                <a:cubicBezTo>
                  <a:pt x="65723" y="58668"/>
                  <a:pt x="69116" y="52149"/>
                  <a:pt x="70634" y="52477"/>
                </a:cubicBezTo>
                <a:cubicBezTo>
                  <a:pt x="66735" y="51643"/>
                  <a:pt x="59472" y="53251"/>
                  <a:pt x="54352" y="60871"/>
                </a:cubicBezTo>
                <a:cubicBezTo>
                  <a:pt x="49768" y="67687"/>
                  <a:pt x="50036" y="78194"/>
                  <a:pt x="52864" y="85665"/>
                </a:cubicBezTo>
                <a:cubicBezTo>
                  <a:pt x="51078" y="81975"/>
                  <a:pt x="49857" y="78045"/>
                  <a:pt x="49262" y="73997"/>
                </a:cubicBezTo>
                <a:cubicBezTo>
                  <a:pt x="45631" y="49411"/>
                  <a:pt x="62151" y="28456"/>
                  <a:pt x="77331" y="23247"/>
                </a:cubicBezTo>
                <a:cubicBezTo>
                  <a:pt x="69146" y="16103"/>
                  <a:pt x="48607" y="16609"/>
                  <a:pt x="33367" y="27831"/>
                </a:cubicBezTo>
                <a:cubicBezTo>
                  <a:pt x="24467" y="34379"/>
                  <a:pt x="18127" y="43666"/>
                  <a:pt x="14764" y="54739"/>
                </a:cubicBezTo>
                <a:cubicBezTo>
                  <a:pt x="15270" y="48518"/>
                  <a:pt x="17621" y="39231"/>
                  <a:pt x="22443" y="29766"/>
                </a:cubicBezTo>
                <a:cubicBezTo>
                  <a:pt x="17324" y="32415"/>
                  <a:pt x="10835" y="40779"/>
                  <a:pt x="7620" y="48488"/>
                </a:cubicBezTo>
                <a:cubicBezTo>
                  <a:pt x="2977" y="59621"/>
                  <a:pt x="1369" y="72956"/>
                  <a:pt x="2828" y="85636"/>
                </a:cubicBezTo>
                <a:cubicBezTo>
                  <a:pt x="2947" y="86588"/>
                  <a:pt x="3036" y="87541"/>
                  <a:pt x="3155" y="88493"/>
                </a:cubicBezTo>
                <a:cubicBezTo>
                  <a:pt x="9079" y="123349"/>
                  <a:pt x="39469" y="149929"/>
                  <a:pt x="76021" y="149929"/>
                </a:cubicBezTo>
                <a:cubicBezTo>
                  <a:pt x="116830" y="149929"/>
                  <a:pt x="149929" y="116830"/>
                  <a:pt x="149929" y="75992"/>
                </a:cubicBezTo>
                <a:cubicBezTo>
                  <a:pt x="149900" y="74652"/>
                  <a:pt x="149870" y="73283"/>
                  <a:pt x="149781" y="71973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3" name="Text 41"/>
          <p:cNvSpPr/>
          <p:nvPr/>
        </p:nvSpPr>
        <p:spPr>
          <a:xfrm>
            <a:off x="1149350" y="5073651"/>
            <a:ext cx="471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Firefox Browser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49350" y="5302251"/>
            <a:ext cx="470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inspection and screenshot capture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75375" y="1184275"/>
            <a:ext cx="5635625" cy="3921125"/>
          </a:xfrm>
          <a:custGeom>
            <a:avLst/>
            <a:gdLst/>
            <a:ahLst/>
            <a:cxnLst/>
            <a:rect l="l" t="t" r="r" b="b"/>
            <a:pathLst>
              <a:path w="5635625" h="3921125">
                <a:moveTo>
                  <a:pt x="114301" y="0"/>
                </a:moveTo>
                <a:lnTo>
                  <a:pt x="5521324" y="0"/>
                </a:lnTo>
                <a:cubicBezTo>
                  <a:pt x="5584451" y="0"/>
                  <a:pt x="5635625" y="51174"/>
                  <a:pt x="5635625" y="114301"/>
                </a:cubicBezTo>
                <a:lnTo>
                  <a:pt x="5635625" y="3806824"/>
                </a:lnTo>
                <a:cubicBezTo>
                  <a:pt x="5635625" y="3869951"/>
                  <a:pt x="5584451" y="3921125"/>
                  <a:pt x="5521324" y="3921125"/>
                </a:cubicBezTo>
                <a:lnTo>
                  <a:pt x="114301" y="3921125"/>
                </a:lnTo>
                <a:cubicBezTo>
                  <a:pt x="51174" y="3921125"/>
                  <a:pt x="0" y="3869951"/>
                  <a:pt x="0" y="3806824"/>
                </a:cubicBezTo>
                <a:lnTo>
                  <a:pt x="0" y="114301"/>
                </a:lnTo>
                <a:cubicBezTo>
                  <a:pt x="0" y="51216"/>
                  <a:pt x="51216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54763" y="137795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7" name="Text 45"/>
          <p:cNvSpPr/>
          <p:nvPr/>
        </p:nvSpPr>
        <p:spPr>
          <a:xfrm>
            <a:off x="6569075" y="1339851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Assessment Methodology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521450" y="1758951"/>
            <a:ext cx="19050" cy="3124200"/>
          </a:xfrm>
          <a:custGeom>
            <a:avLst/>
            <a:gdLst/>
            <a:ahLst/>
            <a:cxnLst/>
            <a:rect l="l" t="t" r="r" b="b"/>
            <a:pathLst>
              <a:path w="19050" h="3124200">
                <a:moveTo>
                  <a:pt x="0" y="0"/>
                </a:moveTo>
                <a:lnTo>
                  <a:pt x="19050" y="0"/>
                </a:lnTo>
                <a:lnTo>
                  <a:pt x="19050" y="3124200"/>
                </a:lnTo>
                <a:lnTo>
                  <a:pt x="0" y="31242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D4AA"/>
              </a:gs>
              <a:gs pos="50000">
                <a:srgbClr val="00D4AA">
                  <a:alpha val="50000"/>
                </a:srgbClr>
              </a:gs>
              <a:gs pos="100000">
                <a:srgbClr val="00D4AA">
                  <a:alpha val="20000"/>
                </a:srgbClr>
              </a:gs>
            </a:gsLst>
            <a:lin ang="5400000" scaled="1"/>
          </a:gradFill>
          <a:ln/>
        </p:spPr>
      </p:sp>
      <p:sp>
        <p:nvSpPr>
          <p:cNvPr id="49" name="Shape 47"/>
          <p:cNvSpPr/>
          <p:nvPr/>
        </p:nvSpPr>
        <p:spPr>
          <a:xfrm>
            <a:off x="6330950" y="175895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/>
              </a:gs>
              <a:gs pos="100000">
                <a:srgbClr val="00D4AA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50" name="Text 48"/>
          <p:cNvSpPr/>
          <p:nvPr/>
        </p:nvSpPr>
        <p:spPr>
          <a:xfrm>
            <a:off x="6497241" y="1835151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64350" y="1797051"/>
            <a:ext cx="486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Reconnaissance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64350" y="2025651"/>
            <a:ext cx="485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open-source intelligence gathering to understand application surface area and confirm authorization.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30950" y="252095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/>
              </a:gs>
              <a:gs pos="100000">
                <a:srgbClr val="00D4AA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54" name="Text 52"/>
          <p:cNvSpPr/>
          <p:nvPr/>
        </p:nvSpPr>
        <p:spPr>
          <a:xfrm>
            <a:off x="6482655" y="2597151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64350" y="2559051"/>
            <a:ext cx="486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&amp; Service Enumeration (Nmap)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64350" y="2787651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open ports and running services including exact software versions.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30950" y="309245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/>
              </a:gs>
              <a:gs pos="100000">
                <a:srgbClr val="00D4AA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58" name="Text 56"/>
          <p:cNvSpPr/>
          <p:nvPr/>
        </p:nvSpPr>
        <p:spPr>
          <a:xfrm>
            <a:off x="6480671" y="3168651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864350" y="3130551"/>
            <a:ext cx="486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Fingerprinting (WhatWeb)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64350" y="3359151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Confirmed Java/Apache Tomcat stack, session cookies, and HTTP header details.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30950" y="366395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/>
              </a:gs>
              <a:gs pos="100000">
                <a:srgbClr val="00D4AA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62" name="Text 60"/>
          <p:cNvSpPr/>
          <p:nvPr/>
        </p:nvSpPr>
        <p:spPr>
          <a:xfrm>
            <a:off x="6482655" y="3740151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864350" y="3702051"/>
            <a:ext cx="486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Vulnerability Scan (Nikto)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864350" y="3930651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Detected missing security headers and dangerous HTTP methods.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30950" y="423545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/>
              </a:gs>
              <a:gs pos="100000">
                <a:srgbClr val="00D4AA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66" name="Text 64"/>
          <p:cNvSpPr/>
          <p:nvPr/>
        </p:nvSpPr>
        <p:spPr>
          <a:xfrm>
            <a:off x="6480374" y="4311651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864350" y="4273551"/>
            <a:ext cx="486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Application-Level Passive Scan (OWASP ZAP)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864350" y="4502151"/>
            <a:ext cx="485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Passive automated analysis identifying 15 alert categories without exploitative requests.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175375" y="5260975"/>
            <a:ext cx="5635625" cy="463550"/>
          </a:xfrm>
          <a:custGeom>
            <a:avLst/>
            <a:gdLst/>
            <a:ahLst/>
            <a:cxnLst/>
            <a:rect l="l" t="t" r="r" b="b"/>
            <a:pathLst>
              <a:path w="5635625" h="463550">
                <a:moveTo>
                  <a:pt x="114302" y="0"/>
                </a:moveTo>
                <a:lnTo>
                  <a:pt x="5521323" y="0"/>
                </a:lnTo>
                <a:cubicBezTo>
                  <a:pt x="5584450" y="0"/>
                  <a:pt x="5635625" y="51175"/>
                  <a:pt x="5635625" y="114302"/>
                </a:cubicBezTo>
                <a:lnTo>
                  <a:pt x="5635625" y="349248"/>
                </a:lnTo>
                <a:cubicBezTo>
                  <a:pt x="5635625" y="412375"/>
                  <a:pt x="5584450" y="463550"/>
                  <a:pt x="5521323" y="463550"/>
                </a:cubicBezTo>
                <a:lnTo>
                  <a:pt x="114302" y="463550"/>
                </a:lnTo>
                <a:cubicBezTo>
                  <a:pt x="51175" y="463550"/>
                  <a:pt x="0" y="412375"/>
                  <a:pt x="0" y="349248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>
                  <a:alpha val="20000"/>
                </a:srgbClr>
              </a:gs>
              <a:gs pos="100000">
                <a:srgbClr val="00D4AA">
                  <a:alpha val="10000"/>
                </a:srgbClr>
              </a:gs>
            </a:gsLst>
            <a:lin ang="0" scaled="1"/>
          </a:gradFill>
          <a:ln w="8467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04756" y="539750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71" name="Text 69"/>
          <p:cNvSpPr/>
          <p:nvPr/>
        </p:nvSpPr>
        <p:spPr>
          <a:xfrm>
            <a:off x="6645275" y="5410200"/>
            <a:ext cx="1335683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Sample Command: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942163" y="5378451"/>
            <a:ext cx="2865140" cy="228600"/>
          </a:xfrm>
          <a:custGeom>
            <a:avLst/>
            <a:gdLst/>
            <a:ahLst/>
            <a:cxnLst/>
            <a:rect l="l" t="t" r="r" b="b"/>
            <a:pathLst>
              <a:path w="2865140" h="228600">
                <a:moveTo>
                  <a:pt x="38101" y="0"/>
                </a:moveTo>
                <a:lnTo>
                  <a:pt x="2827039" y="0"/>
                </a:lnTo>
                <a:cubicBezTo>
                  <a:pt x="2848082" y="0"/>
                  <a:pt x="2865140" y="17058"/>
                  <a:pt x="2865140" y="38101"/>
                </a:cubicBezTo>
                <a:lnTo>
                  <a:pt x="2865140" y="190499"/>
                </a:lnTo>
                <a:cubicBezTo>
                  <a:pt x="2865140" y="211542"/>
                  <a:pt x="2848082" y="228600"/>
                  <a:pt x="282703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7942163" y="5378451"/>
            <a:ext cx="293181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nmap -sV -sC -T4 -O demo.testfire.net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799" y="367179"/>
            <a:ext cx="467318" cy="467318"/>
          </a:xfrm>
          <a:custGeom>
            <a:avLst/>
            <a:gdLst/>
            <a:ahLst/>
            <a:cxnLst/>
            <a:rect l="l" t="t" r="r" b="b"/>
            <a:pathLst>
              <a:path w="467318" h="467318">
                <a:moveTo>
                  <a:pt x="100142" y="0"/>
                </a:moveTo>
                <a:lnTo>
                  <a:pt x="367177" y="0"/>
                </a:lnTo>
                <a:cubicBezTo>
                  <a:pt x="422446" y="0"/>
                  <a:pt x="467318" y="44872"/>
                  <a:pt x="467318" y="100142"/>
                </a:cubicBezTo>
                <a:lnTo>
                  <a:pt x="467318" y="367177"/>
                </a:lnTo>
                <a:cubicBezTo>
                  <a:pt x="467318" y="422446"/>
                  <a:pt x="422446" y="467318"/>
                  <a:pt x="367177" y="467318"/>
                </a:cubicBezTo>
                <a:lnTo>
                  <a:pt x="100142" y="467318"/>
                </a:lnTo>
                <a:cubicBezTo>
                  <a:pt x="44872" y="467318"/>
                  <a:pt x="0" y="422446"/>
                  <a:pt x="0" y="367177"/>
                </a:cubicBezTo>
                <a:lnTo>
                  <a:pt x="0" y="100142"/>
                </a:lnTo>
                <a:cubicBezTo>
                  <a:pt x="0" y="44872"/>
                  <a:pt x="44872" y="0"/>
                  <a:pt x="10014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/>
              </a:gs>
              <a:gs pos="100000">
                <a:srgbClr val="00D4AA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467318" y="500698"/>
            <a:ext cx="200279" cy="200279"/>
          </a:xfrm>
          <a:custGeom>
            <a:avLst/>
            <a:gdLst/>
            <a:ahLst/>
            <a:cxnLst/>
            <a:rect l="l" t="t" r="r" b="b"/>
            <a:pathLst>
              <a:path w="200279" h="200279">
                <a:moveTo>
                  <a:pt x="25035" y="25035"/>
                </a:moveTo>
                <a:cubicBezTo>
                  <a:pt x="11227" y="25035"/>
                  <a:pt x="0" y="36261"/>
                  <a:pt x="0" y="50070"/>
                </a:cubicBezTo>
                <a:lnTo>
                  <a:pt x="0" y="150209"/>
                </a:lnTo>
                <a:cubicBezTo>
                  <a:pt x="0" y="164018"/>
                  <a:pt x="11227" y="175244"/>
                  <a:pt x="25035" y="175244"/>
                </a:cubicBezTo>
                <a:lnTo>
                  <a:pt x="175244" y="175244"/>
                </a:lnTo>
                <a:cubicBezTo>
                  <a:pt x="189053" y="175244"/>
                  <a:pt x="200279" y="164018"/>
                  <a:pt x="200279" y="150209"/>
                </a:cubicBezTo>
                <a:lnTo>
                  <a:pt x="200279" y="50070"/>
                </a:lnTo>
                <a:cubicBezTo>
                  <a:pt x="200279" y="36261"/>
                  <a:pt x="189053" y="25035"/>
                  <a:pt x="175244" y="25035"/>
                </a:cubicBezTo>
                <a:lnTo>
                  <a:pt x="25035" y="25035"/>
                </a:lnTo>
                <a:close/>
                <a:moveTo>
                  <a:pt x="62587" y="125175"/>
                </a:moveTo>
                <a:cubicBezTo>
                  <a:pt x="62587" y="132083"/>
                  <a:pt x="56978" y="137692"/>
                  <a:pt x="50070" y="137692"/>
                </a:cubicBezTo>
                <a:cubicBezTo>
                  <a:pt x="43161" y="137692"/>
                  <a:pt x="37552" y="132083"/>
                  <a:pt x="37552" y="125175"/>
                </a:cubicBezTo>
                <a:cubicBezTo>
                  <a:pt x="37552" y="118266"/>
                  <a:pt x="43161" y="112657"/>
                  <a:pt x="50070" y="112657"/>
                </a:cubicBezTo>
                <a:cubicBezTo>
                  <a:pt x="56978" y="112657"/>
                  <a:pt x="62587" y="118266"/>
                  <a:pt x="62587" y="125175"/>
                </a:cubicBezTo>
                <a:close/>
                <a:moveTo>
                  <a:pt x="50070" y="87622"/>
                </a:moveTo>
                <a:cubicBezTo>
                  <a:pt x="43161" y="87622"/>
                  <a:pt x="37552" y="82013"/>
                  <a:pt x="37552" y="75105"/>
                </a:cubicBezTo>
                <a:cubicBezTo>
                  <a:pt x="37552" y="68196"/>
                  <a:pt x="43161" y="62587"/>
                  <a:pt x="50070" y="62587"/>
                </a:cubicBezTo>
                <a:cubicBezTo>
                  <a:pt x="56978" y="62587"/>
                  <a:pt x="62587" y="68196"/>
                  <a:pt x="62587" y="75105"/>
                </a:cubicBezTo>
                <a:cubicBezTo>
                  <a:pt x="62587" y="82013"/>
                  <a:pt x="56978" y="87622"/>
                  <a:pt x="50070" y="87622"/>
                </a:cubicBezTo>
                <a:close/>
                <a:moveTo>
                  <a:pt x="97010" y="65717"/>
                </a:moveTo>
                <a:lnTo>
                  <a:pt x="153339" y="65717"/>
                </a:lnTo>
                <a:cubicBezTo>
                  <a:pt x="158541" y="65717"/>
                  <a:pt x="162727" y="69902"/>
                  <a:pt x="162727" y="75105"/>
                </a:cubicBezTo>
                <a:cubicBezTo>
                  <a:pt x="162727" y="80307"/>
                  <a:pt x="158541" y="84493"/>
                  <a:pt x="153339" y="84493"/>
                </a:cubicBezTo>
                <a:lnTo>
                  <a:pt x="97010" y="84493"/>
                </a:lnTo>
                <a:cubicBezTo>
                  <a:pt x="91808" y="84493"/>
                  <a:pt x="87622" y="80307"/>
                  <a:pt x="87622" y="75105"/>
                </a:cubicBezTo>
                <a:cubicBezTo>
                  <a:pt x="87622" y="69902"/>
                  <a:pt x="91808" y="65717"/>
                  <a:pt x="97010" y="65717"/>
                </a:cubicBezTo>
                <a:close/>
                <a:moveTo>
                  <a:pt x="97010" y="115786"/>
                </a:moveTo>
                <a:lnTo>
                  <a:pt x="153339" y="115786"/>
                </a:lnTo>
                <a:cubicBezTo>
                  <a:pt x="158541" y="115786"/>
                  <a:pt x="162727" y="119972"/>
                  <a:pt x="162727" y="125175"/>
                </a:cubicBezTo>
                <a:cubicBezTo>
                  <a:pt x="162727" y="130377"/>
                  <a:pt x="158541" y="134563"/>
                  <a:pt x="153339" y="134563"/>
                </a:cubicBezTo>
                <a:lnTo>
                  <a:pt x="97010" y="134563"/>
                </a:lnTo>
                <a:cubicBezTo>
                  <a:pt x="91808" y="134563"/>
                  <a:pt x="87622" y="130377"/>
                  <a:pt x="87622" y="125175"/>
                </a:cubicBezTo>
                <a:cubicBezTo>
                  <a:pt x="87622" y="119972"/>
                  <a:pt x="91808" y="115786"/>
                  <a:pt x="97010" y="11578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" name="Text 2"/>
          <p:cNvSpPr/>
          <p:nvPr/>
        </p:nvSpPr>
        <p:spPr>
          <a:xfrm>
            <a:off x="934637" y="333799"/>
            <a:ext cx="2536871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spc="105" kern="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4637" y="534078"/>
            <a:ext cx="2620320" cy="33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66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Findings Summary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6580" y="1004178"/>
            <a:ext cx="11521621" cy="4703781"/>
          </a:xfrm>
          <a:custGeom>
            <a:avLst/>
            <a:gdLst/>
            <a:ahLst/>
            <a:cxnLst/>
            <a:rect l="l" t="t" r="r" b="b"/>
            <a:pathLst>
              <a:path w="11521621" h="4703781">
                <a:moveTo>
                  <a:pt x="100143" y="0"/>
                </a:moveTo>
                <a:lnTo>
                  <a:pt x="11421477" y="0"/>
                </a:lnTo>
                <a:cubicBezTo>
                  <a:pt x="11476785" y="0"/>
                  <a:pt x="11521621" y="44836"/>
                  <a:pt x="11521621" y="100143"/>
                </a:cubicBezTo>
                <a:lnTo>
                  <a:pt x="11521621" y="4603637"/>
                </a:lnTo>
                <a:cubicBezTo>
                  <a:pt x="11521621" y="4658945"/>
                  <a:pt x="11476785" y="4703781"/>
                  <a:pt x="11421477" y="4703781"/>
                </a:cubicBezTo>
                <a:lnTo>
                  <a:pt x="100143" y="4703781"/>
                </a:lnTo>
                <a:cubicBezTo>
                  <a:pt x="44836" y="4703781"/>
                  <a:pt x="0" y="4658945"/>
                  <a:pt x="0" y="4603637"/>
                </a:cubicBezTo>
                <a:lnTo>
                  <a:pt x="0" y="100143"/>
                </a:lnTo>
                <a:cubicBezTo>
                  <a:pt x="0" y="44873"/>
                  <a:pt x="44873" y="0"/>
                  <a:pt x="10014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2882" y="1140480"/>
          <a:ext cx="11249018" cy="4431179"/>
        </p:xfrm>
        <a:graphic>
          <a:graphicData uri="http://schemas.openxmlformats.org/drawingml/2006/table">
            <a:tbl>
              <a:tblPr/>
              <a:tblGrid>
                <a:gridCol w="525733"/>
                <a:gridCol w="5799754"/>
                <a:gridCol w="1201676"/>
                <a:gridCol w="1527129"/>
                <a:gridCol w="2194727"/>
              </a:tblGrid>
              <a:tr h="276949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00D4A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#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66760" marB="667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00D4A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Vulnerability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66760" marB="667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D4A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Severity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66760" marB="667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D4A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Confidence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66760" marB="667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00D4A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Found By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66760" marB="667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94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Absence of Anti-CSRF Tokens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Medium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OWASP ZAP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94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02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Content Security Policy (CSP) Header Not Set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Medium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OWASP ZAP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94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03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Missing Anti-Clickjacking Header (X-Frame-Options)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Medium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Medium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Nikto + ZAP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94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04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Dangerous HTTP Methods Enabled (PUT, DELETE)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Medium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Nikto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94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05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Server Version Disclosed in HTTP Header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Nmap + Nikto + ZAP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94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06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Outdated Server Component (Apache Tomcat Coyote 1.1)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Nmap + WhatWeb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94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07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Strict-Transport-Security (HSTS) Header Not Set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OWASP ZAP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94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08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X-Content-Type-Options Header Missing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Medium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Nikto + ZAP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94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09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Cookie Without SameSite Attribute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OWASP ZAP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94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Cross-Domain JavaScript Source File Inclusion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OWASP ZAP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94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Secure Pages Include Mixed Content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Medium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OWASP ZAP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94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Information Disclosure — Suspicious Comments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Info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Medium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OWASP ZAP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94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Session Management Response Identified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Info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Medium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OWASP ZAP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94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14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Re-examine Cache-Control Directives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Info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Medium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OWASP ZAP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94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Modern Web Application Detection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Info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Medium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OWASP ZAP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6760" marR="66760" marT="50070" marB="5007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36580" y="5849824"/>
            <a:ext cx="2801128" cy="673161"/>
          </a:xfrm>
          <a:custGeom>
            <a:avLst/>
            <a:gdLst/>
            <a:ahLst/>
            <a:cxnLst/>
            <a:rect l="l" t="t" r="r" b="b"/>
            <a:pathLst>
              <a:path w="2801128" h="673161">
                <a:moveTo>
                  <a:pt x="100139" y="0"/>
                </a:moveTo>
                <a:lnTo>
                  <a:pt x="2700989" y="0"/>
                </a:lnTo>
                <a:cubicBezTo>
                  <a:pt x="2756257" y="0"/>
                  <a:pt x="2801128" y="44871"/>
                  <a:pt x="2801128" y="100139"/>
                </a:cubicBezTo>
                <a:lnTo>
                  <a:pt x="2801128" y="573021"/>
                </a:lnTo>
                <a:cubicBezTo>
                  <a:pt x="2801128" y="628290"/>
                  <a:pt x="2756257" y="673161"/>
                  <a:pt x="2700989" y="673161"/>
                </a:cubicBezTo>
                <a:lnTo>
                  <a:pt x="100139" y="673161"/>
                </a:lnTo>
                <a:cubicBezTo>
                  <a:pt x="44871" y="673161"/>
                  <a:pt x="0" y="628290"/>
                  <a:pt x="0" y="573021"/>
                </a:cubicBezTo>
                <a:lnTo>
                  <a:pt x="0" y="100139"/>
                </a:lnTo>
                <a:cubicBezTo>
                  <a:pt x="0" y="44871"/>
                  <a:pt x="44871" y="0"/>
                  <a:pt x="100139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 w="8467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6914" y="5952746"/>
            <a:ext cx="2720460" cy="300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71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0294" y="6253165"/>
            <a:ext cx="2653700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Risk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43411" y="5849824"/>
            <a:ext cx="2801128" cy="673161"/>
          </a:xfrm>
          <a:custGeom>
            <a:avLst/>
            <a:gdLst/>
            <a:ahLst/>
            <a:cxnLst/>
            <a:rect l="l" t="t" r="r" b="b"/>
            <a:pathLst>
              <a:path w="2801128" h="673161">
                <a:moveTo>
                  <a:pt x="100139" y="0"/>
                </a:moveTo>
                <a:lnTo>
                  <a:pt x="2700989" y="0"/>
                </a:lnTo>
                <a:cubicBezTo>
                  <a:pt x="2756257" y="0"/>
                  <a:pt x="2801128" y="44871"/>
                  <a:pt x="2801128" y="100139"/>
                </a:cubicBezTo>
                <a:lnTo>
                  <a:pt x="2801128" y="573021"/>
                </a:lnTo>
                <a:cubicBezTo>
                  <a:pt x="2801128" y="628290"/>
                  <a:pt x="2756257" y="673161"/>
                  <a:pt x="2700989" y="673161"/>
                </a:cubicBezTo>
                <a:lnTo>
                  <a:pt x="100139" y="673161"/>
                </a:lnTo>
                <a:cubicBezTo>
                  <a:pt x="44871" y="673161"/>
                  <a:pt x="0" y="628290"/>
                  <a:pt x="0" y="573021"/>
                </a:cubicBezTo>
                <a:lnTo>
                  <a:pt x="0" y="100139"/>
                </a:lnTo>
                <a:cubicBezTo>
                  <a:pt x="0" y="44871"/>
                  <a:pt x="44871" y="0"/>
                  <a:pt x="100139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 w="8467">
            <a:solidFill>
              <a:srgbClr val="FFA500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83745" y="5952746"/>
            <a:ext cx="2720460" cy="300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71" b="1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17125" y="6253165"/>
            <a:ext cx="2653700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 Risk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50242" y="5849824"/>
            <a:ext cx="2801128" cy="673161"/>
          </a:xfrm>
          <a:custGeom>
            <a:avLst/>
            <a:gdLst/>
            <a:ahLst/>
            <a:cxnLst/>
            <a:rect l="l" t="t" r="r" b="b"/>
            <a:pathLst>
              <a:path w="2801128" h="673161">
                <a:moveTo>
                  <a:pt x="100139" y="0"/>
                </a:moveTo>
                <a:lnTo>
                  <a:pt x="2700989" y="0"/>
                </a:lnTo>
                <a:cubicBezTo>
                  <a:pt x="2756257" y="0"/>
                  <a:pt x="2801128" y="44871"/>
                  <a:pt x="2801128" y="100139"/>
                </a:cubicBezTo>
                <a:lnTo>
                  <a:pt x="2801128" y="573021"/>
                </a:lnTo>
                <a:cubicBezTo>
                  <a:pt x="2801128" y="628290"/>
                  <a:pt x="2756257" y="673161"/>
                  <a:pt x="2700989" y="673161"/>
                </a:cubicBezTo>
                <a:lnTo>
                  <a:pt x="100139" y="673161"/>
                </a:lnTo>
                <a:cubicBezTo>
                  <a:pt x="44871" y="673161"/>
                  <a:pt x="0" y="628290"/>
                  <a:pt x="0" y="573021"/>
                </a:cubicBezTo>
                <a:lnTo>
                  <a:pt x="0" y="100139"/>
                </a:lnTo>
                <a:cubicBezTo>
                  <a:pt x="0" y="44871"/>
                  <a:pt x="44871" y="0"/>
                  <a:pt x="100139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 w="8467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90577" y="5952746"/>
            <a:ext cx="2720460" cy="300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71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23957" y="6253165"/>
            <a:ext cx="2653700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Risk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057073" y="5849824"/>
            <a:ext cx="2801128" cy="673161"/>
          </a:xfrm>
          <a:custGeom>
            <a:avLst/>
            <a:gdLst/>
            <a:ahLst/>
            <a:cxnLst/>
            <a:rect l="l" t="t" r="r" b="b"/>
            <a:pathLst>
              <a:path w="2801128" h="673161">
                <a:moveTo>
                  <a:pt x="100139" y="0"/>
                </a:moveTo>
                <a:lnTo>
                  <a:pt x="2700989" y="0"/>
                </a:lnTo>
                <a:cubicBezTo>
                  <a:pt x="2756257" y="0"/>
                  <a:pt x="2801128" y="44871"/>
                  <a:pt x="2801128" y="100139"/>
                </a:cubicBezTo>
                <a:lnTo>
                  <a:pt x="2801128" y="573021"/>
                </a:lnTo>
                <a:cubicBezTo>
                  <a:pt x="2801128" y="628290"/>
                  <a:pt x="2756257" y="673161"/>
                  <a:pt x="2700989" y="673161"/>
                </a:cubicBezTo>
                <a:lnTo>
                  <a:pt x="100139" y="673161"/>
                </a:lnTo>
                <a:cubicBezTo>
                  <a:pt x="44871" y="673161"/>
                  <a:pt x="0" y="628290"/>
                  <a:pt x="0" y="573021"/>
                </a:cubicBezTo>
                <a:lnTo>
                  <a:pt x="0" y="100139"/>
                </a:lnTo>
                <a:cubicBezTo>
                  <a:pt x="0" y="44871"/>
                  <a:pt x="44871" y="0"/>
                  <a:pt x="100139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97408" y="5952746"/>
            <a:ext cx="2720460" cy="300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71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30788" y="6253165"/>
            <a:ext cx="2653700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A500"/>
              </a:gs>
              <a:gs pos="100000">
                <a:srgbClr val="FFA500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571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3771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09600"/>
            <a:ext cx="386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Findings — Part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0525" y="1152525"/>
            <a:ext cx="5619750" cy="4229100"/>
          </a:xfrm>
          <a:custGeom>
            <a:avLst/>
            <a:gdLst/>
            <a:ahLst/>
            <a:cxnLst/>
            <a:rect l="l" t="t" r="r" b="b"/>
            <a:pathLst>
              <a:path w="5619750" h="4229100">
                <a:moveTo>
                  <a:pt x="114313" y="0"/>
                </a:moveTo>
                <a:lnTo>
                  <a:pt x="5505437" y="0"/>
                </a:lnTo>
                <a:cubicBezTo>
                  <a:pt x="5568571" y="0"/>
                  <a:pt x="5619750" y="51179"/>
                  <a:pt x="5619750" y="114313"/>
                </a:cubicBezTo>
                <a:lnTo>
                  <a:pt x="5619750" y="4114787"/>
                </a:lnTo>
                <a:cubicBezTo>
                  <a:pt x="5619750" y="4177921"/>
                  <a:pt x="5568571" y="4229100"/>
                  <a:pt x="5505437" y="4229100"/>
                </a:cubicBezTo>
                <a:lnTo>
                  <a:pt x="114313" y="4229100"/>
                </a:lnTo>
                <a:cubicBezTo>
                  <a:pt x="51179" y="4229100"/>
                  <a:pt x="0" y="4177921"/>
                  <a:pt x="0" y="4114787"/>
                </a:cubicBezTo>
                <a:lnTo>
                  <a:pt x="0" y="114313"/>
                </a:lnTo>
                <a:cubicBezTo>
                  <a:pt x="0" y="51179"/>
                  <a:pt x="51179" y="0"/>
                  <a:pt x="114313" y="0"/>
                </a:cubicBezTo>
                <a:close/>
              </a:path>
            </a:pathLst>
          </a:custGeom>
          <a:gradFill rotWithShape="1" flip="none">
            <a:gsLst>
              <a:gs pos="0">
                <a:srgbClr val="FFA500">
                  <a:alpha val="20000"/>
                </a:srgbClr>
              </a:gs>
              <a:gs pos="100000">
                <a:srgbClr val="FFA500">
                  <a:alpha val="10000"/>
                </a:srgbClr>
              </a:gs>
            </a:gsLst>
            <a:lin ang="2700000" scaled="1"/>
          </a:gradFill>
          <a:ln w="25400">
            <a:solidFill>
              <a:srgbClr val="FFA500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2450" y="1314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8" name="Text 6"/>
          <p:cNvSpPr/>
          <p:nvPr/>
        </p:nvSpPr>
        <p:spPr>
          <a:xfrm>
            <a:off x="688975" y="1409700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3950" y="1333500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FINDING-01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3950" y="1485900"/>
            <a:ext cx="255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Absence of Anti-CSRF Tokens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03218" y="1409700"/>
            <a:ext cx="742950" cy="266700"/>
          </a:xfrm>
          <a:custGeom>
            <a:avLst/>
            <a:gdLst/>
            <a:ahLst/>
            <a:cxnLst/>
            <a:rect l="l" t="t" r="r" b="b"/>
            <a:pathLst>
              <a:path w="742950" h="266700">
                <a:moveTo>
                  <a:pt x="133350" y="0"/>
                </a:moveTo>
                <a:lnTo>
                  <a:pt x="609600" y="0"/>
                </a:lnTo>
                <a:cubicBezTo>
                  <a:pt x="683198" y="0"/>
                  <a:pt x="742950" y="59752"/>
                  <a:pt x="742950" y="133350"/>
                </a:cubicBezTo>
                <a:lnTo>
                  <a:pt x="742950" y="133350"/>
                </a:lnTo>
                <a:cubicBezTo>
                  <a:pt x="742950" y="206948"/>
                  <a:pt x="683198" y="266700"/>
                  <a:pt x="6096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A500">
              <a:alpha val="3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103218" y="1409700"/>
            <a:ext cx="8096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2450" y="1885950"/>
            <a:ext cx="5295900" cy="895350"/>
          </a:xfrm>
          <a:custGeom>
            <a:avLst/>
            <a:gdLst/>
            <a:ahLst/>
            <a:cxnLst/>
            <a:rect l="l" t="t" r="r" b="b"/>
            <a:pathLst>
              <a:path w="5295900" h="895350">
                <a:moveTo>
                  <a:pt x="76203" y="0"/>
                </a:moveTo>
                <a:lnTo>
                  <a:pt x="5219697" y="0"/>
                </a:lnTo>
                <a:cubicBezTo>
                  <a:pt x="5261783" y="0"/>
                  <a:pt x="5295900" y="34117"/>
                  <a:pt x="5295900" y="76203"/>
                </a:cubicBezTo>
                <a:lnTo>
                  <a:pt x="5295900" y="819147"/>
                </a:lnTo>
                <a:cubicBezTo>
                  <a:pt x="5295900" y="861233"/>
                  <a:pt x="5261783" y="895350"/>
                  <a:pt x="521969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0256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895350" y="2000250"/>
            <a:ext cx="490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the issue?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6750" y="2228850"/>
            <a:ext cx="5133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 forms (login, feedback, subscription) do not use Anti-CSRF (Cross-Site Request Forgery) tokens.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5625" y="2855913"/>
            <a:ext cx="5292725" cy="1111250"/>
          </a:xfrm>
          <a:custGeom>
            <a:avLst/>
            <a:gdLst/>
            <a:ahLst/>
            <a:cxnLst/>
            <a:rect l="l" t="t" r="r" b="b"/>
            <a:pathLst>
              <a:path w="5292725" h="1111250">
                <a:moveTo>
                  <a:pt x="76198" y="0"/>
                </a:moveTo>
                <a:lnTo>
                  <a:pt x="5216527" y="0"/>
                </a:lnTo>
                <a:cubicBezTo>
                  <a:pt x="5258610" y="0"/>
                  <a:pt x="5292725" y="34115"/>
                  <a:pt x="5292725" y="76198"/>
                </a:cubicBezTo>
                <a:lnTo>
                  <a:pt x="5292725" y="1035052"/>
                </a:lnTo>
                <a:cubicBezTo>
                  <a:pt x="5292725" y="1077135"/>
                  <a:pt x="5258610" y="1111250"/>
                  <a:pt x="5216527" y="1111250"/>
                </a:cubicBezTo>
                <a:lnTo>
                  <a:pt x="76198" y="1111250"/>
                </a:lnTo>
                <a:cubicBezTo>
                  <a:pt x="34115" y="1111250"/>
                  <a:pt x="0" y="1077135"/>
                  <a:pt x="0" y="10350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w="8467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2150" y="299878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901700" y="2973391"/>
            <a:ext cx="489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3100" y="3201991"/>
            <a:ext cx="51244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attacker could embed a hidden form on a malicious website. When a logged-in customer visits, their browser silently submits a forged banking request (e.g., fund transfer) —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the customer ever knowing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5625" y="4052095"/>
            <a:ext cx="5292725" cy="901700"/>
          </a:xfrm>
          <a:custGeom>
            <a:avLst/>
            <a:gdLst/>
            <a:ahLst/>
            <a:cxnLst/>
            <a:rect l="l" t="t" r="r" b="b"/>
            <a:pathLst>
              <a:path w="5292725" h="901700">
                <a:moveTo>
                  <a:pt x="76203" y="0"/>
                </a:moveTo>
                <a:lnTo>
                  <a:pt x="5216522" y="0"/>
                </a:lnTo>
                <a:cubicBezTo>
                  <a:pt x="5258608" y="0"/>
                  <a:pt x="5292725" y="34117"/>
                  <a:pt x="5292725" y="76203"/>
                </a:cubicBezTo>
                <a:lnTo>
                  <a:pt x="5292725" y="825497"/>
                </a:lnTo>
                <a:cubicBezTo>
                  <a:pt x="5292725" y="867583"/>
                  <a:pt x="5258608" y="901700"/>
                  <a:pt x="5216522" y="901700"/>
                </a:cubicBezTo>
                <a:lnTo>
                  <a:pt x="76203" y="901700"/>
                </a:lnTo>
                <a:cubicBezTo>
                  <a:pt x="34117" y="901700"/>
                  <a:pt x="0" y="867583"/>
                  <a:pt x="0" y="825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w="8467">
            <a:solidFill>
              <a:srgbClr val="00D4AA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816" y="4194972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32673" y="25680"/>
                </a:moveTo>
                <a:cubicBezTo>
                  <a:pt x="134652" y="23701"/>
                  <a:pt x="137960" y="24196"/>
                  <a:pt x="138950" y="26800"/>
                </a:cubicBezTo>
                <a:cubicBezTo>
                  <a:pt x="140721" y="31410"/>
                  <a:pt x="141684" y="36437"/>
                  <a:pt x="141684" y="41672"/>
                </a:cubicBezTo>
                <a:cubicBezTo>
                  <a:pt x="141684" y="64696"/>
                  <a:pt x="123036" y="83344"/>
                  <a:pt x="100013" y="83344"/>
                </a:cubicBezTo>
                <a:cubicBezTo>
                  <a:pt x="95455" y="83344"/>
                  <a:pt x="91053" y="82614"/>
                  <a:pt x="86938" y="81260"/>
                </a:cubicBezTo>
                <a:lnTo>
                  <a:pt x="38260" y="129938"/>
                </a:lnTo>
                <a:cubicBezTo>
                  <a:pt x="30941" y="137257"/>
                  <a:pt x="19065" y="137257"/>
                  <a:pt x="11746" y="129938"/>
                </a:cubicBezTo>
                <a:cubicBezTo>
                  <a:pt x="4428" y="122619"/>
                  <a:pt x="4428" y="110743"/>
                  <a:pt x="11746" y="103424"/>
                </a:cubicBezTo>
                <a:lnTo>
                  <a:pt x="60424" y="54746"/>
                </a:lnTo>
                <a:cubicBezTo>
                  <a:pt x="59070" y="50631"/>
                  <a:pt x="58341" y="46256"/>
                  <a:pt x="58341" y="41672"/>
                </a:cubicBezTo>
                <a:cubicBezTo>
                  <a:pt x="58341" y="18648"/>
                  <a:pt x="76989" y="0"/>
                  <a:pt x="100013" y="0"/>
                </a:cubicBezTo>
                <a:cubicBezTo>
                  <a:pt x="105248" y="0"/>
                  <a:pt x="110274" y="964"/>
                  <a:pt x="114884" y="2735"/>
                </a:cubicBezTo>
                <a:cubicBezTo>
                  <a:pt x="117489" y="3724"/>
                  <a:pt x="117957" y="7032"/>
                  <a:pt x="116004" y="9012"/>
                </a:cubicBezTo>
                <a:lnTo>
                  <a:pt x="92902" y="32113"/>
                </a:lnTo>
                <a:cubicBezTo>
                  <a:pt x="92121" y="32895"/>
                  <a:pt x="91678" y="33963"/>
                  <a:pt x="91678" y="35056"/>
                </a:cubicBezTo>
                <a:lnTo>
                  <a:pt x="91678" y="45839"/>
                </a:lnTo>
                <a:cubicBezTo>
                  <a:pt x="91678" y="48131"/>
                  <a:pt x="93553" y="50006"/>
                  <a:pt x="95845" y="50006"/>
                </a:cubicBezTo>
                <a:lnTo>
                  <a:pt x="106628" y="50006"/>
                </a:lnTo>
                <a:cubicBezTo>
                  <a:pt x="107722" y="50006"/>
                  <a:pt x="108790" y="49563"/>
                  <a:pt x="109571" y="48782"/>
                </a:cubicBezTo>
                <a:lnTo>
                  <a:pt x="132673" y="25680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901700" y="4169569"/>
            <a:ext cx="489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Remediation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3100" y="4398169"/>
            <a:ext cx="5124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per-session, server-validated CSRF tokens on every form. Modern frameworks include this natively (e.g., Spring Security's _csrf token).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2450" y="5066509"/>
            <a:ext cx="2190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OWASP: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A01:2021 – Broken Access Control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841526" y="5066509"/>
            <a:ext cx="2295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URLs: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/login.jsp, /feedback.jsp, /subscribe.jsp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81725" y="1152525"/>
            <a:ext cx="5619750" cy="4229100"/>
          </a:xfrm>
          <a:custGeom>
            <a:avLst/>
            <a:gdLst/>
            <a:ahLst/>
            <a:cxnLst/>
            <a:rect l="l" t="t" r="r" b="b"/>
            <a:pathLst>
              <a:path w="5619750" h="4229100">
                <a:moveTo>
                  <a:pt x="114313" y="0"/>
                </a:moveTo>
                <a:lnTo>
                  <a:pt x="5505437" y="0"/>
                </a:lnTo>
                <a:cubicBezTo>
                  <a:pt x="5568571" y="0"/>
                  <a:pt x="5619750" y="51179"/>
                  <a:pt x="5619750" y="114313"/>
                </a:cubicBezTo>
                <a:lnTo>
                  <a:pt x="5619750" y="4114787"/>
                </a:lnTo>
                <a:cubicBezTo>
                  <a:pt x="5619750" y="4177921"/>
                  <a:pt x="5568571" y="4229100"/>
                  <a:pt x="5505437" y="4229100"/>
                </a:cubicBezTo>
                <a:lnTo>
                  <a:pt x="114313" y="4229100"/>
                </a:lnTo>
                <a:cubicBezTo>
                  <a:pt x="51179" y="4229100"/>
                  <a:pt x="0" y="4177921"/>
                  <a:pt x="0" y="4114787"/>
                </a:cubicBezTo>
                <a:lnTo>
                  <a:pt x="0" y="114313"/>
                </a:lnTo>
                <a:cubicBezTo>
                  <a:pt x="0" y="51179"/>
                  <a:pt x="51179" y="0"/>
                  <a:pt x="114313" y="0"/>
                </a:cubicBezTo>
                <a:close/>
              </a:path>
            </a:pathLst>
          </a:custGeom>
          <a:gradFill rotWithShape="1" flip="none">
            <a:gsLst>
              <a:gs pos="0">
                <a:srgbClr val="FFA500">
                  <a:alpha val="20000"/>
                </a:srgbClr>
              </a:gs>
              <a:gs pos="100000">
                <a:srgbClr val="FFA500">
                  <a:alpha val="10000"/>
                </a:srgbClr>
              </a:gs>
            </a:gsLst>
            <a:lin ang="2700000" scaled="1"/>
          </a:gradFill>
          <a:ln w="25400">
            <a:solidFill>
              <a:srgbClr val="FFA500">
                <a:alpha val="5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43650" y="1314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61919" y="1409700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15150" y="1333500"/>
            <a:ext cx="1695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FINDING-02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15150" y="1485900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CSP Header Not Set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894418" y="1409700"/>
            <a:ext cx="742950" cy="266700"/>
          </a:xfrm>
          <a:custGeom>
            <a:avLst/>
            <a:gdLst/>
            <a:ahLst/>
            <a:cxnLst/>
            <a:rect l="l" t="t" r="r" b="b"/>
            <a:pathLst>
              <a:path w="742950" h="266700">
                <a:moveTo>
                  <a:pt x="133350" y="0"/>
                </a:moveTo>
                <a:lnTo>
                  <a:pt x="609600" y="0"/>
                </a:lnTo>
                <a:cubicBezTo>
                  <a:pt x="683198" y="0"/>
                  <a:pt x="742950" y="59752"/>
                  <a:pt x="742950" y="133350"/>
                </a:cubicBezTo>
                <a:lnTo>
                  <a:pt x="742950" y="133350"/>
                </a:lnTo>
                <a:cubicBezTo>
                  <a:pt x="742950" y="206948"/>
                  <a:pt x="683198" y="266700"/>
                  <a:pt x="6096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A500">
              <a:alpha val="3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894418" y="1409700"/>
            <a:ext cx="8096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3650" y="1885950"/>
            <a:ext cx="5295900" cy="676275"/>
          </a:xfrm>
          <a:custGeom>
            <a:avLst/>
            <a:gdLst/>
            <a:ahLst/>
            <a:cxnLst/>
            <a:rect l="l" t="t" r="r" b="b"/>
            <a:pathLst>
              <a:path w="5295900" h="676275">
                <a:moveTo>
                  <a:pt x="76203" y="0"/>
                </a:moveTo>
                <a:lnTo>
                  <a:pt x="5219697" y="0"/>
                </a:lnTo>
                <a:cubicBezTo>
                  <a:pt x="5261783" y="0"/>
                  <a:pt x="5295900" y="34117"/>
                  <a:pt x="5295900" y="76203"/>
                </a:cubicBezTo>
                <a:lnTo>
                  <a:pt x="5295900" y="600072"/>
                </a:lnTo>
                <a:cubicBezTo>
                  <a:pt x="5295900" y="642158"/>
                  <a:pt x="5261783" y="676275"/>
                  <a:pt x="5219697" y="676275"/>
                </a:cubicBezTo>
                <a:lnTo>
                  <a:pt x="76203" y="676275"/>
                </a:lnTo>
                <a:cubicBezTo>
                  <a:pt x="34117" y="676275"/>
                  <a:pt x="0" y="642158"/>
                  <a:pt x="0" y="6000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77000" y="20256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6" name="Text 34"/>
          <p:cNvSpPr/>
          <p:nvPr/>
        </p:nvSpPr>
        <p:spPr>
          <a:xfrm>
            <a:off x="6686550" y="2000250"/>
            <a:ext cx="490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the issue?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57950" y="2228850"/>
            <a:ext cx="51339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Content-Security-Policy HTTP header is returned in any server response.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46825" y="2639219"/>
            <a:ext cx="5292725" cy="1111250"/>
          </a:xfrm>
          <a:custGeom>
            <a:avLst/>
            <a:gdLst/>
            <a:ahLst/>
            <a:cxnLst/>
            <a:rect l="l" t="t" r="r" b="b"/>
            <a:pathLst>
              <a:path w="5292725" h="1111250">
                <a:moveTo>
                  <a:pt x="76198" y="0"/>
                </a:moveTo>
                <a:lnTo>
                  <a:pt x="5216527" y="0"/>
                </a:lnTo>
                <a:cubicBezTo>
                  <a:pt x="5258610" y="0"/>
                  <a:pt x="5292725" y="34115"/>
                  <a:pt x="5292725" y="76198"/>
                </a:cubicBezTo>
                <a:lnTo>
                  <a:pt x="5292725" y="1035052"/>
                </a:lnTo>
                <a:cubicBezTo>
                  <a:pt x="5292725" y="1077135"/>
                  <a:pt x="5258610" y="1111250"/>
                  <a:pt x="5216527" y="1111250"/>
                </a:cubicBezTo>
                <a:lnTo>
                  <a:pt x="76198" y="1111250"/>
                </a:lnTo>
                <a:cubicBezTo>
                  <a:pt x="34115" y="1111250"/>
                  <a:pt x="0" y="1077135"/>
                  <a:pt x="0" y="10350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w="8467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83350" y="278209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0" name="Text 38"/>
          <p:cNvSpPr/>
          <p:nvPr/>
        </p:nvSpPr>
        <p:spPr>
          <a:xfrm>
            <a:off x="6692900" y="2756697"/>
            <a:ext cx="489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64300" y="2985297"/>
            <a:ext cx="51244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CSP is the primary browser-level defence against XSS attacks. Without it, if an attacker finds an XSS flaw, there is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secondary barrier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prevent malicious script execution that could steal session cookies and account data.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46825" y="3835402"/>
            <a:ext cx="5292725" cy="901700"/>
          </a:xfrm>
          <a:custGeom>
            <a:avLst/>
            <a:gdLst/>
            <a:ahLst/>
            <a:cxnLst/>
            <a:rect l="l" t="t" r="r" b="b"/>
            <a:pathLst>
              <a:path w="5292725" h="901700">
                <a:moveTo>
                  <a:pt x="76203" y="0"/>
                </a:moveTo>
                <a:lnTo>
                  <a:pt x="5216522" y="0"/>
                </a:lnTo>
                <a:cubicBezTo>
                  <a:pt x="5258608" y="0"/>
                  <a:pt x="5292725" y="34117"/>
                  <a:pt x="5292725" y="76203"/>
                </a:cubicBezTo>
                <a:lnTo>
                  <a:pt x="5292725" y="825497"/>
                </a:lnTo>
                <a:cubicBezTo>
                  <a:pt x="5292725" y="867583"/>
                  <a:pt x="5258608" y="901700"/>
                  <a:pt x="5216522" y="901700"/>
                </a:cubicBezTo>
                <a:lnTo>
                  <a:pt x="76203" y="901700"/>
                </a:lnTo>
                <a:cubicBezTo>
                  <a:pt x="34117" y="901700"/>
                  <a:pt x="0" y="867583"/>
                  <a:pt x="0" y="825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w="8467">
            <a:solidFill>
              <a:srgbClr val="00D4AA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75016" y="3978278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32673" y="25680"/>
                </a:moveTo>
                <a:cubicBezTo>
                  <a:pt x="134652" y="23701"/>
                  <a:pt x="137960" y="24196"/>
                  <a:pt x="138950" y="26800"/>
                </a:cubicBezTo>
                <a:cubicBezTo>
                  <a:pt x="140721" y="31410"/>
                  <a:pt x="141684" y="36437"/>
                  <a:pt x="141684" y="41672"/>
                </a:cubicBezTo>
                <a:cubicBezTo>
                  <a:pt x="141684" y="64696"/>
                  <a:pt x="123036" y="83344"/>
                  <a:pt x="100013" y="83344"/>
                </a:cubicBezTo>
                <a:cubicBezTo>
                  <a:pt x="95455" y="83344"/>
                  <a:pt x="91053" y="82614"/>
                  <a:pt x="86938" y="81260"/>
                </a:cubicBezTo>
                <a:lnTo>
                  <a:pt x="38260" y="129938"/>
                </a:lnTo>
                <a:cubicBezTo>
                  <a:pt x="30941" y="137257"/>
                  <a:pt x="19065" y="137257"/>
                  <a:pt x="11746" y="129938"/>
                </a:cubicBezTo>
                <a:cubicBezTo>
                  <a:pt x="4428" y="122619"/>
                  <a:pt x="4428" y="110743"/>
                  <a:pt x="11746" y="103424"/>
                </a:cubicBezTo>
                <a:lnTo>
                  <a:pt x="60424" y="54746"/>
                </a:lnTo>
                <a:cubicBezTo>
                  <a:pt x="59070" y="50631"/>
                  <a:pt x="58341" y="46256"/>
                  <a:pt x="58341" y="41672"/>
                </a:cubicBezTo>
                <a:cubicBezTo>
                  <a:pt x="58341" y="18648"/>
                  <a:pt x="76989" y="0"/>
                  <a:pt x="100013" y="0"/>
                </a:cubicBezTo>
                <a:cubicBezTo>
                  <a:pt x="105248" y="0"/>
                  <a:pt x="110274" y="964"/>
                  <a:pt x="114884" y="2735"/>
                </a:cubicBezTo>
                <a:cubicBezTo>
                  <a:pt x="117489" y="3724"/>
                  <a:pt x="117957" y="7032"/>
                  <a:pt x="116004" y="9012"/>
                </a:cubicBezTo>
                <a:lnTo>
                  <a:pt x="92902" y="32113"/>
                </a:lnTo>
                <a:cubicBezTo>
                  <a:pt x="92121" y="32895"/>
                  <a:pt x="91678" y="33963"/>
                  <a:pt x="91678" y="35056"/>
                </a:cubicBezTo>
                <a:lnTo>
                  <a:pt x="91678" y="45839"/>
                </a:lnTo>
                <a:cubicBezTo>
                  <a:pt x="91678" y="48131"/>
                  <a:pt x="93553" y="50006"/>
                  <a:pt x="95845" y="50006"/>
                </a:cubicBezTo>
                <a:lnTo>
                  <a:pt x="106628" y="50006"/>
                </a:lnTo>
                <a:cubicBezTo>
                  <a:pt x="107722" y="50006"/>
                  <a:pt x="108790" y="49563"/>
                  <a:pt x="109571" y="48782"/>
                </a:cubicBezTo>
                <a:lnTo>
                  <a:pt x="132673" y="25680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4" name="Text 42"/>
          <p:cNvSpPr/>
          <p:nvPr/>
        </p:nvSpPr>
        <p:spPr>
          <a:xfrm>
            <a:off x="6692900" y="3952875"/>
            <a:ext cx="489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Remediation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64300" y="4181475"/>
            <a:ext cx="5124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Configure the web server to return: 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2E8F0">
                    <a:alpha val="90000"/>
                  </a:srgbClr>
                </a:solidFill>
                <a:highlight>
                  <a:srgbClr val="1A1D21">
                    <a:alpha val="7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Content-Security-Policy: default-src 'self'; script-src 'self' 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Start restrictive and gradually relax.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43650" y="5066509"/>
            <a:ext cx="2352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OWASP: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A05:2021 – Security Misconfiguration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795346" y="5066509"/>
            <a:ext cx="1885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pages on demo.testfire.net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A500"/>
              </a:gs>
              <a:gs pos="100000">
                <a:srgbClr val="FFA500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571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3838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09600"/>
            <a:ext cx="3933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Findings — Part 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139586"/>
            <a:ext cx="5619750" cy="4695825"/>
          </a:xfrm>
          <a:custGeom>
            <a:avLst/>
            <a:gdLst/>
            <a:ahLst/>
            <a:cxnLst/>
            <a:rect l="l" t="t" r="r" b="b"/>
            <a:pathLst>
              <a:path w="5619750" h="4695825">
                <a:moveTo>
                  <a:pt x="114296" y="0"/>
                </a:moveTo>
                <a:lnTo>
                  <a:pt x="5505454" y="0"/>
                </a:lnTo>
                <a:cubicBezTo>
                  <a:pt x="5568578" y="0"/>
                  <a:pt x="5619750" y="51172"/>
                  <a:pt x="5619750" y="114296"/>
                </a:cubicBezTo>
                <a:lnTo>
                  <a:pt x="5619750" y="4581529"/>
                </a:lnTo>
                <a:cubicBezTo>
                  <a:pt x="5619750" y="4644653"/>
                  <a:pt x="5568578" y="4695825"/>
                  <a:pt x="5505454" y="4695825"/>
                </a:cubicBezTo>
                <a:lnTo>
                  <a:pt x="114296" y="4695825"/>
                </a:lnTo>
                <a:cubicBezTo>
                  <a:pt x="51172" y="4695825"/>
                  <a:pt x="0" y="4644653"/>
                  <a:pt x="0" y="45815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FFA500">
                  <a:alpha val="20000"/>
                </a:srgbClr>
              </a:gs>
              <a:gs pos="100000">
                <a:srgbClr val="FFA500">
                  <a:alpha val="10000"/>
                </a:srgbClr>
              </a:gs>
            </a:gsLst>
            <a:lin ang="2700000" scaled="1"/>
          </a:gradFill>
          <a:ln w="25400">
            <a:solidFill>
              <a:srgbClr val="FFA500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2450" y="1314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8" name="Text 6"/>
          <p:cNvSpPr/>
          <p:nvPr/>
        </p:nvSpPr>
        <p:spPr>
          <a:xfrm>
            <a:off x="668238" y="140970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3950" y="1333500"/>
            <a:ext cx="2752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FINDING-03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3950" y="1485900"/>
            <a:ext cx="2790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Anti-Clickjacking Header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03218" y="1409700"/>
            <a:ext cx="742950" cy="266700"/>
          </a:xfrm>
          <a:custGeom>
            <a:avLst/>
            <a:gdLst/>
            <a:ahLst/>
            <a:cxnLst/>
            <a:rect l="l" t="t" r="r" b="b"/>
            <a:pathLst>
              <a:path w="742950" h="266700">
                <a:moveTo>
                  <a:pt x="133350" y="0"/>
                </a:moveTo>
                <a:lnTo>
                  <a:pt x="609600" y="0"/>
                </a:lnTo>
                <a:cubicBezTo>
                  <a:pt x="683198" y="0"/>
                  <a:pt x="742950" y="59752"/>
                  <a:pt x="742950" y="133350"/>
                </a:cubicBezTo>
                <a:lnTo>
                  <a:pt x="742950" y="133350"/>
                </a:lnTo>
                <a:cubicBezTo>
                  <a:pt x="742950" y="206948"/>
                  <a:pt x="683198" y="266700"/>
                  <a:pt x="6096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A500">
              <a:alpha val="3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103218" y="1409700"/>
            <a:ext cx="8096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2450" y="1885950"/>
            <a:ext cx="5295900" cy="895350"/>
          </a:xfrm>
          <a:custGeom>
            <a:avLst/>
            <a:gdLst/>
            <a:ahLst/>
            <a:cxnLst/>
            <a:rect l="l" t="t" r="r" b="b"/>
            <a:pathLst>
              <a:path w="5295900" h="895350">
                <a:moveTo>
                  <a:pt x="76203" y="0"/>
                </a:moveTo>
                <a:lnTo>
                  <a:pt x="5219697" y="0"/>
                </a:lnTo>
                <a:cubicBezTo>
                  <a:pt x="5261783" y="0"/>
                  <a:pt x="5295900" y="34117"/>
                  <a:pt x="5295900" y="76203"/>
                </a:cubicBezTo>
                <a:lnTo>
                  <a:pt x="5295900" y="819147"/>
                </a:lnTo>
                <a:cubicBezTo>
                  <a:pt x="5295900" y="861233"/>
                  <a:pt x="5261783" y="895350"/>
                  <a:pt x="521969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0256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895350" y="2000250"/>
            <a:ext cx="490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the issue?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6750" y="2228850"/>
            <a:ext cx="5133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X-Frame-Options HTTP header is absent from all server responses, confirmed by both Nikto and OWASP ZAP.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7700" y="2944812"/>
            <a:ext cx="5198468" cy="1085373"/>
          </a:xfrm>
          <a:custGeom>
            <a:avLst/>
            <a:gdLst/>
            <a:ahLst/>
            <a:cxnLst/>
            <a:rect l="l" t="t" r="r" b="b"/>
            <a:pathLst>
              <a:path w="5198468" h="1085373">
                <a:moveTo>
                  <a:pt x="74841" y="0"/>
                </a:moveTo>
                <a:lnTo>
                  <a:pt x="5123626" y="0"/>
                </a:lnTo>
                <a:cubicBezTo>
                  <a:pt x="5164960" y="0"/>
                  <a:pt x="5198468" y="33321"/>
                  <a:pt x="5198468" y="74424"/>
                </a:cubicBezTo>
                <a:lnTo>
                  <a:pt x="5198468" y="1010949"/>
                </a:lnTo>
                <a:cubicBezTo>
                  <a:pt x="5198468" y="1052052"/>
                  <a:pt x="5164960" y="1085373"/>
                  <a:pt x="5123626" y="1085373"/>
                </a:cubicBezTo>
                <a:lnTo>
                  <a:pt x="74841" y="1085373"/>
                </a:lnTo>
                <a:cubicBezTo>
                  <a:pt x="33508" y="1085373"/>
                  <a:pt x="0" y="1052052"/>
                  <a:pt x="0" y="1010949"/>
                </a:cubicBezTo>
                <a:lnTo>
                  <a:pt x="0" y="74424"/>
                </a:lnTo>
                <a:cubicBezTo>
                  <a:pt x="0" y="33321"/>
                  <a:pt x="33508" y="0"/>
                  <a:pt x="74841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w="8467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2150" y="299878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901700" y="2973391"/>
            <a:ext cx="489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700" y="3098956"/>
            <a:ext cx="5198468" cy="777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Attackers can embed this banking site inside an invisible on a fake page. A user clicking "Play Video" may actually be clicking "Confirm Transfer" on the hidden banking site. This is called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Clickjacking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is particularly dangerous for financial applications.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7700" y="4194972"/>
            <a:ext cx="5292725" cy="901700"/>
          </a:xfrm>
          <a:custGeom>
            <a:avLst/>
            <a:gdLst/>
            <a:ahLst/>
            <a:cxnLst/>
            <a:rect l="l" t="t" r="r" b="b"/>
            <a:pathLst>
              <a:path w="5292725" h="901700">
                <a:moveTo>
                  <a:pt x="76203" y="0"/>
                </a:moveTo>
                <a:lnTo>
                  <a:pt x="5216522" y="0"/>
                </a:lnTo>
                <a:cubicBezTo>
                  <a:pt x="5258608" y="0"/>
                  <a:pt x="5292725" y="34117"/>
                  <a:pt x="5292725" y="76203"/>
                </a:cubicBezTo>
                <a:lnTo>
                  <a:pt x="5292725" y="825497"/>
                </a:lnTo>
                <a:cubicBezTo>
                  <a:pt x="5292725" y="867583"/>
                  <a:pt x="5258608" y="901700"/>
                  <a:pt x="5216522" y="901700"/>
                </a:cubicBezTo>
                <a:lnTo>
                  <a:pt x="76203" y="901700"/>
                </a:lnTo>
                <a:cubicBezTo>
                  <a:pt x="34117" y="901700"/>
                  <a:pt x="0" y="867583"/>
                  <a:pt x="0" y="825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w="8467">
            <a:solidFill>
              <a:srgbClr val="00D4AA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816" y="4194972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32673" y="25680"/>
                </a:moveTo>
                <a:cubicBezTo>
                  <a:pt x="134652" y="23701"/>
                  <a:pt x="137960" y="24196"/>
                  <a:pt x="138950" y="26800"/>
                </a:cubicBezTo>
                <a:cubicBezTo>
                  <a:pt x="140721" y="31410"/>
                  <a:pt x="141684" y="36437"/>
                  <a:pt x="141684" y="41672"/>
                </a:cubicBezTo>
                <a:cubicBezTo>
                  <a:pt x="141684" y="64696"/>
                  <a:pt x="123036" y="83344"/>
                  <a:pt x="100013" y="83344"/>
                </a:cubicBezTo>
                <a:cubicBezTo>
                  <a:pt x="95455" y="83344"/>
                  <a:pt x="91053" y="82614"/>
                  <a:pt x="86938" y="81260"/>
                </a:cubicBezTo>
                <a:lnTo>
                  <a:pt x="38260" y="129938"/>
                </a:lnTo>
                <a:cubicBezTo>
                  <a:pt x="30941" y="137257"/>
                  <a:pt x="19065" y="137257"/>
                  <a:pt x="11746" y="129938"/>
                </a:cubicBezTo>
                <a:cubicBezTo>
                  <a:pt x="4428" y="122619"/>
                  <a:pt x="4428" y="110743"/>
                  <a:pt x="11746" y="103424"/>
                </a:cubicBezTo>
                <a:lnTo>
                  <a:pt x="60424" y="54746"/>
                </a:lnTo>
                <a:cubicBezTo>
                  <a:pt x="59070" y="50631"/>
                  <a:pt x="58341" y="46256"/>
                  <a:pt x="58341" y="41672"/>
                </a:cubicBezTo>
                <a:cubicBezTo>
                  <a:pt x="58341" y="18648"/>
                  <a:pt x="76989" y="0"/>
                  <a:pt x="100013" y="0"/>
                </a:cubicBezTo>
                <a:cubicBezTo>
                  <a:pt x="105248" y="0"/>
                  <a:pt x="110274" y="964"/>
                  <a:pt x="114884" y="2735"/>
                </a:cubicBezTo>
                <a:cubicBezTo>
                  <a:pt x="117489" y="3724"/>
                  <a:pt x="117957" y="7032"/>
                  <a:pt x="116004" y="9012"/>
                </a:cubicBezTo>
                <a:lnTo>
                  <a:pt x="92902" y="32113"/>
                </a:lnTo>
                <a:cubicBezTo>
                  <a:pt x="92121" y="32895"/>
                  <a:pt x="91678" y="33963"/>
                  <a:pt x="91678" y="35056"/>
                </a:cubicBezTo>
                <a:lnTo>
                  <a:pt x="91678" y="45839"/>
                </a:lnTo>
                <a:cubicBezTo>
                  <a:pt x="91678" y="48131"/>
                  <a:pt x="93553" y="50006"/>
                  <a:pt x="95845" y="50006"/>
                </a:cubicBezTo>
                <a:lnTo>
                  <a:pt x="106628" y="50006"/>
                </a:lnTo>
                <a:cubicBezTo>
                  <a:pt x="107722" y="50006"/>
                  <a:pt x="108790" y="49563"/>
                  <a:pt x="109571" y="48782"/>
                </a:cubicBezTo>
                <a:lnTo>
                  <a:pt x="132673" y="25680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901700" y="4169569"/>
            <a:ext cx="489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Remediation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3100" y="4398169"/>
            <a:ext cx="5124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2E8F0">
                    <a:alpha val="90000"/>
                  </a:srgbClr>
                </a:solidFill>
                <a:highlight>
                  <a:srgbClr val="1A1D21">
                    <a:alpha val="7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X-Frame-Options: SAMEORIGIN 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 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2E8F0">
                    <a:alpha val="90000"/>
                  </a:srgbClr>
                </a:solidFill>
                <a:highlight>
                  <a:srgbClr val="1A1D21">
                    <a:alpha val="7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DENY 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 via Apache Tomcat config, or use 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2E8F0">
                    <a:alpha val="90000"/>
                  </a:srgbClr>
                </a:solidFill>
                <a:highlight>
                  <a:srgbClr val="1A1D21">
                    <a:alpha val="7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CSP: frame-ancestors 'self' 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2450" y="5536406"/>
            <a:ext cx="2352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OWASP: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A05:2021 – Security Misconfiguration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004145" y="5536406"/>
            <a:ext cx="866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pages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81725" y="1152525"/>
            <a:ext cx="5619750" cy="4695825"/>
          </a:xfrm>
          <a:custGeom>
            <a:avLst/>
            <a:gdLst/>
            <a:ahLst/>
            <a:cxnLst/>
            <a:rect l="l" t="t" r="r" b="b"/>
            <a:pathLst>
              <a:path w="5619750" h="4695825">
                <a:moveTo>
                  <a:pt x="114296" y="0"/>
                </a:moveTo>
                <a:lnTo>
                  <a:pt x="5505454" y="0"/>
                </a:lnTo>
                <a:cubicBezTo>
                  <a:pt x="5568578" y="0"/>
                  <a:pt x="5619750" y="51172"/>
                  <a:pt x="5619750" y="114296"/>
                </a:cubicBezTo>
                <a:lnTo>
                  <a:pt x="5619750" y="4581529"/>
                </a:lnTo>
                <a:cubicBezTo>
                  <a:pt x="5619750" y="4644653"/>
                  <a:pt x="5568578" y="4695825"/>
                  <a:pt x="5505454" y="4695825"/>
                </a:cubicBezTo>
                <a:lnTo>
                  <a:pt x="114296" y="4695825"/>
                </a:lnTo>
                <a:cubicBezTo>
                  <a:pt x="51172" y="4695825"/>
                  <a:pt x="0" y="4644653"/>
                  <a:pt x="0" y="45815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FFA500">
                  <a:alpha val="20000"/>
                </a:srgbClr>
              </a:gs>
              <a:gs pos="100000">
                <a:srgbClr val="FFA500">
                  <a:alpha val="10000"/>
                </a:srgbClr>
              </a:gs>
            </a:gsLst>
            <a:lin ang="2700000" scaled="1"/>
          </a:gradFill>
          <a:ln w="25400">
            <a:solidFill>
              <a:srgbClr val="FFA500">
                <a:alpha val="5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43650" y="1314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62018" y="1409700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15150" y="1333500"/>
            <a:ext cx="2905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FINDING-04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15150" y="1485900"/>
            <a:ext cx="2943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Dangerous HTTP Methods Enabled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894418" y="1409700"/>
            <a:ext cx="742950" cy="266700"/>
          </a:xfrm>
          <a:custGeom>
            <a:avLst/>
            <a:gdLst/>
            <a:ahLst/>
            <a:cxnLst/>
            <a:rect l="l" t="t" r="r" b="b"/>
            <a:pathLst>
              <a:path w="742950" h="266700">
                <a:moveTo>
                  <a:pt x="133350" y="0"/>
                </a:moveTo>
                <a:lnTo>
                  <a:pt x="609600" y="0"/>
                </a:lnTo>
                <a:cubicBezTo>
                  <a:pt x="683198" y="0"/>
                  <a:pt x="742950" y="59752"/>
                  <a:pt x="742950" y="133350"/>
                </a:cubicBezTo>
                <a:lnTo>
                  <a:pt x="742950" y="133350"/>
                </a:lnTo>
                <a:cubicBezTo>
                  <a:pt x="742950" y="206948"/>
                  <a:pt x="683198" y="266700"/>
                  <a:pt x="6096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A500">
              <a:alpha val="3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894418" y="1409700"/>
            <a:ext cx="8096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3650" y="1885950"/>
            <a:ext cx="5295900" cy="1362075"/>
          </a:xfrm>
          <a:custGeom>
            <a:avLst/>
            <a:gdLst/>
            <a:ahLst/>
            <a:cxnLst/>
            <a:rect l="l" t="t" r="r" b="b"/>
            <a:pathLst>
              <a:path w="5295900" h="1362075">
                <a:moveTo>
                  <a:pt x="76194" y="0"/>
                </a:moveTo>
                <a:lnTo>
                  <a:pt x="5219706" y="0"/>
                </a:lnTo>
                <a:cubicBezTo>
                  <a:pt x="5261787" y="0"/>
                  <a:pt x="5295900" y="34113"/>
                  <a:pt x="5295900" y="76194"/>
                </a:cubicBezTo>
                <a:lnTo>
                  <a:pt x="5295900" y="1285881"/>
                </a:lnTo>
                <a:cubicBezTo>
                  <a:pt x="5295900" y="1327962"/>
                  <a:pt x="5261787" y="1362075"/>
                  <a:pt x="5219706" y="1362075"/>
                </a:cubicBezTo>
                <a:lnTo>
                  <a:pt x="76194" y="1362075"/>
                </a:lnTo>
                <a:cubicBezTo>
                  <a:pt x="34113" y="1362075"/>
                  <a:pt x="0" y="1327962"/>
                  <a:pt x="0" y="1285881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77000" y="20256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6" name="Text 34"/>
          <p:cNvSpPr/>
          <p:nvPr/>
        </p:nvSpPr>
        <p:spPr>
          <a:xfrm>
            <a:off x="6686550" y="2000250"/>
            <a:ext cx="490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the issue?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57950" y="2228850"/>
            <a:ext cx="5133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OPTIONS request returns allowed HTTP methods including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PUT and DELETE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typically used to write or remove files.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61125" y="2741613"/>
            <a:ext cx="5064125" cy="387350"/>
          </a:xfrm>
          <a:custGeom>
            <a:avLst/>
            <a:gdLst/>
            <a:ahLst/>
            <a:cxnLst/>
            <a:rect l="l" t="t" r="r" b="b"/>
            <a:pathLst>
              <a:path w="5064125" h="387350">
                <a:moveTo>
                  <a:pt x="38100" y="0"/>
                </a:moveTo>
                <a:lnTo>
                  <a:pt x="5026025" y="0"/>
                </a:lnTo>
                <a:cubicBezTo>
                  <a:pt x="5047067" y="0"/>
                  <a:pt x="5064125" y="17058"/>
                  <a:pt x="5064125" y="38100"/>
                </a:cubicBezTo>
                <a:lnTo>
                  <a:pt x="5064125" y="349250"/>
                </a:lnTo>
                <a:cubicBezTo>
                  <a:pt x="5064125" y="370292"/>
                  <a:pt x="5047067" y="387350"/>
                  <a:pt x="5026025" y="387350"/>
                </a:cubicBezTo>
                <a:lnTo>
                  <a:pt x="38100" y="387350"/>
                </a:lnTo>
                <a:cubicBezTo>
                  <a:pt x="17058" y="387350"/>
                  <a:pt x="0" y="370292"/>
                  <a:pt x="0" y="34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 w="8467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40500" y="2871788"/>
            <a:ext cx="2822277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6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Allow: GET, HEAD, POST, PUT, DELETE, OPTIONS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46825" y="3325814"/>
            <a:ext cx="5292725" cy="1111250"/>
          </a:xfrm>
          <a:custGeom>
            <a:avLst/>
            <a:gdLst/>
            <a:ahLst/>
            <a:cxnLst/>
            <a:rect l="l" t="t" r="r" b="b"/>
            <a:pathLst>
              <a:path w="5292725" h="1111250">
                <a:moveTo>
                  <a:pt x="76198" y="0"/>
                </a:moveTo>
                <a:lnTo>
                  <a:pt x="5216527" y="0"/>
                </a:lnTo>
                <a:cubicBezTo>
                  <a:pt x="5258610" y="0"/>
                  <a:pt x="5292725" y="34115"/>
                  <a:pt x="5292725" y="76198"/>
                </a:cubicBezTo>
                <a:lnTo>
                  <a:pt x="5292725" y="1035052"/>
                </a:lnTo>
                <a:cubicBezTo>
                  <a:pt x="5292725" y="1077135"/>
                  <a:pt x="5258610" y="1111250"/>
                  <a:pt x="5216527" y="1111250"/>
                </a:cubicBezTo>
                <a:lnTo>
                  <a:pt x="76198" y="1111250"/>
                </a:lnTo>
                <a:cubicBezTo>
                  <a:pt x="34115" y="1111250"/>
                  <a:pt x="0" y="1077135"/>
                  <a:pt x="0" y="10350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w="8467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83350" y="346869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2" name="Text 40"/>
          <p:cNvSpPr/>
          <p:nvPr/>
        </p:nvSpPr>
        <p:spPr>
          <a:xfrm>
            <a:off x="6692900" y="3443288"/>
            <a:ext cx="489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64300" y="3671888"/>
            <a:ext cx="51244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authorization is insufficient, an attacker could upload a malicious script ("web shell") via PUT, gaining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remote code execution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or delete critical files causing service outage.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46825" y="4521997"/>
            <a:ext cx="5292725" cy="901700"/>
          </a:xfrm>
          <a:custGeom>
            <a:avLst/>
            <a:gdLst/>
            <a:ahLst/>
            <a:cxnLst/>
            <a:rect l="l" t="t" r="r" b="b"/>
            <a:pathLst>
              <a:path w="5292725" h="901700">
                <a:moveTo>
                  <a:pt x="76203" y="0"/>
                </a:moveTo>
                <a:lnTo>
                  <a:pt x="5216522" y="0"/>
                </a:lnTo>
                <a:cubicBezTo>
                  <a:pt x="5258608" y="0"/>
                  <a:pt x="5292725" y="34117"/>
                  <a:pt x="5292725" y="76203"/>
                </a:cubicBezTo>
                <a:lnTo>
                  <a:pt x="5292725" y="825497"/>
                </a:lnTo>
                <a:cubicBezTo>
                  <a:pt x="5292725" y="867583"/>
                  <a:pt x="5258608" y="901700"/>
                  <a:pt x="5216522" y="901700"/>
                </a:cubicBezTo>
                <a:lnTo>
                  <a:pt x="76203" y="901700"/>
                </a:lnTo>
                <a:cubicBezTo>
                  <a:pt x="34117" y="901700"/>
                  <a:pt x="0" y="867583"/>
                  <a:pt x="0" y="825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w="8467">
            <a:solidFill>
              <a:srgbClr val="00D4AA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75016" y="4664869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32673" y="25680"/>
                </a:moveTo>
                <a:cubicBezTo>
                  <a:pt x="134652" y="23701"/>
                  <a:pt x="137960" y="24196"/>
                  <a:pt x="138950" y="26800"/>
                </a:cubicBezTo>
                <a:cubicBezTo>
                  <a:pt x="140721" y="31410"/>
                  <a:pt x="141684" y="36437"/>
                  <a:pt x="141684" y="41672"/>
                </a:cubicBezTo>
                <a:cubicBezTo>
                  <a:pt x="141684" y="64696"/>
                  <a:pt x="123036" y="83344"/>
                  <a:pt x="100013" y="83344"/>
                </a:cubicBezTo>
                <a:cubicBezTo>
                  <a:pt x="95455" y="83344"/>
                  <a:pt x="91053" y="82614"/>
                  <a:pt x="86938" y="81260"/>
                </a:cubicBezTo>
                <a:lnTo>
                  <a:pt x="38260" y="129938"/>
                </a:lnTo>
                <a:cubicBezTo>
                  <a:pt x="30941" y="137257"/>
                  <a:pt x="19065" y="137257"/>
                  <a:pt x="11746" y="129938"/>
                </a:cubicBezTo>
                <a:cubicBezTo>
                  <a:pt x="4428" y="122619"/>
                  <a:pt x="4428" y="110743"/>
                  <a:pt x="11746" y="103424"/>
                </a:cubicBezTo>
                <a:lnTo>
                  <a:pt x="60424" y="54746"/>
                </a:lnTo>
                <a:cubicBezTo>
                  <a:pt x="59070" y="50631"/>
                  <a:pt x="58341" y="46256"/>
                  <a:pt x="58341" y="41672"/>
                </a:cubicBezTo>
                <a:cubicBezTo>
                  <a:pt x="58341" y="18648"/>
                  <a:pt x="76989" y="0"/>
                  <a:pt x="100013" y="0"/>
                </a:cubicBezTo>
                <a:cubicBezTo>
                  <a:pt x="105248" y="0"/>
                  <a:pt x="110274" y="964"/>
                  <a:pt x="114884" y="2735"/>
                </a:cubicBezTo>
                <a:cubicBezTo>
                  <a:pt x="117489" y="3724"/>
                  <a:pt x="117957" y="7032"/>
                  <a:pt x="116004" y="9012"/>
                </a:cubicBezTo>
                <a:lnTo>
                  <a:pt x="92902" y="32113"/>
                </a:lnTo>
                <a:cubicBezTo>
                  <a:pt x="92121" y="32895"/>
                  <a:pt x="91678" y="33963"/>
                  <a:pt x="91678" y="35056"/>
                </a:cubicBezTo>
                <a:lnTo>
                  <a:pt x="91678" y="45839"/>
                </a:lnTo>
                <a:cubicBezTo>
                  <a:pt x="91678" y="48131"/>
                  <a:pt x="93553" y="50006"/>
                  <a:pt x="95845" y="50006"/>
                </a:cubicBezTo>
                <a:lnTo>
                  <a:pt x="106628" y="50006"/>
                </a:lnTo>
                <a:cubicBezTo>
                  <a:pt x="107722" y="50006"/>
                  <a:pt x="108790" y="49563"/>
                  <a:pt x="109571" y="48782"/>
                </a:cubicBezTo>
                <a:lnTo>
                  <a:pt x="132673" y="25680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6" name="Text 44"/>
          <p:cNvSpPr/>
          <p:nvPr/>
        </p:nvSpPr>
        <p:spPr>
          <a:xfrm>
            <a:off x="6692900" y="4639470"/>
            <a:ext cx="489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Remediation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64300" y="4868070"/>
            <a:ext cx="5124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Apache Tomcat config, restrict allowed HTTP methods to only GET and POST. Reject all others with a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405 Method Not Allowed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response.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43650" y="5536406"/>
            <a:ext cx="885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Low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328396" y="5536406"/>
            <a:ext cx="83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 By: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Nikto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/>
              </a:gs>
              <a:gs pos="100000">
                <a:srgbClr val="00D4AA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571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3838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09600"/>
            <a:ext cx="3933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Findings — Part 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0525" y="1152525"/>
            <a:ext cx="3686175" cy="5314950"/>
          </a:xfrm>
          <a:custGeom>
            <a:avLst/>
            <a:gdLst/>
            <a:ahLst/>
            <a:cxnLst/>
            <a:rect l="l" t="t" r="r" b="b"/>
            <a:pathLst>
              <a:path w="3686175" h="5314950">
                <a:moveTo>
                  <a:pt x="114308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5200642"/>
                </a:lnTo>
                <a:cubicBezTo>
                  <a:pt x="3686175" y="5263772"/>
                  <a:pt x="3634997" y="5314950"/>
                  <a:pt x="3571867" y="5314950"/>
                </a:cubicBezTo>
                <a:lnTo>
                  <a:pt x="114308" y="5314950"/>
                </a:lnTo>
                <a:cubicBezTo>
                  <a:pt x="51178" y="5314950"/>
                  <a:pt x="0" y="5263772"/>
                  <a:pt x="0" y="520064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>
                  <a:alpha val="20000"/>
                </a:srgbClr>
              </a:gs>
              <a:gs pos="100000">
                <a:srgbClr val="00D4AA">
                  <a:alpha val="10000"/>
                </a:srgbClr>
              </a:gs>
            </a:gsLst>
            <a:lin ang="2700000" scaled="1"/>
          </a:gradFill>
          <a:ln w="25400">
            <a:solidFill>
              <a:srgbClr val="00D4AA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2450" y="1314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641152" y="1371600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7750" y="1321594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FINDING-05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7750" y="1473994"/>
            <a:ext cx="19335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Version Disclosed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99942" y="1409700"/>
            <a:ext cx="419100" cy="190500"/>
          </a:xfrm>
          <a:custGeom>
            <a:avLst/>
            <a:gdLst/>
            <a:ahLst/>
            <a:cxnLst/>
            <a:rect l="l" t="t" r="r" b="b"/>
            <a:pathLst>
              <a:path w="419100" h="190500">
                <a:moveTo>
                  <a:pt x="95250" y="0"/>
                </a:moveTo>
                <a:lnTo>
                  <a:pt x="323850" y="0"/>
                </a:lnTo>
                <a:cubicBezTo>
                  <a:pt x="376420" y="0"/>
                  <a:pt x="419100" y="42680"/>
                  <a:pt x="419100" y="95250"/>
                </a:cubicBezTo>
                <a:lnTo>
                  <a:pt x="419100" y="95250"/>
                </a:lnTo>
                <a:cubicBezTo>
                  <a:pt x="419100" y="147820"/>
                  <a:pt x="376420" y="190500"/>
                  <a:pt x="3238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D4AA">
              <a:alpha val="3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499942" y="1409700"/>
            <a:ext cx="4762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2450" y="1771650"/>
            <a:ext cx="3362325" cy="1362075"/>
          </a:xfrm>
          <a:custGeom>
            <a:avLst/>
            <a:gdLst/>
            <a:ahLst/>
            <a:cxnLst/>
            <a:rect l="l" t="t" r="r" b="b"/>
            <a:pathLst>
              <a:path w="3362325" h="1362075">
                <a:moveTo>
                  <a:pt x="76194" y="0"/>
                </a:moveTo>
                <a:lnTo>
                  <a:pt x="3286131" y="0"/>
                </a:lnTo>
                <a:cubicBezTo>
                  <a:pt x="3328212" y="0"/>
                  <a:pt x="3362325" y="34113"/>
                  <a:pt x="3362325" y="76194"/>
                </a:cubicBezTo>
                <a:lnTo>
                  <a:pt x="3362325" y="1285881"/>
                </a:lnTo>
                <a:cubicBezTo>
                  <a:pt x="3362325" y="1327962"/>
                  <a:pt x="3328212" y="1362075"/>
                  <a:pt x="3286131" y="1362075"/>
                </a:cubicBezTo>
                <a:lnTo>
                  <a:pt x="76194" y="1362075"/>
                </a:lnTo>
                <a:cubicBezTo>
                  <a:pt x="34113" y="1362075"/>
                  <a:pt x="0" y="1327962"/>
                  <a:pt x="0" y="1285881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19113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895350" y="1885950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the issue?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6750" y="2114550"/>
            <a:ext cx="3200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exact web server software and version is openly broadcast in every HTTP response header.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9925" y="2627313"/>
            <a:ext cx="3130550" cy="387350"/>
          </a:xfrm>
          <a:custGeom>
            <a:avLst/>
            <a:gdLst/>
            <a:ahLst/>
            <a:cxnLst/>
            <a:rect l="l" t="t" r="r" b="b"/>
            <a:pathLst>
              <a:path w="3130550" h="387350">
                <a:moveTo>
                  <a:pt x="38100" y="0"/>
                </a:moveTo>
                <a:lnTo>
                  <a:pt x="3092450" y="0"/>
                </a:lnTo>
                <a:cubicBezTo>
                  <a:pt x="3113492" y="0"/>
                  <a:pt x="3130550" y="17058"/>
                  <a:pt x="3130550" y="38100"/>
                </a:cubicBezTo>
                <a:lnTo>
                  <a:pt x="3130550" y="349250"/>
                </a:lnTo>
                <a:cubicBezTo>
                  <a:pt x="3130550" y="370292"/>
                  <a:pt x="3113492" y="387350"/>
                  <a:pt x="3092450" y="387350"/>
                </a:cubicBezTo>
                <a:lnTo>
                  <a:pt x="38100" y="387350"/>
                </a:lnTo>
                <a:cubicBezTo>
                  <a:pt x="17058" y="387350"/>
                  <a:pt x="0" y="370292"/>
                  <a:pt x="0" y="34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 w="8467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300" y="2757488"/>
            <a:ext cx="1628279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6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Server: Apache-Coyote/1.1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5625" y="3249614"/>
            <a:ext cx="3359150" cy="1377950"/>
          </a:xfrm>
          <a:custGeom>
            <a:avLst/>
            <a:gdLst/>
            <a:ahLst/>
            <a:cxnLst/>
            <a:rect l="l" t="t" r="r" b="b"/>
            <a:pathLst>
              <a:path w="3359150" h="1377950">
                <a:moveTo>
                  <a:pt x="76201" y="0"/>
                </a:moveTo>
                <a:lnTo>
                  <a:pt x="3282949" y="0"/>
                </a:lnTo>
                <a:cubicBezTo>
                  <a:pt x="3325034" y="0"/>
                  <a:pt x="3359150" y="34116"/>
                  <a:pt x="3359150" y="76201"/>
                </a:cubicBezTo>
                <a:lnTo>
                  <a:pt x="3359150" y="1301749"/>
                </a:lnTo>
                <a:cubicBezTo>
                  <a:pt x="3359150" y="1343834"/>
                  <a:pt x="3325034" y="1377950"/>
                  <a:pt x="3282949" y="1377950"/>
                </a:cubicBezTo>
                <a:lnTo>
                  <a:pt x="76201" y="1377950"/>
                </a:lnTo>
                <a:cubicBezTo>
                  <a:pt x="34116" y="1377950"/>
                  <a:pt x="0" y="1343834"/>
                  <a:pt x="0" y="13017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w="8467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2150" y="319722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901700" y="3171825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3100" y="3400425"/>
            <a:ext cx="3190875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Apache-Coyote/1.1 is a component from Apache Tomcat's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legacy architecture (15+ years old)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 Publishing this version allows any attacker to immediately search for known, public CVE exploits targeting this exact version — dramatically reducing attack staging time.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5625" y="4743453"/>
            <a:ext cx="3359150" cy="1330325"/>
          </a:xfrm>
          <a:custGeom>
            <a:avLst/>
            <a:gdLst/>
            <a:ahLst/>
            <a:cxnLst/>
            <a:rect l="l" t="t" r="r" b="b"/>
            <a:pathLst>
              <a:path w="3359150" h="1330325">
                <a:moveTo>
                  <a:pt x="76201" y="0"/>
                </a:moveTo>
                <a:lnTo>
                  <a:pt x="3282949" y="0"/>
                </a:lnTo>
                <a:cubicBezTo>
                  <a:pt x="3325034" y="0"/>
                  <a:pt x="3359150" y="34116"/>
                  <a:pt x="3359150" y="76201"/>
                </a:cubicBezTo>
                <a:lnTo>
                  <a:pt x="3359150" y="1254124"/>
                </a:lnTo>
                <a:cubicBezTo>
                  <a:pt x="3359150" y="1296209"/>
                  <a:pt x="3325034" y="1330325"/>
                  <a:pt x="3282949" y="1330325"/>
                </a:cubicBezTo>
                <a:lnTo>
                  <a:pt x="76201" y="1330325"/>
                </a:lnTo>
                <a:cubicBezTo>
                  <a:pt x="34116" y="1330325"/>
                  <a:pt x="0" y="1296209"/>
                  <a:pt x="0" y="12541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w="8467">
            <a:solidFill>
              <a:srgbClr val="00D4AA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816" y="48863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32673" y="25680"/>
                </a:moveTo>
                <a:cubicBezTo>
                  <a:pt x="134652" y="23701"/>
                  <a:pt x="137960" y="24196"/>
                  <a:pt x="138950" y="26800"/>
                </a:cubicBezTo>
                <a:cubicBezTo>
                  <a:pt x="140721" y="31410"/>
                  <a:pt x="141684" y="36437"/>
                  <a:pt x="141684" y="41672"/>
                </a:cubicBezTo>
                <a:cubicBezTo>
                  <a:pt x="141684" y="64696"/>
                  <a:pt x="123036" y="83344"/>
                  <a:pt x="100013" y="83344"/>
                </a:cubicBezTo>
                <a:cubicBezTo>
                  <a:pt x="95455" y="83344"/>
                  <a:pt x="91053" y="82614"/>
                  <a:pt x="86938" y="81260"/>
                </a:cubicBezTo>
                <a:lnTo>
                  <a:pt x="38260" y="129938"/>
                </a:lnTo>
                <a:cubicBezTo>
                  <a:pt x="30941" y="137257"/>
                  <a:pt x="19065" y="137257"/>
                  <a:pt x="11746" y="129938"/>
                </a:cubicBezTo>
                <a:cubicBezTo>
                  <a:pt x="4428" y="122619"/>
                  <a:pt x="4428" y="110743"/>
                  <a:pt x="11746" y="103424"/>
                </a:cubicBezTo>
                <a:lnTo>
                  <a:pt x="60424" y="54746"/>
                </a:lnTo>
                <a:cubicBezTo>
                  <a:pt x="59070" y="50631"/>
                  <a:pt x="58341" y="46256"/>
                  <a:pt x="58341" y="41672"/>
                </a:cubicBezTo>
                <a:cubicBezTo>
                  <a:pt x="58341" y="18648"/>
                  <a:pt x="76989" y="0"/>
                  <a:pt x="100013" y="0"/>
                </a:cubicBezTo>
                <a:cubicBezTo>
                  <a:pt x="105248" y="0"/>
                  <a:pt x="110274" y="964"/>
                  <a:pt x="114884" y="2735"/>
                </a:cubicBezTo>
                <a:cubicBezTo>
                  <a:pt x="117489" y="3724"/>
                  <a:pt x="117957" y="7032"/>
                  <a:pt x="116004" y="9012"/>
                </a:cubicBezTo>
                <a:lnTo>
                  <a:pt x="92902" y="32113"/>
                </a:lnTo>
                <a:cubicBezTo>
                  <a:pt x="92121" y="32895"/>
                  <a:pt x="91678" y="33963"/>
                  <a:pt x="91678" y="35056"/>
                </a:cubicBezTo>
                <a:lnTo>
                  <a:pt x="91678" y="45839"/>
                </a:lnTo>
                <a:cubicBezTo>
                  <a:pt x="91678" y="48131"/>
                  <a:pt x="93553" y="50006"/>
                  <a:pt x="95845" y="50006"/>
                </a:cubicBezTo>
                <a:lnTo>
                  <a:pt x="106628" y="50006"/>
                </a:lnTo>
                <a:cubicBezTo>
                  <a:pt x="107722" y="50006"/>
                  <a:pt x="108790" y="49563"/>
                  <a:pt x="109571" y="48782"/>
                </a:cubicBezTo>
                <a:lnTo>
                  <a:pt x="132673" y="25680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5" name="Text 23"/>
          <p:cNvSpPr/>
          <p:nvPr/>
        </p:nvSpPr>
        <p:spPr>
          <a:xfrm>
            <a:off x="901700" y="4860927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Remediation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3100" y="5089527"/>
            <a:ext cx="3190875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Configure the server to suppress or genericize the Server header. Additionally, strongly prioritize an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urgent upgrade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 modern, actively maintained Tomcat release.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2450" y="6153150"/>
            <a:ext cx="904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51325" y="1152525"/>
            <a:ext cx="3686175" cy="5314950"/>
          </a:xfrm>
          <a:custGeom>
            <a:avLst/>
            <a:gdLst/>
            <a:ahLst/>
            <a:cxnLst/>
            <a:rect l="l" t="t" r="r" b="b"/>
            <a:pathLst>
              <a:path w="3686175" h="5314950">
                <a:moveTo>
                  <a:pt x="114308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5200642"/>
                </a:lnTo>
                <a:cubicBezTo>
                  <a:pt x="3686175" y="5263772"/>
                  <a:pt x="3634997" y="5314950"/>
                  <a:pt x="3571867" y="5314950"/>
                </a:cubicBezTo>
                <a:lnTo>
                  <a:pt x="114308" y="5314950"/>
                </a:lnTo>
                <a:cubicBezTo>
                  <a:pt x="51178" y="5314950"/>
                  <a:pt x="0" y="5263772"/>
                  <a:pt x="0" y="520064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>
                  <a:alpha val="20000"/>
                </a:srgbClr>
              </a:gs>
              <a:gs pos="100000">
                <a:srgbClr val="00D4AA">
                  <a:alpha val="10000"/>
                </a:srgbClr>
              </a:gs>
            </a:gsLst>
            <a:lin ang="2700000" scaled="1"/>
          </a:gradFill>
          <a:ln w="25400">
            <a:solidFill>
              <a:srgbClr val="00D4AA">
                <a:alpha val="5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13250" y="1314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0" name="Text 28"/>
          <p:cNvSpPr/>
          <p:nvPr/>
        </p:nvSpPr>
        <p:spPr>
          <a:xfrm>
            <a:off x="4500860" y="137160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08550" y="1321594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FINDING-06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08550" y="1473994"/>
            <a:ext cx="10763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HSTS Not Set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60741" y="1409700"/>
            <a:ext cx="419100" cy="190500"/>
          </a:xfrm>
          <a:custGeom>
            <a:avLst/>
            <a:gdLst/>
            <a:ahLst/>
            <a:cxnLst/>
            <a:rect l="l" t="t" r="r" b="b"/>
            <a:pathLst>
              <a:path w="419100" h="190500">
                <a:moveTo>
                  <a:pt x="95250" y="0"/>
                </a:moveTo>
                <a:lnTo>
                  <a:pt x="323850" y="0"/>
                </a:lnTo>
                <a:cubicBezTo>
                  <a:pt x="376420" y="0"/>
                  <a:pt x="419100" y="42680"/>
                  <a:pt x="419100" y="95250"/>
                </a:cubicBezTo>
                <a:lnTo>
                  <a:pt x="419100" y="95250"/>
                </a:lnTo>
                <a:cubicBezTo>
                  <a:pt x="419100" y="147820"/>
                  <a:pt x="376420" y="190500"/>
                  <a:pt x="3238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D4AA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360741" y="1409700"/>
            <a:ext cx="4762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13250" y="1771650"/>
            <a:ext cx="3362325" cy="895350"/>
          </a:xfrm>
          <a:custGeom>
            <a:avLst/>
            <a:gdLst/>
            <a:ahLst/>
            <a:cxnLst/>
            <a:rect l="l" t="t" r="r" b="b"/>
            <a:pathLst>
              <a:path w="3362325" h="895350">
                <a:moveTo>
                  <a:pt x="76203" y="0"/>
                </a:moveTo>
                <a:lnTo>
                  <a:pt x="3286122" y="0"/>
                </a:lnTo>
                <a:cubicBezTo>
                  <a:pt x="3328208" y="0"/>
                  <a:pt x="3362325" y="34117"/>
                  <a:pt x="3362325" y="76203"/>
                </a:cubicBezTo>
                <a:lnTo>
                  <a:pt x="3362325" y="819147"/>
                </a:lnTo>
                <a:cubicBezTo>
                  <a:pt x="3362325" y="861233"/>
                  <a:pt x="3328208" y="895350"/>
                  <a:pt x="3286122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546600" y="19113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7" name="Text 35"/>
          <p:cNvSpPr/>
          <p:nvPr/>
        </p:nvSpPr>
        <p:spPr>
          <a:xfrm>
            <a:off x="4756150" y="1885950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the issue?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27550" y="2114550"/>
            <a:ext cx="3200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application does not return an HTTP Strict-Transport-Security (HSTS) header.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16425" y="2779713"/>
            <a:ext cx="3359150" cy="2073275"/>
          </a:xfrm>
          <a:custGeom>
            <a:avLst/>
            <a:gdLst/>
            <a:ahLst/>
            <a:cxnLst/>
            <a:rect l="l" t="t" r="r" b="b"/>
            <a:pathLst>
              <a:path w="3359150" h="2073275">
                <a:moveTo>
                  <a:pt x="76193" y="0"/>
                </a:moveTo>
                <a:lnTo>
                  <a:pt x="3282957" y="0"/>
                </a:lnTo>
                <a:cubicBezTo>
                  <a:pt x="3325037" y="0"/>
                  <a:pt x="3359150" y="34113"/>
                  <a:pt x="3359150" y="76193"/>
                </a:cubicBezTo>
                <a:lnTo>
                  <a:pt x="3359150" y="1997082"/>
                </a:lnTo>
                <a:cubicBezTo>
                  <a:pt x="3359150" y="2039162"/>
                  <a:pt x="3325037" y="2073275"/>
                  <a:pt x="3282957" y="2073275"/>
                </a:cubicBezTo>
                <a:lnTo>
                  <a:pt x="76193" y="2073275"/>
                </a:lnTo>
                <a:cubicBezTo>
                  <a:pt x="34113" y="2073275"/>
                  <a:pt x="0" y="2039162"/>
                  <a:pt x="0" y="1997082"/>
                </a:cubicBezTo>
                <a:lnTo>
                  <a:pt x="0" y="76193"/>
                </a:lnTo>
                <a:cubicBezTo>
                  <a:pt x="0" y="34113"/>
                  <a:pt x="34113" y="0"/>
                  <a:pt x="76193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w="8467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52950" y="296941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1" name="Text 39"/>
          <p:cNvSpPr/>
          <p:nvPr/>
        </p:nvSpPr>
        <p:spPr>
          <a:xfrm>
            <a:off x="4762500" y="294402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33900" y="3172620"/>
            <a:ext cx="3190875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 though the site supports HTTPS, a user typing the URL may first connect via HTTP before being redirected. An attacker on a shared network (coffee shop, airport Wi-Fi) can intercept this initial unencrypted request and strip SSL encryption for the session (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SSL strip attack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), allowing them to eavesdrop on account credentials.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16425" y="4974434"/>
            <a:ext cx="3359150" cy="1101725"/>
          </a:xfrm>
          <a:custGeom>
            <a:avLst/>
            <a:gdLst/>
            <a:ahLst/>
            <a:cxnLst/>
            <a:rect l="l" t="t" r="r" b="b"/>
            <a:pathLst>
              <a:path w="3359150" h="1101725">
                <a:moveTo>
                  <a:pt x="76195" y="0"/>
                </a:moveTo>
                <a:lnTo>
                  <a:pt x="3282955" y="0"/>
                </a:lnTo>
                <a:cubicBezTo>
                  <a:pt x="3325036" y="0"/>
                  <a:pt x="3359150" y="34114"/>
                  <a:pt x="3359150" y="76195"/>
                </a:cubicBezTo>
                <a:lnTo>
                  <a:pt x="3359150" y="1025530"/>
                </a:lnTo>
                <a:cubicBezTo>
                  <a:pt x="3359150" y="1067611"/>
                  <a:pt x="3325036" y="1101725"/>
                  <a:pt x="3282955" y="1101725"/>
                </a:cubicBezTo>
                <a:lnTo>
                  <a:pt x="76195" y="1101725"/>
                </a:lnTo>
                <a:cubicBezTo>
                  <a:pt x="34114" y="1101725"/>
                  <a:pt x="0" y="1067611"/>
                  <a:pt x="0" y="10255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w="8467">
            <a:solidFill>
              <a:srgbClr val="00D4AA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44616" y="5117306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32673" y="25680"/>
                </a:moveTo>
                <a:cubicBezTo>
                  <a:pt x="134652" y="23701"/>
                  <a:pt x="137960" y="24196"/>
                  <a:pt x="138950" y="26800"/>
                </a:cubicBezTo>
                <a:cubicBezTo>
                  <a:pt x="140721" y="31410"/>
                  <a:pt x="141684" y="36437"/>
                  <a:pt x="141684" y="41672"/>
                </a:cubicBezTo>
                <a:cubicBezTo>
                  <a:pt x="141684" y="64696"/>
                  <a:pt x="123036" y="83344"/>
                  <a:pt x="100013" y="83344"/>
                </a:cubicBezTo>
                <a:cubicBezTo>
                  <a:pt x="95455" y="83344"/>
                  <a:pt x="91053" y="82614"/>
                  <a:pt x="86938" y="81260"/>
                </a:cubicBezTo>
                <a:lnTo>
                  <a:pt x="38260" y="129938"/>
                </a:lnTo>
                <a:cubicBezTo>
                  <a:pt x="30941" y="137257"/>
                  <a:pt x="19065" y="137257"/>
                  <a:pt x="11746" y="129938"/>
                </a:cubicBezTo>
                <a:cubicBezTo>
                  <a:pt x="4428" y="122619"/>
                  <a:pt x="4428" y="110743"/>
                  <a:pt x="11746" y="103424"/>
                </a:cubicBezTo>
                <a:lnTo>
                  <a:pt x="60424" y="54746"/>
                </a:lnTo>
                <a:cubicBezTo>
                  <a:pt x="59070" y="50631"/>
                  <a:pt x="58341" y="46256"/>
                  <a:pt x="58341" y="41672"/>
                </a:cubicBezTo>
                <a:cubicBezTo>
                  <a:pt x="58341" y="18648"/>
                  <a:pt x="76989" y="0"/>
                  <a:pt x="100013" y="0"/>
                </a:cubicBezTo>
                <a:cubicBezTo>
                  <a:pt x="105248" y="0"/>
                  <a:pt x="110274" y="964"/>
                  <a:pt x="114884" y="2735"/>
                </a:cubicBezTo>
                <a:cubicBezTo>
                  <a:pt x="117489" y="3724"/>
                  <a:pt x="117957" y="7032"/>
                  <a:pt x="116004" y="9012"/>
                </a:cubicBezTo>
                <a:lnTo>
                  <a:pt x="92902" y="32113"/>
                </a:lnTo>
                <a:cubicBezTo>
                  <a:pt x="92121" y="32895"/>
                  <a:pt x="91678" y="33963"/>
                  <a:pt x="91678" y="35056"/>
                </a:cubicBezTo>
                <a:lnTo>
                  <a:pt x="91678" y="45839"/>
                </a:lnTo>
                <a:cubicBezTo>
                  <a:pt x="91678" y="48131"/>
                  <a:pt x="93553" y="50006"/>
                  <a:pt x="95845" y="50006"/>
                </a:cubicBezTo>
                <a:lnTo>
                  <a:pt x="106628" y="50006"/>
                </a:lnTo>
                <a:cubicBezTo>
                  <a:pt x="107722" y="50006"/>
                  <a:pt x="108790" y="49563"/>
                  <a:pt x="109571" y="48782"/>
                </a:cubicBezTo>
                <a:lnTo>
                  <a:pt x="132673" y="25680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5" name="Text 43"/>
          <p:cNvSpPr/>
          <p:nvPr/>
        </p:nvSpPr>
        <p:spPr>
          <a:xfrm>
            <a:off x="4762500" y="5091908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Remediation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533900" y="5320508"/>
            <a:ext cx="3190875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Configure the web server to return: 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2E8F0">
                    <a:alpha val="90000"/>
                  </a:srgbClr>
                </a:solidFill>
                <a:highlight>
                  <a:srgbClr val="1A1D21">
                    <a:alpha val="7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Strict-Transport-Security: max-age=31536000; includeSubDomains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413250" y="6153150"/>
            <a:ext cx="904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112125" y="1152525"/>
            <a:ext cx="3686175" cy="5314950"/>
          </a:xfrm>
          <a:custGeom>
            <a:avLst/>
            <a:gdLst/>
            <a:ahLst/>
            <a:cxnLst/>
            <a:rect l="l" t="t" r="r" b="b"/>
            <a:pathLst>
              <a:path w="3686175" h="5314950">
                <a:moveTo>
                  <a:pt x="114308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5200642"/>
                </a:lnTo>
                <a:cubicBezTo>
                  <a:pt x="3686175" y="5263772"/>
                  <a:pt x="3634997" y="5314950"/>
                  <a:pt x="3571867" y="5314950"/>
                </a:cubicBezTo>
                <a:lnTo>
                  <a:pt x="114308" y="5314950"/>
                </a:lnTo>
                <a:cubicBezTo>
                  <a:pt x="51178" y="5314950"/>
                  <a:pt x="0" y="5263772"/>
                  <a:pt x="0" y="520064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>
                  <a:alpha val="20000"/>
                </a:srgbClr>
              </a:gs>
              <a:gs pos="100000">
                <a:srgbClr val="00D4AA">
                  <a:alpha val="10000"/>
                </a:srgbClr>
              </a:gs>
            </a:gsLst>
            <a:lin ang="2700000" scaled="1"/>
          </a:gradFill>
          <a:ln w="25400">
            <a:solidFill>
              <a:srgbClr val="00D4AA">
                <a:alpha val="5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74050" y="1414463"/>
            <a:ext cx="371475" cy="381000"/>
          </a:xfrm>
          <a:custGeom>
            <a:avLst/>
            <a:gdLst/>
            <a:ahLst/>
            <a:cxnLst/>
            <a:rect l="l" t="t" r="r" b="b"/>
            <a:pathLst>
              <a:path w="371475" h="381000">
                <a:moveTo>
                  <a:pt x="114299" y="0"/>
                </a:moveTo>
                <a:lnTo>
                  <a:pt x="257176" y="0"/>
                </a:lnTo>
                <a:cubicBezTo>
                  <a:pt x="320302" y="0"/>
                  <a:pt x="371475" y="51173"/>
                  <a:pt x="371475" y="114299"/>
                </a:cubicBezTo>
                <a:lnTo>
                  <a:pt x="371475" y="266701"/>
                </a:lnTo>
                <a:cubicBezTo>
                  <a:pt x="371475" y="329827"/>
                  <a:pt x="320302" y="381000"/>
                  <a:pt x="257176" y="381000"/>
                </a:cubicBezTo>
                <a:lnTo>
                  <a:pt x="114299" y="381000"/>
                </a:lnTo>
                <a:cubicBezTo>
                  <a:pt x="51173" y="381000"/>
                  <a:pt x="0" y="329827"/>
                  <a:pt x="0" y="2667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50" name="Text 48"/>
          <p:cNvSpPr/>
          <p:nvPr/>
        </p:nvSpPr>
        <p:spPr>
          <a:xfrm>
            <a:off x="8366522" y="1471613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763099" y="1314450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FINDING-07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763099" y="1466850"/>
            <a:ext cx="25431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X-Content-Type-Options Missing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221542" y="1509713"/>
            <a:ext cx="419100" cy="190500"/>
          </a:xfrm>
          <a:custGeom>
            <a:avLst/>
            <a:gdLst/>
            <a:ahLst/>
            <a:cxnLst/>
            <a:rect l="l" t="t" r="r" b="b"/>
            <a:pathLst>
              <a:path w="419100" h="190500">
                <a:moveTo>
                  <a:pt x="95250" y="0"/>
                </a:moveTo>
                <a:lnTo>
                  <a:pt x="323850" y="0"/>
                </a:lnTo>
                <a:cubicBezTo>
                  <a:pt x="376420" y="0"/>
                  <a:pt x="419100" y="42680"/>
                  <a:pt x="419100" y="95250"/>
                </a:cubicBezTo>
                <a:lnTo>
                  <a:pt x="419100" y="95250"/>
                </a:lnTo>
                <a:cubicBezTo>
                  <a:pt x="419100" y="147820"/>
                  <a:pt x="376420" y="190500"/>
                  <a:pt x="3238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D4AA">
              <a:alpha val="3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1221542" y="1509713"/>
            <a:ext cx="4762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74050" y="1971675"/>
            <a:ext cx="3362325" cy="895350"/>
          </a:xfrm>
          <a:custGeom>
            <a:avLst/>
            <a:gdLst/>
            <a:ahLst/>
            <a:cxnLst/>
            <a:rect l="l" t="t" r="r" b="b"/>
            <a:pathLst>
              <a:path w="3362325" h="895350">
                <a:moveTo>
                  <a:pt x="76203" y="0"/>
                </a:moveTo>
                <a:lnTo>
                  <a:pt x="3286122" y="0"/>
                </a:lnTo>
                <a:cubicBezTo>
                  <a:pt x="3328208" y="0"/>
                  <a:pt x="3362325" y="34117"/>
                  <a:pt x="3362325" y="76203"/>
                </a:cubicBezTo>
                <a:lnTo>
                  <a:pt x="3362325" y="819147"/>
                </a:lnTo>
                <a:cubicBezTo>
                  <a:pt x="3362325" y="861233"/>
                  <a:pt x="3328208" y="895350"/>
                  <a:pt x="3286122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07400" y="211137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57" name="Text 55"/>
          <p:cNvSpPr/>
          <p:nvPr/>
        </p:nvSpPr>
        <p:spPr>
          <a:xfrm>
            <a:off x="8616950" y="2085975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the issue?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88350" y="2314575"/>
            <a:ext cx="3200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X-Content-Type-Options header is absent from server responses.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277225" y="2979738"/>
            <a:ext cx="3359150" cy="2073275"/>
          </a:xfrm>
          <a:custGeom>
            <a:avLst/>
            <a:gdLst/>
            <a:ahLst/>
            <a:cxnLst/>
            <a:rect l="l" t="t" r="r" b="b"/>
            <a:pathLst>
              <a:path w="3359150" h="2073275">
                <a:moveTo>
                  <a:pt x="76193" y="0"/>
                </a:moveTo>
                <a:lnTo>
                  <a:pt x="3282957" y="0"/>
                </a:lnTo>
                <a:cubicBezTo>
                  <a:pt x="3325037" y="0"/>
                  <a:pt x="3359150" y="34113"/>
                  <a:pt x="3359150" y="76193"/>
                </a:cubicBezTo>
                <a:lnTo>
                  <a:pt x="3359150" y="1997082"/>
                </a:lnTo>
                <a:cubicBezTo>
                  <a:pt x="3359150" y="2039162"/>
                  <a:pt x="3325037" y="2073275"/>
                  <a:pt x="3282957" y="2073275"/>
                </a:cubicBezTo>
                <a:lnTo>
                  <a:pt x="76193" y="2073275"/>
                </a:lnTo>
                <a:cubicBezTo>
                  <a:pt x="34113" y="2073275"/>
                  <a:pt x="0" y="2039162"/>
                  <a:pt x="0" y="1997082"/>
                </a:cubicBezTo>
                <a:lnTo>
                  <a:pt x="0" y="76193"/>
                </a:lnTo>
                <a:cubicBezTo>
                  <a:pt x="0" y="34113"/>
                  <a:pt x="34113" y="0"/>
                  <a:pt x="76193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w="8467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13750" y="327898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61" name="Text 59"/>
          <p:cNvSpPr/>
          <p:nvPr/>
        </p:nvSpPr>
        <p:spPr>
          <a:xfrm>
            <a:off x="8623300" y="3253583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94700" y="3482183"/>
            <a:ext cx="3190875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this header, browsers may "sniff" the MIME type of content and interpret files differently than declared. An attacker who can upload a file (e.g., an image containing script code) could trick a browser into executing it as JavaScript, enabling an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XSS-style attack vector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277225" y="5176841"/>
            <a:ext cx="3359150" cy="901700"/>
          </a:xfrm>
          <a:custGeom>
            <a:avLst/>
            <a:gdLst/>
            <a:ahLst/>
            <a:cxnLst/>
            <a:rect l="l" t="t" r="r" b="b"/>
            <a:pathLst>
              <a:path w="3359150" h="901700">
                <a:moveTo>
                  <a:pt x="76203" y="0"/>
                </a:moveTo>
                <a:lnTo>
                  <a:pt x="3282947" y="0"/>
                </a:lnTo>
                <a:cubicBezTo>
                  <a:pt x="3325033" y="0"/>
                  <a:pt x="3359150" y="34117"/>
                  <a:pt x="3359150" y="76203"/>
                </a:cubicBezTo>
                <a:lnTo>
                  <a:pt x="3359150" y="825497"/>
                </a:lnTo>
                <a:cubicBezTo>
                  <a:pt x="3359150" y="867583"/>
                  <a:pt x="3325033" y="901700"/>
                  <a:pt x="3282947" y="901700"/>
                </a:cubicBezTo>
                <a:lnTo>
                  <a:pt x="76203" y="901700"/>
                </a:lnTo>
                <a:cubicBezTo>
                  <a:pt x="34117" y="901700"/>
                  <a:pt x="0" y="867583"/>
                  <a:pt x="0" y="825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w="8467">
            <a:solidFill>
              <a:srgbClr val="00D4AA">
                <a:alpha val="30196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05416" y="5319713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32673" y="25680"/>
                </a:moveTo>
                <a:cubicBezTo>
                  <a:pt x="134652" y="23701"/>
                  <a:pt x="137960" y="24196"/>
                  <a:pt x="138950" y="26800"/>
                </a:cubicBezTo>
                <a:cubicBezTo>
                  <a:pt x="140721" y="31410"/>
                  <a:pt x="141684" y="36437"/>
                  <a:pt x="141684" y="41672"/>
                </a:cubicBezTo>
                <a:cubicBezTo>
                  <a:pt x="141684" y="64696"/>
                  <a:pt x="123036" y="83344"/>
                  <a:pt x="100013" y="83344"/>
                </a:cubicBezTo>
                <a:cubicBezTo>
                  <a:pt x="95455" y="83344"/>
                  <a:pt x="91053" y="82614"/>
                  <a:pt x="86938" y="81260"/>
                </a:cubicBezTo>
                <a:lnTo>
                  <a:pt x="38260" y="129938"/>
                </a:lnTo>
                <a:cubicBezTo>
                  <a:pt x="30941" y="137257"/>
                  <a:pt x="19065" y="137257"/>
                  <a:pt x="11746" y="129938"/>
                </a:cubicBezTo>
                <a:cubicBezTo>
                  <a:pt x="4428" y="122619"/>
                  <a:pt x="4428" y="110743"/>
                  <a:pt x="11746" y="103424"/>
                </a:cubicBezTo>
                <a:lnTo>
                  <a:pt x="60424" y="54746"/>
                </a:lnTo>
                <a:cubicBezTo>
                  <a:pt x="59070" y="50631"/>
                  <a:pt x="58341" y="46256"/>
                  <a:pt x="58341" y="41672"/>
                </a:cubicBezTo>
                <a:cubicBezTo>
                  <a:pt x="58341" y="18648"/>
                  <a:pt x="76989" y="0"/>
                  <a:pt x="100013" y="0"/>
                </a:cubicBezTo>
                <a:cubicBezTo>
                  <a:pt x="105248" y="0"/>
                  <a:pt x="110274" y="964"/>
                  <a:pt x="114884" y="2735"/>
                </a:cubicBezTo>
                <a:cubicBezTo>
                  <a:pt x="117489" y="3724"/>
                  <a:pt x="117957" y="7032"/>
                  <a:pt x="116004" y="9012"/>
                </a:cubicBezTo>
                <a:lnTo>
                  <a:pt x="92902" y="32113"/>
                </a:lnTo>
                <a:cubicBezTo>
                  <a:pt x="92121" y="32895"/>
                  <a:pt x="91678" y="33963"/>
                  <a:pt x="91678" y="35056"/>
                </a:cubicBezTo>
                <a:lnTo>
                  <a:pt x="91678" y="45839"/>
                </a:lnTo>
                <a:cubicBezTo>
                  <a:pt x="91678" y="48131"/>
                  <a:pt x="93553" y="50006"/>
                  <a:pt x="95845" y="50006"/>
                </a:cubicBezTo>
                <a:lnTo>
                  <a:pt x="106628" y="50006"/>
                </a:lnTo>
                <a:cubicBezTo>
                  <a:pt x="107722" y="50006"/>
                  <a:pt x="108790" y="49563"/>
                  <a:pt x="109571" y="48782"/>
                </a:cubicBezTo>
                <a:lnTo>
                  <a:pt x="132673" y="25680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65" name="Text 63"/>
          <p:cNvSpPr/>
          <p:nvPr/>
        </p:nvSpPr>
        <p:spPr>
          <a:xfrm>
            <a:off x="8623300" y="5294314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Remediation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394700" y="5522914"/>
            <a:ext cx="31908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2E8F0">
                    <a:alpha val="90000"/>
                  </a:srgbClr>
                </a:solidFill>
                <a:highlight>
                  <a:srgbClr val="1A1D21">
                    <a:alpha val="7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X-Content-Type-Options: nosniff 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all server HTTP responses.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274050" y="6153150"/>
            <a:ext cx="1085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Medium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/>
              </a:gs>
              <a:gs pos="100000">
                <a:srgbClr val="4A5568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571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859" y="21431"/>
                </a:moveTo>
                <a:cubicBezTo>
                  <a:pt x="11921" y="21431"/>
                  <a:pt x="7144" y="26209"/>
                  <a:pt x="7144" y="32147"/>
                </a:cubicBezTo>
                <a:lnTo>
                  <a:pt x="7144" y="53578"/>
                </a:lnTo>
                <a:cubicBezTo>
                  <a:pt x="7144" y="59516"/>
                  <a:pt x="11921" y="64294"/>
                  <a:pt x="17859" y="64294"/>
                </a:cubicBezTo>
                <a:lnTo>
                  <a:pt x="39291" y="64294"/>
                </a:lnTo>
                <a:cubicBezTo>
                  <a:pt x="45229" y="64294"/>
                  <a:pt x="50006" y="59516"/>
                  <a:pt x="50006" y="53578"/>
                </a:cubicBezTo>
                <a:lnTo>
                  <a:pt x="50006" y="32147"/>
                </a:lnTo>
                <a:cubicBezTo>
                  <a:pt x="50006" y="26209"/>
                  <a:pt x="45229" y="21431"/>
                  <a:pt x="39291" y="21431"/>
                </a:cubicBezTo>
                <a:lnTo>
                  <a:pt x="17859" y="21431"/>
                </a:lnTo>
                <a:close/>
                <a:moveTo>
                  <a:pt x="85725" y="28575"/>
                </a:moveTo>
                <a:cubicBezTo>
                  <a:pt x="77822" y="28575"/>
                  <a:pt x="71438" y="34960"/>
                  <a:pt x="71438" y="42863"/>
                </a:cubicBezTo>
                <a:cubicBezTo>
                  <a:pt x="71438" y="50765"/>
                  <a:pt x="77822" y="57150"/>
                  <a:pt x="85725" y="57150"/>
                </a:cubicBezTo>
                <a:lnTo>
                  <a:pt x="214313" y="57150"/>
                </a:lnTo>
                <a:cubicBezTo>
                  <a:pt x="222215" y="57150"/>
                  <a:pt x="228600" y="50765"/>
                  <a:pt x="228600" y="42863"/>
                </a:cubicBezTo>
                <a:cubicBezTo>
                  <a:pt x="228600" y="34960"/>
                  <a:pt x="222215" y="28575"/>
                  <a:pt x="214313" y="28575"/>
                </a:cubicBezTo>
                <a:lnTo>
                  <a:pt x="85725" y="28575"/>
                </a:lnTo>
                <a:close/>
                <a:moveTo>
                  <a:pt x="85725" y="100013"/>
                </a:moveTo>
                <a:cubicBezTo>
                  <a:pt x="77822" y="100013"/>
                  <a:pt x="71438" y="106397"/>
                  <a:pt x="71438" y="114300"/>
                </a:cubicBezTo>
                <a:cubicBezTo>
                  <a:pt x="71438" y="122203"/>
                  <a:pt x="77822" y="128588"/>
                  <a:pt x="85725" y="128588"/>
                </a:cubicBezTo>
                <a:lnTo>
                  <a:pt x="214313" y="128588"/>
                </a:lnTo>
                <a:cubicBezTo>
                  <a:pt x="222215" y="128588"/>
                  <a:pt x="228600" y="122203"/>
                  <a:pt x="228600" y="114300"/>
                </a:cubicBezTo>
                <a:cubicBezTo>
                  <a:pt x="228600" y="106397"/>
                  <a:pt x="222215" y="100013"/>
                  <a:pt x="214313" y="100013"/>
                </a:cubicBezTo>
                <a:lnTo>
                  <a:pt x="85725" y="100013"/>
                </a:lnTo>
                <a:close/>
                <a:moveTo>
                  <a:pt x="85725" y="171450"/>
                </a:moveTo>
                <a:cubicBezTo>
                  <a:pt x="77822" y="171450"/>
                  <a:pt x="71438" y="177835"/>
                  <a:pt x="71438" y="185738"/>
                </a:cubicBezTo>
                <a:cubicBezTo>
                  <a:pt x="71438" y="193640"/>
                  <a:pt x="77822" y="200025"/>
                  <a:pt x="85725" y="200025"/>
                </a:cubicBez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ubicBezTo>
                  <a:pt x="228600" y="177835"/>
                  <a:pt x="222215" y="171450"/>
                  <a:pt x="214313" y="171450"/>
                </a:cubicBezTo>
                <a:lnTo>
                  <a:pt x="85725" y="171450"/>
                </a:lnTo>
                <a:close/>
                <a:moveTo>
                  <a:pt x="7144" y="103584"/>
                </a:moveTo>
                <a:lnTo>
                  <a:pt x="7144" y="125016"/>
                </a:lnTo>
                <a:cubicBezTo>
                  <a:pt x="7144" y="130954"/>
                  <a:pt x="11921" y="135731"/>
                  <a:pt x="17859" y="135731"/>
                </a:cubicBezTo>
                <a:lnTo>
                  <a:pt x="39291" y="135731"/>
                </a:lnTo>
                <a:cubicBezTo>
                  <a:pt x="45229" y="135731"/>
                  <a:pt x="50006" y="130954"/>
                  <a:pt x="50006" y="125016"/>
                </a:cubicBezTo>
                <a:lnTo>
                  <a:pt x="50006" y="103584"/>
                </a:lnTo>
                <a:cubicBezTo>
                  <a:pt x="50006" y="97646"/>
                  <a:pt x="45229" y="92869"/>
                  <a:pt x="39291" y="92869"/>
                </a:cubicBezTo>
                <a:lnTo>
                  <a:pt x="17859" y="92869"/>
                </a:lnTo>
                <a:cubicBezTo>
                  <a:pt x="11921" y="92869"/>
                  <a:pt x="7144" y="97646"/>
                  <a:pt x="7144" y="103584"/>
                </a:cubicBezTo>
                <a:close/>
                <a:moveTo>
                  <a:pt x="17859" y="164306"/>
                </a:moveTo>
                <a:cubicBezTo>
                  <a:pt x="11921" y="164306"/>
                  <a:pt x="7144" y="169084"/>
                  <a:pt x="7144" y="175022"/>
                </a:cubicBezTo>
                <a:lnTo>
                  <a:pt x="7144" y="196453"/>
                </a:lnTo>
                <a:cubicBezTo>
                  <a:pt x="7144" y="202391"/>
                  <a:pt x="11921" y="207169"/>
                  <a:pt x="17859" y="207169"/>
                </a:cubicBezTo>
                <a:lnTo>
                  <a:pt x="39291" y="207169"/>
                </a:lnTo>
                <a:cubicBezTo>
                  <a:pt x="45229" y="207169"/>
                  <a:pt x="50006" y="202391"/>
                  <a:pt x="50006" y="196453"/>
                </a:cubicBezTo>
                <a:lnTo>
                  <a:pt x="50006" y="175022"/>
                </a:lnTo>
                <a:cubicBezTo>
                  <a:pt x="50006" y="169084"/>
                  <a:pt x="45229" y="164306"/>
                  <a:pt x="39291" y="164306"/>
                </a:cubicBezTo>
                <a:lnTo>
                  <a:pt x="17859" y="164306"/>
                </a:lnTo>
                <a:close/>
              </a:path>
            </a:pathLst>
          </a:cu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608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09600"/>
            <a:ext cx="6181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Findings (Low/Informational)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146175"/>
            <a:ext cx="11426825" cy="4406900"/>
          </a:xfrm>
          <a:custGeom>
            <a:avLst/>
            <a:gdLst/>
            <a:ahLst/>
            <a:cxnLst/>
            <a:rect l="l" t="t" r="r" b="b"/>
            <a:pathLst>
              <a:path w="11426825" h="4406900">
                <a:moveTo>
                  <a:pt x="114315" y="0"/>
                </a:moveTo>
                <a:lnTo>
                  <a:pt x="11312510" y="0"/>
                </a:lnTo>
                <a:cubicBezTo>
                  <a:pt x="11375644" y="0"/>
                  <a:pt x="11426825" y="51181"/>
                  <a:pt x="11426825" y="114315"/>
                </a:cubicBezTo>
                <a:lnTo>
                  <a:pt x="11426825" y="4292585"/>
                </a:lnTo>
                <a:cubicBezTo>
                  <a:pt x="11426825" y="4355719"/>
                  <a:pt x="11375644" y="4406900"/>
                  <a:pt x="11312510" y="4406900"/>
                </a:cubicBezTo>
                <a:lnTo>
                  <a:pt x="114315" y="4406900"/>
                </a:lnTo>
                <a:cubicBezTo>
                  <a:pt x="51181" y="4406900"/>
                  <a:pt x="0" y="4355719"/>
                  <a:pt x="0" y="4292585"/>
                </a:cubicBezTo>
                <a:lnTo>
                  <a:pt x="0" y="114315"/>
                </a:lnTo>
                <a:cubicBezTo>
                  <a:pt x="0" y="51223"/>
                  <a:pt x="51223" y="0"/>
                  <a:pt x="11431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8800" y="1301753"/>
            <a:ext cx="5476875" cy="971550"/>
          </a:xfrm>
          <a:custGeom>
            <a:avLst/>
            <a:gdLst/>
            <a:ahLst/>
            <a:cxnLst/>
            <a:rect l="l" t="t" r="r" b="b"/>
            <a:pathLst>
              <a:path w="5476875" h="971550">
                <a:moveTo>
                  <a:pt x="38100" y="0"/>
                </a:moveTo>
                <a:lnTo>
                  <a:pt x="5400676" y="0"/>
                </a:lnTo>
                <a:cubicBezTo>
                  <a:pt x="5442760" y="0"/>
                  <a:pt x="5476875" y="34115"/>
                  <a:pt x="5476875" y="76199"/>
                </a:cubicBezTo>
                <a:lnTo>
                  <a:pt x="5476875" y="895351"/>
                </a:lnTo>
                <a:cubicBezTo>
                  <a:pt x="5476875" y="937435"/>
                  <a:pt x="5442760" y="971550"/>
                  <a:pt x="5400676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8800" y="1301753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9" name="Shape 7"/>
          <p:cNvSpPr/>
          <p:nvPr/>
        </p:nvSpPr>
        <p:spPr>
          <a:xfrm>
            <a:off x="692150" y="1416053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38101" y="0"/>
                </a:moveTo>
                <a:lnTo>
                  <a:pt x="228599" y="0"/>
                </a:lnTo>
                <a:cubicBezTo>
                  <a:pt x="249642" y="0"/>
                  <a:pt x="266700" y="17058"/>
                  <a:pt x="266700" y="38101"/>
                </a:cubicBezTo>
                <a:lnTo>
                  <a:pt x="266700" y="228599"/>
                </a:lnTo>
                <a:cubicBezTo>
                  <a:pt x="266700" y="249642"/>
                  <a:pt x="249642" y="266700"/>
                  <a:pt x="2285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D4AA">
              <a:alpha val="3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58813" y="1416053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5050" y="1435103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Cookie Without SameSite Attribute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58433" y="1454153"/>
            <a:ext cx="361950" cy="190500"/>
          </a:xfrm>
          <a:custGeom>
            <a:avLst/>
            <a:gdLst/>
            <a:ahLst/>
            <a:cxnLst/>
            <a:rect l="l" t="t" r="r" b="b"/>
            <a:pathLst>
              <a:path w="361950" h="190500">
                <a:moveTo>
                  <a:pt x="38100" y="0"/>
                </a:moveTo>
                <a:lnTo>
                  <a:pt x="323850" y="0"/>
                </a:lnTo>
                <a:cubicBezTo>
                  <a:pt x="344878" y="0"/>
                  <a:pt x="361950" y="17072"/>
                  <a:pt x="361950" y="38100"/>
                </a:cubicBezTo>
                <a:lnTo>
                  <a:pt x="361950" y="152400"/>
                </a:lnTo>
                <a:cubicBezTo>
                  <a:pt x="361950" y="173428"/>
                  <a:pt x="344878" y="190500"/>
                  <a:pt x="3238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4AA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558433" y="1454153"/>
            <a:ext cx="4191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2150" y="1720853"/>
            <a:ext cx="5295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cookie JSESSIONID lacks SameSite=Strict, enabling CSRF via cross-origin requests. Add SameSite=Strict to Set-Cookie.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8800" y="2344741"/>
            <a:ext cx="5476875" cy="971550"/>
          </a:xfrm>
          <a:custGeom>
            <a:avLst/>
            <a:gdLst/>
            <a:ahLst/>
            <a:cxnLst/>
            <a:rect l="l" t="t" r="r" b="b"/>
            <a:pathLst>
              <a:path w="5476875" h="971550">
                <a:moveTo>
                  <a:pt x="38100" y="0"/>
                </a:moveTo>
                <a:lnTo>
                  <a:pt x="5400676" y="0"/>
                </a:lnTo>
                <a:cubicBezTo>
                  <a:pt x="5442760" y="0"/>
                  <a:pt x="5476875" y="34115"/>
                  <a:pt x="5476875" y="76199"/>
                </a:cubicBezTo>
                <a:lnTo>
                  <a:pt x="5476875" y="895351"/>
                </a:lnTo>
                <a:cubicBezTo>
                  <a:pt x="5476875" y="937435"/>
                  <a:pt x="5442760" y="971550"/>
                  <a:pt x="5400676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58800" y="2344741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7" name="Shape 15"/>
          <p:cNvSpPr/>
          <p:nvPr/>
        </p:nvSpPr>
        <p:spPr>
          <a:xfrm>
            <a:off x="692150" y="2459041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38101" y="0"/>
                </a:moveTo>
                <a:lnTo>
                  <a:pt x="228599" y="0"/>
                </a:lnTo>
                <a:cubicBezTo>
                  <a:pt x="249642" y="0"/>
                  <a:pt x="266700" y="17058"/>
                  <a:pt x="266700" y="38101"/>
                </a:cubicBezTo>
                <a:lnTo>
                  <a:pt x="266700" y="228599"/>
                </a:lnTo>
                <a:cubicBezTo>
                  <a:pt x="266700" y="249642"/>
                  <a:pt x="249642" y="266700"/>
                  <a:pt x="2285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D4AA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58813" y="2459041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35050" y="2478091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Cross-Domain JS Inclusion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58433" y="2497141"/>
            <a:ext cx="361950" cy="190500"/>
          </a:xfrm>
          <a:custGeom>
            <a:avLst/>
            <a:gdLst/>
            <a:ahLst/>
            <a:cxnLst/>
            <a:rect l="l" t="t" r="r" b="b"/>
            <a:pathLst>
              <a:path w="361950" h="190500">
                <a:moveTo>
                  <a:pt x="38100" y="0"/>
                </a:moveTo>
                <a:lnTo>
                  <a:pt x="323850" y="0"/>
                </a:lnTo>
                <a:cubicBezTo>
                  <a:pt x="344878" y="0"/>
                  <a:pt x="361950" y="17072"/>
                  <a:pt x="361950" y="38100"/>
                </a:cubicBezTo>
                <a:lnTo>
                  <a:pt x="361950" y="152400"/>
                </a:lnTo>
                <a:cubicBezTo>
                  <a:pt x="361950" y="173428"/>
                  <a:pt x="344878" y="190500"/>
                  <a:pt x="3238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4AA">
              <a:alpha val="3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558433" y="2497141"/>
            <a:ext cx="4191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2150" y="2763841"/>
            <a:ext cx="5295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JavaScript files loaded from third-party domains. If those domains are compromised, attacker JS runs on the banking site. Review and self-host critical scripts.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8800" y="3387728"/>
            <a:ext cx="5476875" cy="971550"/>
          </a:xfrm>
          <a:custGeom>
            <a:avLst/>
            <a:gdLst/>
            <a:ahLst/>
            <a:cxnLst/>
            <a:rect l="l" t="t" r="r" b="b"/>
            <a:pathLst>
              <a:path w="5476875" h="971550">
                <a:moveTo>
                  <a:pt x="38100" y="0"/>
                </a:moveTo>
                <a:lnTo>
                  <a:pt x="5400676" y="0"/>
                </a:lnTo>
                <a:cubicBezTo>
                  <a:pt x="5442760" y="0"/>
                  <a:pt x="5476875" y="34115"/>
                  <a:pt x="5476875" y="76199"/>
                </a:cubicBezTo>
                <a:lnTo>
                  <a:pt x="5476875" y="895351"/>
                </a:lnTo>
                <a:cubicBezTo>
                  <a:pt x="5476875" y="937435"/>
                  <a:pt x="5442760" y="971550"/>
                  <a:pt x="5400676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58800" y="3387728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5" name="Shape 23"/>
          <p:cNvSpPr/>
          <p:nvPr/>
        </p:nvSpPr>
        <p:spPr>
          <a:xfrm>
            <a:off x="692150" y="3502028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38101" y="0"/>
                </a:moveTo>
                <a:lnTo>
                  <a:pt x="228599" y="0"/>
                </a:lnTo>
                <a:cubicBezTo>
                  <a:pt x="249642" y="0"/>
                  <a:pt x="266700" y="17058"/>
                  <a:pt x="266700" y="38101"/>
                </a:cubicBezTo>
                <a:lnTo>
                  <a:pt x="266700" y="228599"/>
                </a:lnTo>
                <a:cubicBezTo>
                  <a:pt x="266700" y="249642"/>
                  <a:pt x="249642" y="266700"/>
                  <a:pt x="2285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D4AA">
              <a:alpha val="3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8813" y="3502028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35050" y="352107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Pages with Mixed Content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58433" y="3540128"/>
            <a:ext cx="361950" cy="190500"/>
          </a:xfrm>
          <a:custGeom>
            <a:avLst/>
            <a:gdLst/>
            <a:ahLst/>
            <a:cxnLst/>
            <a:rect l="l" t="t" r="r" b="b"/>
            <a:pathLst>
              <a:path w="361950" h="190500">
                <a:moveTo>
                  <a:pt x="38100" y="0"/>
                </a:moveTo>
                <a:lnTo>
                  <a:pt x="323850" y="0"/>
                </a:lnTo>
                <a:cubicBezTo>
                  <a:pt x="344878" y="0"/>
                  <a:pt x="361950" y="17072"/>
                  <a:pt x="361950" y="38100"/>
                </a:cubicBezTo>
                <a:lnTo>
                  <a:pt x="361950" y="152400"/>
                </a:lnTo>
                <a:cubicBezTo>
                  <a:pt x="361950" y="173428"/>
                  <a:pt x="344878" y="190500"/>
                  <a:pt x="3238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4AA">
              <a:alpha val="3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558433" y="3540128"/>
            <a:ext cx="4191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2150" y="3806828"/>
            <a:ext cx="5295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 pages loading some resources over HTTP, weakening the security guarantee of HTTPS. Enforce HTTPS for all assets.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8800" y="4430716"/>
            <a:ext cx="5476875" cy="971550"/>
          </a:xfrm>
          <a:custGeom>
            <a:avLst/>
            <a:gdLst/>
            <a:ahLst/>
            <a:cxnLst/>
            <a:rect l="l" t="t" r="r" b="b"/>
            <a:pathLst>
              <a:path w="5476875" h="971550">
                <a:moveTo>
                  <a:pt x="38100" y="0"/>
                </a:moveTo>
                <a:lnTo>
                  <a:pt x="5400676" y="0"/>
                </a:lnTo>
                <a:cubicBezTo>
                  <a:pt x="5442760" y="0"/>
                  <a:pt x="5476875" y="34115"/>
                  <a:pt x="5476875" y="76199"/>
                </a:cubicBezTo>
                <a:lnTo>
                  <a:pt x="5476875" y="895351"/>
                </a:lnTo>
                <a:cubicBezTo>
                  <a:pt x="5476875" y="937435"/>
                  <a:pt x="5442760" y="971550"/>
                  <a:pt x="5400676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58800" y="4430716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3" name="Shape 31"/>
          <p:cNvSpPr/>
          <p:nvPr/>
        </p:nvSpPr>
        <p:spPr>
          <a:xfrm>
            <a:off x="692150" y="4545016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38101" y="0"/>
                </a:moveTo>
                <a:lnTo>
                  <a:pt x="228599" y="0"/>
                </a:lnTo>
                <a:cubicBezTo>
                  <a:pt x="249642" y="0"/>
                  <a:pt x="266700" y="17058"/>
                  <a:pt x="266700" y="38101"/>
                </a:cubicBezTo>
                <a:lnTo>
                  <a:pt x="266700" y="228599"/>
                </a:lnTo>
                <a:cubicBezTo>
                  <a:pt x="266700" y="249642"/>
                  <a:pt x="249642" y="266700"/>
                  <a:pt x="2285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58813" y="4545016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35050" y="4564066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Suspicious Comments in Source Code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580459" y="4583116"/>
            <a:ext cx="342900" cy="190500"/>
          </a:xfrm>
          <a:custGeom>
            <a:avLst/>
            <a:gdLst/>
            <a:ahLst/>
            <a:cxnLst/>
            <a:rect l="l" t="t" r="r" b="b"/>
            <a:pathLst>
              <a:path w="342900" h="190500">
                <a:moveTo>
                  <a:pt x="38100" y="0"/>
                </a:moveTo>
                <a:lnTo>
                  <a:pt x="304800" y="0"/>
                </a:lnTo>
                <a:cubicBezTo>
                  <a:pt x="325828" y="0"/>
                  <a:pt x="342900" y="17072"/>
                  <a:pt x="342900" y="38100"/>
                </a:cubicBezTo>
                <a:lnTo>
                  <a:pt x="342900" y="152400"/>
                </a:lnTo>
                <a:cubicBezTo>
                  <a:pt x="342900" y="173428"/>
                  <a:pt x="325828" y="190500"/>
                  <a:pt x="3048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580459" y="4583116"/>
            <a:ext cx="4000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2150" y="4849816"/>
            <a:ext cx="5295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 comments contain developer notes (e.g., keywords like TODO, internal paths). Strip all comments from production code.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72200" y="1301753"/>
            <a:ext cx="5476875" cy="971550"/>
          </a:xfrm>
          <a:custGeom>
            <a:avLst/>
            <a:gdLst/>
            <a:ahLst/>
            <a:cxnLst/>
            <a:rect l="l" t="t" r="r" b="b"/>
            <a:pathLst>
              <a:path w="5476875" h="971550">
                <a:moveTo>
                  <a:pt x="38100" y="0"/>
                </a:moveTo>
                <a:lnTo>
                  <a:pt x="5400676" y="0"/>
                </a:lnTo>
                <a:cubicBezTo>
                  <a:pt x="5442760" y="0"/>
                  <a:pt x="5476875" y="34115"/>
                  <a:pt x="5476875" y="76199"/>
                </a:cubicBezTo>
                <a:lnTo>
                  <a:pt x="5476875" y="895351"/>
                </a:lnTo>
                <a:cubicBezTo>
                  <a:pt x="5476875" y="937435"/>
                  <a:pt x="5442760" y="971550"/>
                  <a:pt x="5400676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172200" y="1301753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41" name="Shape 39"/>
          <p:cNvSpPr/>
          <p:nvPr/>
        </p:nvSpPr>
        <p:spPr>
          <a:xfrm>
            <a:off x="6305550" y="1416053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38101" y="0"/>
                </a:moveTo>
                <a:lnTo>
                  <a:pt x="228599" y="0"/>
                </a:lnTo>
                <a:cubicBezTo>
                  <a:pt x="249642" y="0"/>
                  <a:pt x="266700" y="17058"/>
                  <a:pt x="266700" y="38101"/>
                </a:cubicBezTo>
                <a:lnTo>
                  <a:pt x="266700" y="228599"/>
                </a:lnTo>
                <a:cubicBezTo>
                  <a:pt x="266700" y="249642"/>
                  <a:pt x="249642" y="266700"/>
                  <a:pt x="2285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272213" y="1416053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48450" y="1435103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Management Identified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193860" y="1454153"/>
            <a:ext cx="342900" cy="190500"/>
          </a:xfrm>
          <a:custGeom>
            <a:avLst/>
            <a:gdLst/>
            <a:ahLst/>
            <a:cxnLst/>
            <a:rect l="l" t="t" r="r" b="b"/>
            <a:pathLst>
              <a:path w="342900" h="190500">
                <a:moveTo>
                  <a:pt x="38100" y="0"/>
                </a:moveTo>
                <a:lnTo>
                  <a:pt x="304800" y="0"/>
                </a:lnTo>
                <a:cubicBezTo>
                  <a:pt x="325828" y="0"/>
                  <a:pt x="342900" y="17072"/>
                  <a:pt x="342900" y="38100"/>
                </a:cubicBezTo>
                <a:lnTo>
                  <a:pt x="342900" y="152400"/>
                </a:lnTo>
                <a:cubicBezTo>
                  <a:pt x="342900" y="173428"/>
                  <a:pt x="325828" y="190500"/>
                  <a:pt x="3048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1193860" y="1454153"/>
            <a:ext cx="4000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05550" y="1720853"/>
            <a:ext cx="5295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token (JSESSIONID) is visible and transmitted in cookies. Ensure token rotation on login/logout.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72200" y="2344741"/>
            <a:ext cx="5476875" cy="971550"/>
          </a:xfrm>
          <a:custGeom>
            <a:avLst/>
            <a:gdLst/>
            <a:ahLst/>
            <a:cxnLst/>
            <a:rect l="l" t="t" r="r" b="b"/>
            <a:pathLst>
              <a:path w="5476875" h="971550">
                <a:moveTo>
                  <a:pt x="38100" y="0"/>
                </a:moveTo>
                <a:lnTo>
                  <a:pt x="5400676" y="0"/>
                </a:lnTo>
                <a:cubicBezTo>
                  <a:pt x="5442760" y="0"/>
                  <a:pt x="5476875" y="34115"/>
                  <a:pt x="5476875" y="76199"/>
                </a:cubicBezTo>
                <a:lnTo>
                  <a:pt x="5476875" y="895351"/>
                </a:lnTo>
                <a:cubicBezTo>
                  <a:pt x="5476875" y="937435"/>
                  <a:pt x="5442760" y="971550"/>
                  <a:pt x="5400676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172200" y="2344741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49" name="Shape 47"/>
          <p:cNvSpPr/>
          <p:nvPr/>
        </p:nvSpPr>
        <p:spPr>
          <a:xfrm>
            <a:off x="6305550" y="2459041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38101" y="0"/>
                </a:moveTo>
                <a:lnTo>
                  <a:pt x="228599" y="0"/>
                </a:lnTo>
                <a:cubicBezTo>
                  <a:pt x="249642" y="0"/>
                  <a:pt x="266700" y="17058"/>
                  <a:pt x="266700" y="38101"/>
                </a:cubicBezTo>
                <a:lnTo>
                  <a:pt x="266700" y="228599"/>
                </a:lnTo>
                <a:cubicBezTo>
                  <a:pt x="266700" y="249642"/>
                  <a:pt x="249642" y="266700"/>
                  <a:pt x="2285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272213" y="2459041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648450" y="2478091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Cache-Control Issues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193860" y="2497141"/>
            <a:ext cx="342900" cy="190500"/>
          </a:xfrm>
          <a:custGeom>
            <a:avLst/>
            <a:gdLst/>
            <a:ahLst/>
            <a:cxnLst/>
            <a:rect l="l" t="t" r="r" b="b"/>
            <a:pathLst>
              <a:path w="342900" h="190500">
                <a:moveTo>
                  <a:pt x="38100" y="0"/>
                </a:moveTo>
                <a:lnTo>
                  <a:pt x="304800" y="0"/>
                </a:lnTo>
                <a:cubicBezTo>
                  <a:pt x="325828" y="0"/>
                  <a:pt x="342900" y="17072"/>
                  <a:pt x="342900" y="38100"/>
                </a:cubicBezTo>
                <a:lnTo>
                  <a:pt x="342900" y="152400"/>
                </a:lnTo>
                <a:cubicBezTo>
                  <a:pt x="342900" y="173428"/>
                  <a:pt x="325828" y="190500"/>
                  <a:pt x="3048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1193860" y="2497141"/>
            <a:ext cx="4000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05550" y="2763841"/>
            <a:ext cx="5295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Sensitive pages do not prevent caching, meaning browsers/proxies might cache banking page contents. Apply Cache-Control: no-store on authenticated pages.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72200" y="3387728"/>
            <a:ext cx="5476875" cy="971550"/>
          </a:xfrm>
          <a:custGeom>
            <a:avLst/>
            <a:gdLst/>
            <a:ahLst/>
            <a:cxnLst/>
            <a:rect l="l" t="t" r="r" b="b"/>
            <a:pathLst>
              <a:path w="5476875" h="971550">
                <a:moveTo>
                  <a:pt x="38100" y="0"/>
                </a:moveTo>
                <a:lnTo>
                  <a:pt x="5400676" y="0"/>
                </a:lnTo>
                <a:cubicBezTo>
                  <a:pt x="5442760" y="0"/>
                  <a:pt x="5476875" y="34115"/>
                  <a:pt x="5476875" y="76199"/>
                </a:cubicBezTo>
                <a:lnTo>
                  <a:pt x="5476875" y="895351"/>
                </a:lnTo>
                <a:cubicBezTo>
                  <a:pt x="5476875" y="937435"/>
                  <a:pt x="5442760" y="971550"/>
                  <a:pt x="5400676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172200" y="3387728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57" name="Shape 55"/>
          <p:cNvSpPr/>
          <p:nvPr/>
        </p:nvSpPr>
        <p:spPr>
          <a:xfrm>
            <a:off x="6305550" y="3502028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38101" y="0"/>
                </a:moveTo>
                <a:lnTo>
                  <a:pt x="228599" y="0"/>
                </a:lnTo>
                <a:cubicBezTo>
                  <a:pt x="249642" y="0"/>
                  <a:pt x="266700" y="17058"/>
                  <a:pt x="266700" y="38101"/>
                </a:cubicBezTo>
                <a:lnTo>
                  <a:pt x="266700" y="228599"/>
                </a:lnTo>
                <a:cubicBezTo>
                  <a:pt x="266700" y="249642"/>
                  <a:pt x="249642" y="266700"/>
                  <a:pt x="2285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272213" y="3502028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648450" y="3521078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Re-examine Cache-Control Directives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193860" y="3540128"/>
            <a:ext cx="342900" cy="190500"/>
          </a:xfrm>
          <a:custGeom>
            <a:avLst/>
            <a:gdLst/>
            <a:ahLst/>
            <a:cxnLst/>
            <a:rect l="l" t="t" r="r" b="b"/>
            <a:pathLst>
              <a:path w="342900" h="190500">
                <a:moveTo>
                  <a:pt x="38100" y="0"/>
                </a:moveTo>
                <a:lnTo>
                  <a:pt x="304800" y="0"/>
                </a:lnTo>
                <a:cubicBezTo>
                  <a:pt x="325828" y="0"/>
                  <a:pt x="342900" y="17072"/>
                  <a:pt x="342900" y="38100"/>
                </a:cubicBezTo>
                <a:lnTo>
                  <a:pt x="342900" y="152400"/>
                </a:lnTo>
                <a:cubicBezTo>
                  <a:pt x="342900" y="173428"/>
                  <a:pt x="325828" y="190500"/>
                  <a:pt x="3048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1193860" y="3540128"/>
            <a:ext cx="4000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05550" y="3806828"/>
            <a:ext cx="5295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Additional cache-control headers may need review to ensure sensitive data is not cached by intermediate proxies or browsers.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172200" y="4430716"/>
            <a:ext cx="5476875" cy="971550"/>
          </a:xfrm>
          <a:custGeom>
            <a:avLst/>
            <a:gdLst/>
            <a:ahLst/>
            <a:cxnLst/>
            <a:rect l="l" t="t" r="r" b="b"/>
            <a:pathLst>
              <a:path w="5476875" h="971550">
                <a:moveTo>
                  <a:pt x="38100" y="0"/>
                </a:moveTo>
                <a:lnTo>
                  <a:pt x="5400676" y="0"/>
                </a:lnTo>
                <a:cubicBezTo>
                  <a:pt x="5442760" y="0"/>
                  <a:pt x="5476875" y="34115"/>
                  <a:pt x="5476875" y="76199"/>
                </a:cubicBezTo>
                <a:lnTo>
                  <a:pt x="5476875" y="895351"/>
                </a:lnTo>
                <a:cubicBezTo>
                  <a:pt x="5476875" y="937435"/>
                  <a:pt x="5442760" y="971550"/>
                  <a:pt x="5400676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172200" y="4430716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65" name="Shape 63"/>
          <p:cNvSpPr/>
          <p:nvPr/>
        </p:nvSpPr>
        <p:spPr>
          <a:xfrm>
            <a:off x="6305550" y="4545016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38101" y="0"/>
                </a:moveTo>
                <a:lnTo>
                  <a:pt x="228599" y="0"/>
                </a:lnTo>
                <a:cubicBezTo>
                  <a:pt x="249642" y="0"/>
                  <a:pt x="266700" y="17058"/>
                  <a:pt x="266700" y="38101"/>
                </a:cubicBezTo>
                <a:lnTo>
                  <a:pt x="266700" y="228599"/>
                </a:lnTo>
                <a:cubicBezTo>
                  <a:pt x="266700" y="249642"/>
                  <a:pt x="249642" y="266700"/>
                  <a:pt x="2285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6272213" y="4545016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648450" y="4564066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Web Application Detection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1193860" y="4583116"/>
            <a:ext cx="342900" cy="190500"/>
          </a:xfrm>
          <a:custGeom>
            <a:avLst/>
            <a:gdLst/>
            <a:ahLst/>
            <a:cxnLst/>
            <a:rect l="l" t="t" r="r" b="b"/>
            <a:pathLst>
              <a:path w="342900" h="190500">
                <a:moveTo>
                  <a:pt x="38100" y="0"/>
                </a:moveTo>
                <a:lnTo>
                  <a:pt x="304800" y="0"/>
                </a:lnTo>
                <a:cubicBezTo>
                  <a:pt x="325828" y="0"/>
                  <a:pt x="342900" y="17072"/>
                  <a:pt x="342900" y="38100"/>
                </a:cubicBezTo>
                <a:lnTo>
                  <a:pt x="342900" y="152400"/>
                </a:lnTo>
                <a:cubicBezTo>
                  <a:pt x="342900" y="173428"/>
                  <a:pt x="325828" y="190500"/>
                  <a:pt x="3048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1193860" y="4583116"/>
            <a:ext cx="4000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305550" y="4849816"/>
            <a:ext cx="5295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ZAP informational alert confirming the app uses modern frameworks. No action required — this is a positive finding indicating the application is built with contemporary technologies.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84175" y="5673727"/>
            <a:ext cx="11426825" cy="692150"/>
          </a:xfrm>
          <a:custGeom>
            <a:avLst/>
            <a:gdLst/>
            <a:ahLst/>
            <a:cxnLst/>
            <a:rect l="l" t="t" r="r" b="b"/>
            <a:pathLst>
              <a:path w="11426825" h="692150">
                <a:moveTo>
                  <a:pt x="114302" y="0"/>
                </a:moveTo>
                <a:lnTo>
                  <a:pt x="11312523" y="0"/>
                </a:lnTo>
                <a:cubicBezTo>
                  <a:pt x="11375650" y="0"/>
                  <a:pt x="11426825" y="51175"/>
                  <a:pt x="11426825" y="114302"/>
                </a:cubicBezTo>
                <a:lnTo>
                  <a:pt x="11426825" y="577848"/>
                </a:lnTo>
                <a:cubicBezTo>
                  <a:pt x="11426825" y="640975"/>
                  <a:pt x="11375650" y="692150"/>
                  <a:pt x="11312523" y="692150"/>
                </a:cubicBezTo>
                <a:lnTo>
                  <a:pt x="114302" y="692150"/>
                </a:lnTo>
                <a:cubicBezTo>
                  <a:pt x="51175" y="692150"/>
                  <a:pt x="0" y="640975"/>
                  <a:pt x="0" y="57784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0" scaled="1"/>
          </a:gra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34988" y="59245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73" name="Text 71"/>
          <p:cNvSpPr/>
          <p:nvPr/>
        </p:nvSpPr>
        <p:spPr>
          <a:xfrm>
            <a:off x="825202" y="5791200"/>
            <a:ext cx="9886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findings, while lower in severity, still contribute to the overall attack surface and should be addressed as part of a comprehensive security hardening program.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10634067" y="5791200"/>
            <a:ext cx="495300" cy="457200"/>
          </a:xfrm>
          <a:custGeom>
            <a:avLst/>
            <a:gdLst/>
            <a:ahLst/>
            <a:cxnLst/>
            <a:rect l="l" t="t" r="r" b="b"/>
            <a:pathLst>
              <a:path w="495300" h="457200">
                <a:moveTo>
                  <a:pt x="76202" y="0"/>
                </a:moveTo>
                <a:lnTo>
                  <a:pt x="419098" y="0"/>
                </a:lnTo>
                <a:cubicBezTo>
                  <a:pt x="461183" y="0"/>
                  <a:pt x="495300" y="34117"/>
                  <a:pt x="495300" y="76202"/>
                </a:cubicBezTo>
                <a:lnTo>
                  <a:pt x="495300" y="380998"/>
                </a:lnTo>
                <a:cubicBezTo>
                  <a:pt x="495300" y="423083"/>
                  <a:pt x="461183" y="457200"/>
                  <a:pt x="4190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10634067" y="5791200"/>
            <a:ext cx="561975" cy="4572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Low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1207651" y="5791200"/>
            <a:ext cx="485775" cy="457200"/>
          </a:xfrm>
          <a:custGeom>
            <a:avLst/>
            <a:gdLst/>
            <a:ahLst/>
            <a:cxnLst/>
            <a:rect l="l" t="t" r="r" b="b"/>
            <a:pathLst>
              <a:path w="485775" h="457200">
                <a:moveTo>
                  <a:pt x="76202" y="0"/>
                </a:moveTo>
                <a:lnTo>
                  <a:pt x="409573" y="0"/>
                </a:lnTo>
                <a:cubicBezTo>
                  <a:pt x="451658" y="0"/>
                  <a:pt x="485775" y="34117"/>
                  <a:pt x="485775" y="76202"/>
                </a:cubicBezTo>
                <a:lnTo>
                  <a:pt x="485775" y="380998"/>
                </a:lnTo>
                <a:cubicBezTo>
                  <a:pt x="485775" y="423083"/>
                  <a:pt x="451658" y="457200"/>
                  <a:pt x="4095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11207651" y="5791200"/>
            <a:ext cx="552450" cy="4572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Info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54" y="377249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102888" y="0"/>
                </a:moveTo>
                <a:lnTo>
                  <a:pt x="377247" y="0"/>
                </a:lnTo>
                <a:cubicBezTo>
                  <a:pt x="434070" y="0"/>
                  <a:pt x="480135" y="46065"/>
                  <a:pt x="480135" y="102888"/>
                </a:cubicBezTo>
                <a:lnTo>
                  <a:pt x="480135" y="377247"/>
                </a:lnTo>
                <a:cubicBezTo>
                  <a:pt x="480135" y="434070"/>
                  <a:pt x="434070" y="480135"/>
                  <a:pt x="377247" y="480135"/>
                </a:cubicBezTo>
                <a:lnTo>
                  <a:pt x="102888" y="480135"/>
                </a:lnTo>
                <a:cubicBezTo>
                  <a:pt x="46065" y="480135"/>
                  <a:pt x="0" y="434070"/>
                  <a:pt x="0" y="377247"/>
                </a:cubicBezTo>
                <a:lnTo>
                  <a:pt x="0" y="102888"/>
                </a:lnTo>
                <a:cubicBezTo>
                  <a:pt x="0" y="46065"/>
                  <a:pt x="46065" y="0"/>
                  <a:pt x="102888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/>
              </a:gs>
              <a:gs pos="100000">
                <a:srgbClr val="00D4AA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480135" y="514430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3778" y="47665"/>
                </a:moveTo>
                <a:cubicBezTo>
                  <a:pt x="-1246" y="42641"/>
                  <a:pt x="-1246" y="34483"/>
                  <a:pt x="3778" y="29459"/>
                </a:cubicBezTo>
                <a:cubicBezTo>
                  <a:pt x="8802" y="24435"/>
                  <a:pt x="16960" y="24435"/>
                  <a:pt x="21984" y="29459"/>
                </a:cubicBezTo>
                <a:lnTo>
                  <a:pt x="86288" y="93763"/>
                </a:lnTo>
                <a:cubicBezTo>
                  <a:pt x="91311" y="98787"/>
                  <a:pt x="91311" y="106945"/>
                  <a:pt x="86288" y="111969"/>
                </a:cubicBezTo>
                <a:lnTo>
                  <a:pt x="21984" y="176273"/>
                </a:lnTo>
                <a:cubicBezTo>
                  <a:pt x="16960" y="181297"/>
                  <a:pt x="8802" y="181297"/>
                  <a:pt x="3778" y="176273"/>
                </a:cubicBezTo>
                <a:cubicBezTo>
                  <a:pt x="-1246" y="171249"/>
                  <a:pt x="-1246" y="163091"/>
                  <a:pt x="3778" y="158067"/>
                </a:cubicBezTo>
                <a:lnTo>
                  <a:pt x="58959" y="102886"/>
                </a:lnTo>
                <a:lnTo>
                  <a:pt x="3778" y="47665"/>
                </a:lnTo>
                <a:close/>
                <a:moveTo>
                  <a:pt x="90025" y="154329"/>
                </a:moveTo>
                <a:lnTo>
                  <a:pt x="192911" y="154329"/>
                </a:lnTo>
                <a:cubicBezTo>
                  <a:pt x="200025" y="154329"/>
                  <a:pt x="205772" y="160076"/>
                  <a:pt x="205772" y="167190"/>
                </a:cubicBezTo>
                <a:cubicBezTo>
                  <a:pt x="205772" y="174303"/>
                  <a:pt x="200025" y="180051"/>
                  <a:pt x="192911" y="180051"/>
                </a:cubicBezTo>
                <a:lnTo>
                  <a:pt x="90025" y="180051"/>
                </a:lnTo>
                <a:cubicBezTo>
                  <a:pt x="82912" y="180051"/>
                  <a:pt x="77165" y="174303"/>
                  <a:pt x="77165" y="167190"/>
                </a:cubicBezTo>
                <a:cubicBezTo>
                  <a:pt x="77165" y="160076"/>
                  <a:pt x="82912" y="154329"/>
                  <a:pt x="90025" y="15432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" name="Text 2"/>
          <p:cNvSpPr/>
          <p:nvPr/>
        </p:nvSpPr>
        <p:spPr>
          <a:xfrm>
            <a:off x="960270" y="342954"/>
            <a:ext cx="483564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spc="108" kern="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270" y="548726"/>
            <a:ext cx="4921384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Evidence — Scan Results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5812" y="1031719"/>
            <a:ext cx="5681598" cy="3032281"/>
          </a:xfrm>
          <a:custGeom>
            <a:avLst/>
            <a:gdLst/>
            <a:ahLst/>
            <a:cxnLst/>
            <a:rect l="l" t="t" r="r" b="b"/>
            <a:pathLst>
              <a:path w="5681598" h="3032281">
                <a:moveTo>
                  <a:pt x="102885" y="0"/>
                </a:moveTo>
                <a:lnTo>
                  <a:pt x="5578712" y="0"/>
                </a:lnTo>
                <a:cubicBezTo>
                  <a:pt x="5635534" y="0"/>
                  <a:pt x="5681598" y="46063"/>
                  <a:pt x="5681598" y="102885"/>
                </a:cubicBezTo>
                <a:lnTo>
                  <a:pt x="5681598" y="2929396"/>
                </a:lnTo>
                <a:cubicBezTo>
                  <a:pt x="5681598" y="2986218"/>
                  <a:pt x="5635534" y="3032281"/>
                  <a:pt x="5578712" y="3032281"/>
                </a:cubicBezTo>
                <a:lnTo>
                  <a:pt x="102885" y="3032281"/>
                </a:lnTo>
                <a:cubicBezTo>
                  <a:pt x="46063" y="3032281"/>
                  <a:pt x="0" y="2986218"/>
                  <a:pt x="0" y="2929396"/>
                </a:cubicBezTo>
                <a:lnTo>
                  <a:pt x="0" y="102885"/>
                </a:lnTo>
                <a:cubicBezTo>
                  <a:pt x="0" y="46063"/>
                  <a:pt x="46063" y="0"/>
                  <a:pt x="10288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6568" y="1206056"/>
            <a:ext cx="192911" cy="171477"/>
          </a:xfrm>
          <a:custGeom>
            <a:avLst/>
            <a:gdLst/>
            <a:ahLst/>
            <a:cxnLst/>
            <a:rect l="l" t="t" r="r" b="b"/>
            <a:pathLst>
              <a:path w="192911" h="171477">
                <a:moveTo>
                  <a:pt x="83059" y="29473"/>
                </a:moveTo>
                <a:lnTo>
                  <a:pt x="109852" y="29473"/>
                </a:lnTo>
                <a:lnTo>
                  <a:pt x="109852" y="45549"/>
                </a:lnTo>
                <a:lnTo>
                  <a:pt x="83059" y="45549"/>
                </a:lnTo>
                <a:lnTo>
                  <a:pt x="83059" y="29473"/>
                </a:lnTo>
                <a:close/>
                <a:moveTo>
                  <a:pt x="80380" y="10717"/>
                </a:moveTo>
                <a:cubicBezTo>
                  <a:pt x="71504" y="10717"/>
                  <a:pt x="64304" y="17918"/>
                  <a:pt x="64304" y="26793"/>
                </a:cubicBezTo>
                <a:lnTo>
                  <a:pt x="64304" y="48228"/>
                </a:lnTo>
                <a:cubicBezTo>
                  <a:pt x="64304" y="57103"/>
                  <a:pt x="71504" y="64304"/>
                  <a:pt x="80380" y="64304"/>
                </a:cubicBezTo>
                <a:lnTo>
                  <a:pt x="85738" y="64304"/>
                </a:lnTo>
                <a:lnTo>
                  <a:pt x="85738" y="75021"/>
                </a:lnTo>
                <a:lnTo>
                  <a:pt x="10717" y="75021"/>
                </a:lnTo>
                <a:cubicBezTo>
                  <a:pt x="4789" y="75021"/>
                  <a:pt x="0" y="79810"/>
                  <a:pt x="0" y="85738"/>
                </a:cubicBezTo>
                <a:cubicBezTo>
                  <a:pt x="0" y="91666"/>
                  <a:pt x="4789" y="96456"/>
                  <a:pt x="10717" y="96456"/>
                </a:cubicBezTo>
                <a:lnTo>
                  <a:pt x="42869" y="96456"/>
                </a:lnTo>
                <a:lnTo>
                  <a:pt x="42869" y="107173"/>
                </a:lnTo>
                <a:lnTo>
                  <a:pt x="37511" y="107173"/>
                </a:lnTo>
                <a:cubicBezTo>
                  <a:pt x="28635" y="107173"/>
                  <a:pt x="21435" y="114374"/>
                  <a:pt x="21435" y="123249"/>
                </a:cubicBezTo>
                <a:lnTo>
                  <a:pt x="21435" y="144684"/>
                </a:lnTo>
                <a:cubicBezTo>
                  <a:pt x="21435" y="153559"/>
                  <a:pt x="28635" y="160759"/>
                  <a:pt x="37511" y="160759"/>
                </a:cubicBezTo>
                <a:lnTo>
                  <a:pt x="69662" y="160759"/>
                </a:lnTo>
                <a:cubicBezTo>
                  <a:pt x="78538" y="160759"/>
                  <a:pt x="85738" y="153559"/>
                  <a:pt x="85738" y="144684"/>
                </a:cubicBezTo>
                <a:lnTo>
                  <a:pt x="85738" y="123249"/>
                </a:lnTo>
                <a:cubicBezTo>
                  <a:pt x="85738" y="114374"/>
                  <a:pt x="78538" y="107173"/>
                  <a:pt x="69662" y="107173"/>
                </a:cubicBezTo>
                <a:lnTo>
                  <a:pt x="64304" y="107173"/>
                </a:lnTo>
                <a:lnTo>
                  <a:pt x="64304" y="96456"/>
                </a:lnTo>
                <a:lnTo>
                  <a:pt x="128608" y="96456"/>
                </a:lnTo>
                <a:lnTo>
                  <a:pt x="128608" y="107173"/>
                </a:lnTo>
                <a:lnTo>
                  <a:pt x="123249" y="107173"/>
                </a:lnTo>
                <a:cubicBezTo>
                  <a:pt x="114374" y="107173"/>
                  <a:pt x="107173" y="114374"/>
                  <a:pt x="107173" y="123249"/>
                </a:cubicBezTo>
                <a:lnTo>
                  <a:pt x="107173" y="144684"/>
                </a:lnTo>
                <a:cubicBezTo>
                  <a:pt x="107173" y="153559"/>
                  <a:pt x="114374" y="160759"/>
                  <a:pt x="123249" y="160759"/>
                </a:cubicBezTo>
                <a:lnTo>
                  <a:pt x="155401" y="160759"/>
                </a:lnTo>
                <a:cubicBezTo>
                  <a:pt x="164276" y="160759"/>
                  <a:pt x="171477" y="153559"/>
                  <a:pt x="171477" y="144684"/>
                </a:cubicBezTo>
                <a:lnTo>
                  <a:pt x="171477" y="123249"/>
                </a:lnTo>
                <a:cubicBezTo>
                  <a:pt x="171477" y="114374"/>
                  <a:pt x="164276" y="107173"/>
                  <a:pt x="155401" y="107173"/>
                </a:cubicBezTo>
                <a:lnTo>
                  <a:pt x="150042" y="107173"/>
                </a:lnTo>
                <a:lnTo>
                  <a:pt x="150042" y="96456"/>
                </a:lnTo>
                <a:lnTo>
                  <a:pt x="182194" y="96456"/>
                </a:lnTo>
                <a:cubicBezTo>
                  <a:pt x="188122" y="96456"/>
                  <a:pt x="192911" y="91666"/>
                  <a:pt x="192911" y="85738"/>
                </a:cubicBezTo>
                <a:cubicBezTo>
                  <a:pt x="192911" y="79810"/>
                  <a:pt x="188122" y="75021"/>
                  <a:pt x="182194" y="75021"/>
                </a:cubicBezTo>
                <a:lnTo>
                  <a:pt x="107173" y="75021"/>
                </a:lnTo>
                <a:lnTo>
                  <a:pt x="107173" y="64304"/>
                </a:lnTo>
                <a:lnTo>
                  <a:pt x="112532" y="64304"/>
                </a:lnTo>
                <a:cubicBezTo>
                  <a:pt x="121407" y="64304"/>
                  <a:pt x="128608" y="57103"/>
                  <a:pt x="128608" y="48228"/>
                </a:cubicBezTo>
                <a:lnTo>
                  <a:pt x="128608" y="26793"/>
                </a:lnTo>
                <a:cubicBezTo>
                  <a:pt x="128608" y="17918"/>
                  <a:pt x="121407" y="10717"/>
                  <a:pt x="112532" y="10717"/>
                </a:cubicBezTo>
                <a:lnTo>
                  <a:pt x="80380" y="10717"/>
                </a:lnTo>
                <a:close/>
                <a:moveTo>
                  <a:pt x="150042" y="125928"/>
                </a:moveTo>
                <a:lnTo>
                  <a:pt x="152722" y="125928"/>
                </a:lnTo>
                <a:lnTo>
                  <a:pt x="152722" y="142004"/>
                </a:lnTo>
                <a:lnTo>
                  <a:pt x="125928" y="142004"/>
                </a:lnTo>
                <a:lnTo>
                  <a:pt x="125928" y="125928"/>
                </a:lnTo>
                <a:lnTo>
                  <a:pt x="150042" y="125928"/>
                </a:lnTo>
                <a:close/>
                <a:moveTo>
                  <a:pt x="64304" y="125928"/>
                </a:moveTo>
                <a:lnTo>
                  <a:pt x="66983" y="125928"/>
                </a:lnTo>
                <a:lnTo>
                  <a:pt x="66983" y="142004"/>
                </a:lnTo>
                <a:lnTo>
                  <a:pt x="40190" y="142004"/>
                </a:lnTo>
                <a:lnTo>
                  <a:pt x="40190" y="125928"/>
                </a:lnTo>
                <a:lnTo>
                  <a:pt x="64304" y="125928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700197" y="1171761"/>
            <a:ext cx="5272911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Nmap Port Scan Results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8709" y="1517572"/>
            <a:ext cx="5390087" cy="1240349"/>
          </a:xfrm>
          <a:custGeom>
            <a:avLst/>
            <a:gdLst/>
            <a:ahLst/>
            <a:cxnLst/>
            <a:rect l="l" t="t" r="r" b="b"/>
            <a:pathLst>
              <a:path w="5390087" h="1240349">
                <a:moveTo>
                  <a:pt x="68591" y="0"/>
                </a:moveTo>
                <a:lnTo>
                  <a:pt x="5321496" y="0"/>
                </a:lnTo>
                <a:cubicBezTo>
                  <a:pt x="5359378" y="0"/>
                  <a:pt x="5390087" y="30709"/>
                  <a:pt x="5390087" y="68591"/>
                </a:cubicBezTo>
                <a:lnTo>
                  <a:pt x="5390087" y="1171758"/>
                </a:lnTo>
                <a:cubicBezTo>
                  <a:pt x="5390087" y="1209639"/>
                  <a:pt x="5359378" y="1240349"/>
                  <a:pt x="5321496" y="1240349"/>
                </a:cubicBezTo>
                <a:lnTo>
                  <a:pt x="68591" y="1240349"/>
                </a:lnTo>
                <a:cubicBezTo>
                  <a:pt x="30709" y="1240349"/>
                  <a:pt x="0" y="1209639"/>
                  <a:pt x="0" y="1171758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1A1D21"/>
          </a:solidFill>
          <a:ln w="8467">
            <a:solidFill>
              <a:srgbClr val="00D4AA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453" y="1623315"/>
            <a:ext cx="523861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00D4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 nmap -sV -sC -T4 -O demo.testfire.net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453" y="1863383"/>
            <a:ext cx="523861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PORT STATE SERVICE VERSION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453" y="2069155"/>
            <a:ext cx="523861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00D4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80/tcp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open http 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FFA5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Tomcat/Coyote JSP engine 1.1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453" y="2274927"/>
            <a:ext cx="523861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00D4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443/tcp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open ssl/http 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FFA5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Tomcat/Coyote JSP engine 1.1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453" y="2480699"/>
            <a:ext cx="523861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00D4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8080/tcp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open http-proxy 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FF6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 proxy behavior detected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99" y="289795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725918" y="2863662"/>
            <a:ext cx="1937688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80 (HTTP):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Standard web traffic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99" y="3138025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725918" y="3103730"/>
            <a:ext cx="2306363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443 (HTTPS):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SSL/TLS encrypted traffic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99" y="337809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0"/>
                </a:moveTo>
                <a:cubicBezTo>
                  <a:pt x="72529" y="0"/>
                  <a:pt x="76146" y="2170"/>
                  <a:pt x="78022" y="5627"/>
                </a:cubicBezTo>
                <a:lnTo>
                  <a:pt x="135895" y="112800"/>
                </a:lnTo>
                <a:cubicBezTo>
                  <a:pt x="137691" y="116122"/>
                  <a:pt x="137610" y="120141"/>
                  <a:pt x="135681" y="123383"/>
                </a:cubicBezTo>
                <a:cubicBezTo>
                  <a:pt x="133752" y="126625"/>
                  <a:pt x="130242" y="128608"/>
                  <a:pt x="126464" y="128608"/>
                </a:cubicBezTo>
                <a:lnTo>
                  <a:pt x="10717" y="128608"/>
                </a:lnTo>
                <a:cubicBezTo>
                  <a:pt x="6939" y="128608"/>
                  <a:pt x="3456" y="126625"/>
                  <a:pt x="1500" y="123383"/>
                </a:cubicBezTo>
                <a:cubicBezTo>
                  <a:pt x="-455" y="120141"/>
                  <a:pt x="-509" y="116122"/>
                  <a:pt x="1286" y="112800"/>
                </a:cubicBezTo>
                <a:lnTo>
                  <a:pt x="59159" y="5627"/>
                </a:lnTo>
                <a:cubicBezTo>
                  <a:pt x="61035" y="2170"/>
                  <a:pt x="64652" y="0"/>
                  <a:pt x="68591" y="0"/>
                </a:cubicBezTo>
                <a:close/>
                <a:moveTo>
                  <a:pt x="68591" y="45013"/>
                </a:moveTo>
                <a:cubicBezTo>
                  <a:pt x="65027" y="45013"/>
                  <a:pt x="62160" y="47880"/>
                  <a:pt x="62160" y="51443"/>
                </a:cubicBezTo>
                <a:lnTo>
                  <a:pt x="62160" y="81451"/>
                </a:lnTo>
                <a:cubicBezTo>
                  <a:pt x="62160" y="85015"/>
                  <a:pt x="65027" y="87882"/>
                  <a:pt x="68591" y="87882"/>
                </a:cubicBezTo>
                <a:cubicBezTo>
                  <a:pt x="72154" y="87882"/>
                  <a:pt x="75021" y="85015"/>
                  <a:pt x="75021" y="81451"/>
                </a:cubicBezTo>
                <a:lnTo>
                  <a:pt x="75021" y="51443"/>
                </a:lnTo>
                <a:cubicBezTo>
                  <a:pt x="75021" y="47880"/>
                  <a:pt x="72154" y="45013"/>
                  <a:pt x="68591" y="45013"/>
                </a:cubicBezTo>
                <a:close/>
                <a:moveTo>
                  <a:pt x="75745" y="102886"/>
                </a:moveTo>
                <a:cubicBezTo>
                  <a:pt x="75907" y="100231"/>
                  <a:pt x="74583" y="97704"/>
                  <a:pt x="72307" y="96327"/>
                </a:cubicBezTo>
                <a:cubicBezTo>
                  <a:pt x="70030" y="94950"/>
                  <a:pt x="67178" y="94950"/>
                  <a:pt x="64902" y="96327"/>
                </a:cubicBezTo>
                <a:cubicBezTo>
                  <a:pt x="62625" y="97704"/>
                  <a:pt x="61301" y="100231"/>
                  <a:pt x="61464" y="102886"/>
                </a:cubicBezTo>
                <a:cubicBezTo>
                  <a:pt x="61301" y="105541"/>
                  <a:pt x="62625" y="108068"/>
                  <a:pt x="64902" y="109445"/>
                </a:cubicBezTo>
                <a:cubicBezTo>
                  <a:pt x="67178" y="110822"/>
                  <a:pt x="70030" y="110822"/>
                  <a:pt x="72307" y="109445"/>
                </a:cubicBezTo>
                <a:cubicBezTo>
                  <a:pt x="74583" y="108068"/>
                  <a:pt x="75907" y="105541"/>
                  <a:pt x="75745" y="102886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725918" y="3343797"/>
            <a:ext cx="3498127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8080: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Open proxy behavior detected — potential security risk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5812" y="4209758"/>
            <a:ext cx="5681598" cy="2303505"/>
          </a:xfrm>
          <a:custGeom>
            <a:avLst/>
            <a:gdLst/>
            <a:ahLst/>
            <a:cxnLst/>
            <a:rect l="l" t="t" r="r" b="b"/>
            <a:pathLst>
              <a:path w="5681598" h="2303505">
                <a:moveTo>
                  <a:pt x="102898" y="0"/>
                </a:moveTo>
                <a:lnTo>
                  <a:pt x="5578700" y="0"/>
                </a:lnTo>
                <a:cubicBezTo>
                  <a:pt x="5635529" y="0"/>
                  <a:pt x="5681598" y="46069"/>
                  <a:pt x="5681598" y="102898"/>
                </a:cubicBezTo>
                <a:lnTo>
                  <a:pt x="5681598" y="2200607"/>
                </a:lnTo>
                <a:cubicBezTo>
                  <a:pt x="5681598" y="2257436"/>
                  <a:pt x="5635529" y="2303505"/>
                  <a:pt x="5578700" y="2303505"/>
                </a:cubicBezTo>
                <a:lnTo>
                  <a:pt x="102898" y="2303505"/>
                </a:lnTo>
                <a:cubicBezTo>
                  <a:pt x="46069" y="2303505"/>
                  <a:pt x="0" y="2257436"/>
                  <a:pt x="0" y="2200607"/>
                </a:cubicBezTo>
                <a:lnTo>
                  <a:pt x="0" y="102898"/>
                </a:lnTo>
                <a:cubicBezTo>
                  <a:pt x="0" y="46107"/>
                  <a:pt x="46107" y="0"/>
                  <a:pt x="10289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286" y="4384091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16076" y="85738"/>
                </a:moveTo>
                <a:cubicBezTo>
                  <a:pt x="16076" y="47257"/>
                  <a:pt x="47257" y="16076"/>
                  <a:pt x="85738" y="16076"/>
                </a:cubicBezTo>
                <a:cubicBezTo>
                  <a:pt x="106872" y="16076"/>
                  <a:pt x="125794" y="25487"/>
                  <a:pt x="138588" y="40357"/>
                </a:cubicBezTo>
                <a:cubicBezTo>
                  <a:pt x="141468" y="43740"/>
                  <a:pt x="146559" y="44108"/>
                  <a:pt x="149908" y="41228"/>
                </a:cubicBezTo>
                <a:cubicBezTo>
                  <a:pt x="153257" y="38348"/>
                  <a:pt x="153659" y="33257"/>
                  <a:pt x="150779" y="29908"/>
                </a:cubicBezTo>
                <a:cubicBezTo>
                  <a:pt x="135071" y="11588"/>
                  <a:pt x="111761" y="0"/>
                  <a:pt x="85738" y="0"/>
                </a:cubicBezTo>
                <a:cubicBezTo>
                  <a:pt x="38381" y="0"/>
                  <a:pt x="0" y="38381"/>
                  <a:pt x="0" y="85738"/>
                </a:cubicBezTo>
                <a:lnTo>
                  <a:pt x="0" y="99135"/>
                </a:lnTo>
                <a:cubicBezTo>
                  <a:pt x="0" y="103589"/>
                  <a:pt x="3584" y="107173"/>
                  <a:pt x="8038" y="107173"/>
                </a:cubicBezTo>
                <a:cubicBezTo>
                  <a:pt x="12492" y="107173"/>
                  <a:pt x="16076" y="103589"/>
                  <a:pt x="16076" y="99135"/>
                </a:cubicBezTo>
                <a:lnTo>
                  <a:pt x="16076" y="85738"/>
                </a:lnTo>
                <a:close/>
                <a:moveTo>
                  <a:pt x="169635" y="68021"/>
                </a:moveTo>
                <a:cubicBezTo>
                  <a:pt x="168730" y="63667"/>
                  <a:pt x="164444" y="60888"/>
                  <a:pt x="160123" y="61825"/>
                </a:cubicBezTo>
                <a:cubicBezTo>
                  <a:pt x="155803" y="62763"/>
                  <a:pt x="152989" y="67017"/>
                  <a:pt x="153927" y="71337"/>
                </a:cubicBezTo>
                <a:cubicBezTo>
                  <a:pt x="154898" y="75992"/>
                  <a:pt x="155434" y="80815"/>
                  <a:pt x="155434" y="85772"/>
                </a:cubicBezTo>
                <a:lnTo>
                  <a:pt x="155434" y="99169"/>
                </a:lnTo>
                <a:cubicBezTo>
                  <a:pt x="155434" y="103623"/>
                  <a:pt x="159018" y="107206"/>
                  <a:pt x="163472" y="107206"/>
                </a:cubicBezTo>
                <a:cubicBezTo>
                  <a:pt x="167927" y="107206"/>
                  <a:pt x="171510" y="103623"/>
                  <a:pt x="171510" y="99169"/>
                </a:cubicBezTo>
                <a:lnTo>
                  <a:pt x="171510" y="85772"/>
                </a:lnTo>
                <a:cubicBezTo>
                  <a:pt x="171510" y="79710"/>
                  <a:pt x="170874" y="73782"/>
                  <a:pt x="169668" y="68055"/>
                </a:cubicBezTo>
                <a:close/>
                <a:moveTo>
                  <a:pt x="85738" y="26793"/>
                </a:moveTo>
                <a:cubicBezTo>
                  <a:pt x="79375" y="26793"/>
                  <a:pt x="73213" y="27798"/>
                  <a:pt x="67485" y="29674"/>
                </a:cubicBezTo>
                <a:cubicBezTo>
                  <a:pt x="62395" y="31348"/>
                  <a:pt x="61223" y="37611"/>
                  <a:pt x="64706" y="41697"/>
                </a:cubicBezTo>
                <a:cubicBezTo>
                  <a:pt x="67084" y="44477"/>
                  <a:pt x="71002" y="45314"/>
                  <a:pt x="74552" y="44343"/>
                </a:cubicBezTo>
                <a:cubicBezTo>
                  <a:pt x="78102" y="43372"/>
                  <a:pt x="81853" y="42869"/>
                  <a:pt x="85738" y="42869"/>
                </a:cubicBezTo>
                <a:cubicBezTo>
                  <a:pt x="109417" y="42869"/>
                  <a:pt x="128608" y="62060"/>
                  <a:pt x="128608" y="85738"/>
                </a:cubicBezTo>
                <a:lnTo>
                  <a:pt x="128608" y="94078"/>
                </a:lnTo>
                <a:cubicBezTo>
                  <a:pt x="128608" y="102518"/>
                  <a:pt x="128105" y="110924"/>
                  <a:pt x="127134" y="119297"/>
                </a:cubicBezTo>
                <a:cubicBezTo>
                  <a:pt x="126565" y="124187"/>
                  <a:pt x="130282" y="128608"/>
                  <a:pt x="135239" y="128608"/>
                </a:cubicBezTo>
                <a:cubicBezTo>
                  <a:pt x="139191" y="128608"/>
                  <a:pt x="142574" y="125727"/>
                  <a:pt x="143042" y="121809"/>
                </a:cubicBezTo>
                <a:cubicBezTo>
                  <a:pt x="144148" y="112632"/>
                  <a:pt x="144717" y="103388"/>
                  <a:pt x="144717" y="94111"/>
                </a:cubicBezTo>
                <a:lnTo>
                  <a:pt x="144717" y="85772"/>
                </a:lnTo>
                <a:cubicBezTo>
                  <a:pt x="144717" y="53218"/>
                  <a:pt x="118326" y="26827"/>
                  <a:pt x="85772" y="26827"/>
                </a:cubicBezTo>
                <a:close/>
                <a:moveTo>
                  <a:pt x="50472" y="49802"/>
                </a:moveTo>
                <a:cubicBezTo>
                  <a:pt x="47424" y="46252"/>
                  <a:pt x="41998" y="45984"/>
                  <a:pt x="39118" y="49668"/>
                </a:cubicBezTo>
                <a:cubicBezTo>
                  <a:pt x="31382" y="59648"/>
                  <a:pt x="26793" y="72141"/>
                  <a:pt x="26793" y="85738"/>
                </a:cubicBezTo>
                <a:lnTo>
                  <a:pt x="26793" y="94078"/>
                </a:lnTo>
                <a:cubicBezTo>
                  <a:pt x="26793" y="102183"/>
                  <a:pt x="25922" y="110288"/>
                  <a:pt x="24181" y="118158"/>
                </a:cubicBezTo>
                <a:cubicBezTo>
                  <a:pt x="23042" y="123383"/>
                  <a:pt x="26827" y="128574"/>
                  <a:pt x="32185" y="128574"/>
                </a:cubicBezTo>
                <a:cubicBezTo>
                  <a:pt x="35702" y="128574"/>
                  <a:pt x="38850" y="126230"/>
                  <a:pt x="39621" y="122780"/>
                </a:cubicBezTo>
                <a:cubicBezTo>
                  <a:pt x="41764" y="113369"/>
                  <a:pt x="42869" y="103757"/>
                  <a:pt x="42869" y="94044"/>
                </a:cubicBezTo>
                <a:lnTo>
                  <a:pt x="42869" y="85705"/>
                </a:lnTo>
                <a:cubicBezTo>
                  <a:pt x="42869" y="76595"/>
                  <a:pt x="45716" y="68155"/>
                  <a:pt x="50539" y="61223"/>
                </a:cubicBezTo>
                <a:cubicBezTo>
                  <a:pt x="52950" y="57739"/>
                  <a:pt x="53218" y="52984"/>
                  <a:pt x="50472" y="49768"/>
                </a:cubicBezTo>
                <a:close/>
                <a:moveTo>
                  <a:pt x="85738" y="53586"/>
                </a:moveTo>
                <a:cubicBezTo>
                  <a:pt x="67988" y="53586"/>
                  <a:pt x="53586" y="67988"/>
                  <a:pt x="53586" y="85738"/>
                </a:cubicBezTo>
                <a:lnTo>
                  <a:pt x="53586" y="94078"/>
                </a:lnTo>
                <a:cubicBezTo>
                  <a:pt x="53586" y="106101"/>
                  <a:pt x="52046" y="118024"/>
                  <a:pt x="48965" y="129612"/>
                </a:cubicBezTo>
                <a:cubicBezTo>
                  <a:pt x="47692" y="134402"/>
                  <a:pt x="51209" y="139325"/>
                  <a:pt x="56165" y="139325"/>
                </a:cubicBezTo>
                <a:cubicBezTo>
                  <a:pt x="59347" y="139325"/>
                  <a:pt x="62160" y="137248"/>
                  <a:pt x="62998" y="134167"/>
                </a:cubicBezTo>
                <a:cubicBezTo>
                  <a:pt x="66514" y="121105"/>
                  <a:pt x="68323" y="107642"/>
                  <a:pt x="68323" y="94078"/>
                </a:cubicBezTo>
                <a:lnTo>
                  <a:pt x="68323" y="85738"/>
                </a:lnTo>
                <a:cubicBezTo>
                  <a:pt x="68323" y="76126"/>
                  <a:pt x="76126" y="68323"/>
                  <a:pt x="85738" y="68323"/>
                </a:cubicBezTo>
                <a:cubicBezTo>
                  <a:pt x="95350" y="68323"/>
                  <a:pt x="103154" y="76126"/>
                  <a:pt x="103154" y="85738"/>
                </a:cubicBezTo>
                <a:lnTo>
                  <a:pt x="103154" y="94078"/>
                </a:lnTo>
                <a:cubicBezTo>
                  <a:pt x="103154" y="106235"/>
                  <a:pt x="101982" y="118326"/>
                  <a:pt x="99671" y="130215"/>
                </a:cubicBezTo>
                <a:cubicBezTo>
                  <a:pt x="98767" y="134871"/>
                  <a:pt x="102250" y="139325"/>
                  <a:pt x="106972" y="139325"/>
                </a:cubicBezTo>
                <a:cubicBezTo>
                  <a:pt x="110388" y="139325"/>
                  <a:pt x="113335" y="136980"/>
                  <a:pt x="114005" y="133631"/>
                </a:cubicBezTo>
                <a:cubicBezTo>
                  <a:pt x="116584" y="120637"/>
                  <a:pt x="117890" y="107407"/>
                  <a:pt x="117890" y="94078"/>
                </a:cubicBezTo>
                <a:lnTo>
                  <a:pt x="117890" y="85738"/>
                </a:lnTo>
                <a:cubicBezTo>
                  <a:pt x="117890" y="67988"/>
                  <a:pt x="103489" y="53586"/>
                  <a:pt x="85738" y="53586"/>
                </a:cubicBezTo>
                <a:close/>
                <a:moveTo>
                  <a:pt x="93776" y="85738"/>
                </a:moveTo>
                <a:cubicBezTo>
                  <a:pt x="93776" y="81284"/>
                  <a:pt x="90193" y="77700"/>
                  <a:pt x="85738" y="77700"/>
                </a:cubicBezTo>
                <a:cubicBezTo>
                  <a:pt x="81284" y="77700"/>
                  <a:pt x="77700" y="81284"/>
                  <a:pt x="77700" y="85738"/>
                </a:cubicBezTo>
                <a:lnTo>
                  <a:pt x="77700" y="94078"/>
                </a:lnTo>
                <a:cubicBezTo>
                  <a:pt x="77700" y="114139"/>
                  <a:pt x="74016" y="134033"/>
                  <a:pt x="66816" y="152755"/>
                </a:cubicBezTo>
                <a:lnTo>
                  <a:pt x="64840" y="157879"/>
                </a:lnTo>
                <a:cubicBezTo>
                  <a:pt x="63232" y="162032"/>
                  <a:pt x="65309" y="166688"/>
                  <a:pt x="69461" y="168262"/>
                </a:cubicBezTo>
                <a:cubicBezTo>
                  <a:pt x="73614" y="169836"/>
                  <a:pt x="78270" y="167793"/>
                  <a:pt x="79844" y="163640"/>
                </a:cubicBezTo>
                <a:lnTo>
                  <a:pt x="81820" y="158516"/>
                </a:lnTo>
                <a:cubicBezTo>
                  <a:pt x="89724" y="137952"/>
                  <a:pt x="93776" y="116115"/>
                  <a:pt x="93776" y="94078"/>
                </a:cubicBezTo>
                <a:lnTo>
                  <a:pt x="93776" y="85738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700197" y="4349796"/>
            <a:ext cx="5272911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 Identified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5851" y="4692750"/>
            <a:ext cx="2649316" cy="788793"/>
          </a:xfrm>
          <a:custGeom>
            <a:avLst/>
            <a:gdLst/>
            <a:ahLst/>
            <a:cxnLst/>
            <a:rect l="l" t="t" r="r" b="b"/>
            <a:pathLst>
              <a:path w="2649316" h="788793">
                <a:moveTo>
                  <a:pt x="68593" y="0"/>
                </a:moveTo>
                <a:lnTo>
                  <a:pt x="2580723" y="0"/>
                </a:lnTo>
                <a:cubicBezTo>
                  <a:pt x="2618606" y="0"/>
                  <a:pt x="2649316" y="30710"/>
                  <a:pt x="2649316" y="68593"/>
                </a:cubicBezTo>
                <a:lnTo>
                  <a:pt x="2649316" y="720200"/>
                </a:lnTo>
                <a:cubicBezTo>
                  <a:pt x="2649316" y="758083"/>
                  <a:pt x="2618606" y="788793"/>
                  <a:pt x="2580723" y="788793"/>
                </a:cubicBezTo>
                <a:lnTo>
                  <a:pt x="68593" y="788793"/>
                </a:lnTo>
                <a:cubicBezTo>
                  <a:pt x="30710" y="788793"/>
                  <a:pt x="0" y="758083"/>
                  <a:pt x="0" y="720200"/>
                </a:cubicBezTo>
                <a:lnTo>
                  <a:pt x="0" y="68593"/>
                </a:lnTo>
                <a:cubicBezTo>
                  <a:pt x="0" y="30710"/>
                  <a:pt x="30710" y="0"/>
                  <a:pt x="685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88737" y="4795636"/>
            <a:ext cx="250356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Server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8737" y="5001408"/>
            <a:ext cx="251213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Apache Tomcat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737" y="5207180"/>
            <a:ext cx="250356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Coyote JSP 1.1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37071" y="4692750"/>
            <a:ext cx="2649316" cy="788793"/>
          </a:xfrm>
          <a:custGeom>
            <a:avLst/>
            <a:gdLst/>
            <a:ahLst/>
            <a:cxnLst/>
            <a:rect l="l" t="t" r="r" b="b"/>
            <a:pathLst>
              <a:path w="2649316" h="788793">
                <a:moveTo>
                  <a:pt x="68593" y="0"/>
                </a:moveTo>
                <a:lnTo>
                  <a:pt x="2580723" y="0"/>
                </a:lnTo>
                <a:cubicBezTo>
                  <a:pt x="2618606" y="0"/>
                  <a:pt x="2649316" y="30710"/>
                  <a:pt x="2649316" y="68593"/>
                </a:cubicBezTo>
                <a:lnTo>
                  <a:pt x="2649316" y="720200"/>
                </a:lnTo>
                <a:cubicBezTo>
                  <a:pt x="2649316" y="758083"/>
                  <a:pt x="2618606" y="788793"/>
                  <a:pt x="2580723" y="788793"/>
                </a:cubicBezTo>
                <a:lnTo>
                  <a:pt x="68593" y="788793"/>
                </a:lnTo>
                <a:cubicBezTo>
                  <a:pt x="30710" y="788793"/>
                  <a:pt x="0" y="758083"/>
                  <a:pt x="0" y="720200"/>
                </a:cubicBezTo>
                <a:lnTo>
                  <a:pt x="0" y="68593"/>
                </a:lnTo>
                <a:cubicBezTo>
                  <a:pt x="0" y="30710"/>
                  <a:pt x="30710" y="0"/>
                  <a:pt x="685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339957" y="4795636"/>
            <a:ext cx="250356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39957" y="5001408"/>
            <a:ext cx="251213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Java/JSP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339957" y="5207180"/>
            <a:ext cx="250356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Legacy Architecture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5851" y="5584429"/>
            <a:ext cx="2649316" cy="788793"/>
          </a:xfrm>
          <a:custGeom>
            <a:avLst/>
            <a:gdLst/>
            <a:ahLst/>
            <a:cxnLst/>
            <a:rect l="l" t="t" r="r" b="b"/>
            <a:pathLst>
              <a:path w="2649316" h="788793">
                <a:moveTo>
                  <a:pt x="68593" y="0"/>
                </a:moveTo>
                <a:lnTo>
                  <a:pt x="2580723" y="0"/>
                </a:lnTo>
                <a:cubicBezTo>
                  <a:pt x="2618606" y="0"/>
                  <a:pt x="2649316" y="30710"/>
                  <a:pt x="2649316" y="68593"/>
                </a:cubicBezTo>
                <a:lnTo>
                  <a:pt x="2649316" y="720200"/>
                </a:lnTo>
                <a:cubicBezTo>
                  <a:pt x="2649316" y="758083"/>
                  <a:pt x="2618606" y="788793"/>
                  <a:pt x="2580723" y="788793"/>
                </a:cubicBezTo>
                <a:lnTo>
                  <a:pt x="68593" y="788793"/>
                </a:lnTo>
                <a:cubicBezTo>
                  <a:pt x="30710" y="788793"/>
                  <a:pt x="0" y="758083"/>
                  <a:pt x="0" y="720200"/>
                </a:cubicBezTo>
                <a:lnTo>
                  <a:pt x="0" y="68593"/>
                </a:lnTo>
                <a:cubicBezTo>
                  <a:pt x="0" y="30710"/>
                  <a:pt x="30710" y="0"/>
                  <a:pt x="685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88737" y="5687315"/>
            <a:ext cx="250356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Cookie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8737" y="5893087"/>
            <a:ext cx="251213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JSESSIONID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88737" y="6098859"/>
            <a:ext cx="250356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SameSite attr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37071" y="5584429"/>
            <a:ext cx="2649316" cy="788793"/>
          </a:xfrm>
          <a:custGeom>
            <a:avLst/>
            <a:gdLst/>
            <a:ahLst/>
            <a:cxnLst/>
            <a:rect l="l" t="t" r="r" b="b"/>
            <a:pathLst>
              <a:path w="2649316" h="788793">
                <a:moveTo>
                  <a:pt x="68593" y="0"/>
                </a:moveTo>
                <a:lnTo>
                  <a:pt x="2580723" y="0"/>
                </a:lnTo>
                <a:cubicBezTo>
                  <a:pt x="2618606" y="0"/>
                  <a:pt x="2649316" y="30710"/>
                  <a:pt x="2649316" y="68593"/>
                </a:cubicBezTo>
                <a:lnTo>
                  <a:pt x="2649316" y="720200"/>
                </a:lnTo>
                <a:cubicBezTo>
                  <a:pt x="2649316" y="758083"/>
                  <a:pt x="2618606" y="788793"/>
                  <a:pt x="2580723" y="788793"/>
                </a:cubicBezTo>
                <a:lnTo>
                  <a:pt x="68593" y="788793"/>
                </a:lnTo>
                <a:cubicBezTo>
                  <a:pt x="30710" y="788793"/>
                  <a:pt x="0" y="758083"/>
                  <a:pt x="0" y="720200"/>
                </a:cubicBezTo>
                <a:lnTo>
                  <a:pt x="0" y="68593"/>
                </a:lnTo>
                <a:cubicBezTo>
                  <a:pt x="0" y="30710"/>
                  <a:pt x="30710" y="0"/>
                  <a:pt x="685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339957" y="5687315"/>
            <a:ext cx="250356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Age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339957" y="5893087"/>
            <a:ext cx="251213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15+ Years Old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339957" y="6098859"/>
            <a:ext cx="250356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68342" y="1031719"/>
            <a:ext cx="5681598" cy="3478121"/>
          </a:xfrm>
          <a:custGeom>
            <a:avLst/>
            <a:gdLst/>
            <a:ahLst/>
            <a:cxnLst/>
            <a:rect l="l" t="t" r="r" b="b"/>
            <a:pathLst>
              <a:path w="5681598" h="3478121">
                <a:moveTo>
                  <a:pt x="102883" y="0"/>
                </a:moveTo>
                <a:lnTo>
                  <a:pt x="5578715" y="0"/>
                </a:lnTo>
                <a:cubicBezTo>
                  <a:pt x="5635536" y="0"/>
                  <a:pt x="5681598" y="46062"/>
                  <a:pt x="5681598" y="102883"/>
                </a:cubicBezTo>
                <a:lnTo>
                  <a:pt x="5681598" y="3375238"/>
                </a:lnTo>
                <a:cubicBezTo>
                  <a:pt x="5681598" y="3432059"/>
                  <a:pt x="5635536" y="3478121"/>
                  <a:pt x="5578715" y="3478121"/>
                </a:cubicBezTo>
                <a:lnTo>
                  <a:pt x="102883" y="3478121"/>
                </a:lnTo>
                <a:cubicBezTo>
                  <a:pt x="46062" y="3478121"/>
                  <a:pt x="0" y="3432059"/>
                  <a:pt x="0" y="3375238"/>
                </a:cubicBezTo>
                <a:lnTo>
                  <a:pt x="0" y="102883"/>
                </a:lnTo>
                <a:cubicBezTo>
                  <a:pt x="0" y="46100"/>
                  <a:pt x="46100" y="0"/>
                  <a:pt x="10288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19099" y="1206056"/>
            <a:ext cx="192911" cy="171477"/>
          </a:xfrm>
          <a:custGeom>
            <a:avLst/>
            <a:gdLst/>
            <a:ahLst/>
            <a:cxnLst/>
            <a:rect l="l" t="t" r="r" b="b"/>
            <a:pathLst>
              <a:path w="192911" h="171477">
                <a:moveTo>
                  <a:pt x="64304" y="32152"/>
                </a:moveTo>
                <a:cubicBezTo>
                  <a:pt x="64304" y="14401"/>
                  <a:pt x="78705" y="0"/>
                  <a:pt x="96456" y="0"/>
                </a:cubicBezTo>
                <a:cubicBezTo>
                  <a:pt x="114206" y="0"/>
                  <a:pt x="128608" y="14401"/>
                  <a:pt x="128608" y="32152"/>
                </a:cubicBezTo>
                <a:lnTo>
                  <a:pt x="128608" y="33358"/>
                </a:lnTo>
                <a:cubicBezTo>
                  <a:pt x="128608" y="38616"/>
                  <a:pt x="124354" y="42869"/>
                  <a:pt x="119096" y="42869"/>
                </a:cubicBezTo>
                <a:lnTo>
                  <a:pt x="73849" y="42869"/>
                </a:lnTo>
                <a:cubicBezTo>
                  <a:pt x="68591" y="42869"/>
                  <a:pt x="64337" y="38616"/>
                  <a:pt x="64337" y="33358"/>
                </a:cubicBezTo>
                <a:lnTo>
                  <a:pt x="64337" y="32152"/>
                </a:lnTo>
                <a:close/>
                <a:moveTo>
                  <a:pt x="180051" y="36439"/>
                </a:moveTo>
                <a:cubicBezTo>
                  <a:pt x="183601" y="41161"/>
                  <a:pt x="182629" y="47893"/>
                  <a:pt x="177907" y="51443"/>
                </a:cubicBezTo>
                <a:lnTo>
                  <a:pt x="145152" y="75992"/>
                </a:lnTo>
                <a:cubicBezTo>
                  <a:pt x="146927" y="78973"/>
                  <a:pt x="148267" y="82255"/>
                  <a:pt x="149104" y="85738"/>
                </a:cubicBezTo>
                <a:lnTo>
                  <a:pt x="182194" y="85738"/>
                </a:lnTo>
                <a:cubicBezTo>
                  <a:pt x="188122" y="85738"/>
                  <a:pt x="192911" y="90528"/>
                  <a:pt x="192911" y="96456"/>
                </a:cubicBezTo>
                <a:cubicBezTo>
                  <a:pt x="192911" y="102384"/>
                  <a:pt x="188122" y="107173"/>
                  <a:pt x="182194" y="107173"/>
                </a:cubicBezTo>
                <a:lnTo>
                  <a:pt x="150042" y="107173"/>
                </a:lnTo>
                <a:lnTo>
                  <a:pt x="150042" y="117890"/>
                </a:lnTo>
                <a:cubicBezTo>
                  <a:pt x="150042" y="118761"/>
                  <a:pt x="150009" y="119665"/>
                  <a:pt x="149975" y="120536"/>
                </a:cubicBezTo>
                <a:lnTo>
                  <a:pt x="177907" y="141468"/>
                </a:lnTo>
                <a:cubicBezTo>
                  <a:pt x="182629" y="145018"/>
                  <a:pt x="183601" y="151750"/>
                  <a:pt x="180051" y="156473"/>
                </a:cubicBezTo>
                <a:cubicBezTo>
                  <a:pt x="176501" y="161195"/>
                  <a:pt x="169769" y="162166"/>
                  <a:pt x="165046" y="158616"/>
                </a:cubicBezTo>
                <a:lnTo>
                  <a:pt x="143913" y="142775"/>
                </a:lnTo>
                <a:cubicBezTo>
                  <a:pt x="136143" y="157578"/>
                  <a:pt x="121641" y="168295"/>
                  <a:pt x="104494" y="170874"/>
                </a:cubicBezTo>
                <a:lnTo>
                  <a:pt x="104494" y="93776"/>
                </a:lnTo>
                <a:cubicBezTo>
                  <a:pt x="104494" y="89322"/>
                  <a:pt x="100910" y="85738"/>
                  <a:pt x="96456" y="85738"/>
                </a:cubicBezTo>
                <a:cubicBezTo>
                  <a:pt x="92001" y="85738"/>
                  <a:pt x="88418" y="89322"/>
                  <a:pt x="88418" y="93776"/>
                </a:cubicBezTo>
                <a:lnTo>
                  <a:pt x="88418" y="170874"/>
                </a:lnTo>
                <a:cubicBezTo>
                  <a:pt x="71270" y="168295"/>
                  <a:pt x="56768" y="157578"/>
                  <a:pt x="48998" y="142775"/>
                </a:cubicBezTo>
                <a:lnTo>
                  <a:pt x="27865" y="158616"/>
                </a:lnTo>
                <a:cubicBezTo>
                  <a:pt x="23143" y="162166"/>
                  <a:pt x="16411" y="161195"/>
                  <a:pt x="12861" y="156473"/>
                </a:cubicBezTo>
                <a:cubicBezTo>
                  <a:pt x="9311" y="151750"/>
                  <a:pt x="10282" y="145018"/>
                  <a:pt x="15004" y="141468"/>
                </a:cubicBezTo>
                <a:lnTo>
                  <a:pt x="42936" y="120536"/>
                </a:lnTo>
                <a:cubicBezTo>
                  <a:pt x="42903" y="119665"/>
                  <a:pt x="42869" y="118795"/>
                  <a:pt x="42869" y="117890"/>
                </a:cubicBezTo>
                <a:lnTo>
                  <a:pt x="42869" y="107173"/>
                </a:lnTo>
                <a:lnTo>
                  <a:pt x="10717" y="107173"/>
                </a:lnTo>
                <a:cubicBezTo>
                  <a:pt x="4789" y="107173"/>
                  <a:pt x="0" y="102384"/>
                  <a:pt x="0" y="96456"/>
                </a:cubicBezTo>
                <a:cubicBezTo>
                  <a:pt x="0" y="90528"/>
                  <a:pt x="4789" y="85738"/>
                  <a:pt x="10717" y="85738"/>
                </a:cubicBezTo>
                <a:lnTo>
                  <a:pt x="43807" y="85738"/>
                </a:lnTo>
                <a:cubicBezTo>
                  <a:pt x="44644" y="82255"/>
                  <a:pt x="45984" y="78973"/>
                  <a:pt x="47759" y="75992"/>
                </a:cubicBezTo>
                <a:lnTo>
                  <a:pt x="15004" y="51443"/>
                </a:lnTo>
                <a:cubicBezTo>
                  <a:pt x="10282" y="47893"/>
                  <a:pt x="9311" y="41161"/>
                  <a:pt x="12861" y="36439"/>
                </a:cubicBezTo>
                <a:cubicBezTo>
                  <a:pt x="16411" y="31717"/>
                  <a:pt x="23143" y="30745"/>
                  <a:pt x="27865" y="34295"/>
                </a:cubicBezTo>
                <a:lnTo>
                  <a:pt x="64304" y="61624"/>
                </a:lnTo>
                <a:cubicBezTo>
                  <a:pt x="68423" y="59916"/>
                  <a:pt x="72945" y="58945"/>
                  <a:pt x="77700" y="58945"/>
                </a:cubicBezTo>
                <a:lnTo>
                  <a:pt x="115211" y="58945"/>
                </a:lnTo>
                <a:cubicBezTo>
                  <a:pt x="119967" y="58945"/>
                  <a:pt x="124488" y="59883"/>
                  <a:pt x="128608" y="61624"/>
                </a:cubicBezTo>
                <a:lnTo>
                  <a:pt x="165046" y="34295"/>
                </a:lnTo>
                <a:cubicBezTo>
                  <a:pt x="169769" y="30745"/>
                  <a:pt x="176501" y="31717"/>
                  <a:pt x="180051" y="36439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2" name="Text 40"/>
          <p:cNvSpPr/>
          <p:nvPr/>
        </p:nvSpPr>
        <p:spPr>
          <a:xfrm>
            <a:off x="6522727" y="1171761"/>
            <a:ext cx="5272911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Nikto Vulnerability Scan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11239" y="1517572"/>
            <a:ext cx="5390087" cy="1857665"/>
          </a:xfrm>
          <a:custGeom>
            <a:avLst/>
            <a:gdLst/>
            <a:ahLst/>
            <a:cxnLst/>
            <a:rect l="l" t="t" r="r" b="b"/>
            <a:pathLst>
              <a:path w="5390087" h="1857665">
                <a:moveTo>
                  <a:pt x="68585" y="0"/>
                </a:moveTo>
                <a:lnTo>
                  <a:pt x="5321502" y="0"/>
                </a:lnTo>
                <a:cubicBezTo>
                  <a:pt x="5359381" y="0"/>
                  <a:pt x="5390087" y="30707"/>
                  <a:pt x="5390087" y="68585"/>
                </a:cubicBezTo>
                <a:lnTo>
                  <a:pt x="5390087" y="1789080"/>
                </a:lnTo>
                <a:cubicBezTo>
                  <a:pt x="5390087" y="1826959"/>
                  <a:pt x="5359381" y="1857665"/>
                  <a:pt x="5321502" y="1857665"/>
                </a:cubicBezTo>
                <a:lnTo>
                  <a:pt x="68585" y="1857665"/>
                </a:lnTo>
                <a:cubicBezTo>
                  <a:pt x="30707" y="1857665"/>
                  <a:pt x="0" y="1826959"/>
                  <a:pt x="0" y="1789080"/>
                </a:cubicBezTo>
                <a:lnTo>
                  <a:pt x="0" y="68585"/>
                </a:lnTo>
                <a:cubicBezTo>
                  <a:pt x="0" y="30732"/>
                  <a:pt x="30732" y="0"/>
                  <a:pt x="68585" y="0"/>
                </a:cubicBezTo>
                <a:close/>
              </a:path>
            </a:pathLst>
          </a:custGeom>
          <a:solidFill>
            <a:srgbClr val="1A1D21"/>
          </a:solidFill>
          <a:ln w="8467">
            <a:solidFill>
              <a:srgbClr val="00D4AA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16983" y="1623315"/>
            <a:ext cx="523861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00D4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 nikto -h https://demo.testfire.net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16983" y="1863383"/>
            <a:ext cx="523861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Target IP: 65.61.137.117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16983" y="2069155"/>
            <a:ext cx="523861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Target Hostname: demo.testfire.net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16983" y="2274927"/>
            <a:ext cx="523861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FF6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Allowed HTTP Methods: PUT, DELETE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16983" y="2480699"/>
            <a:ext cx="523861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FF6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Missing X-Frame-Options Header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16983" y="2686471"/>
            <a:ext cx="523861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FF6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Missing X-Content-Type-Options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16983" y="2892243"/>
            <a:ext cx="523861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FFA5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Server banner reveals version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16983" y="3098015"/>
            <a:ext cx="523861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FFA5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SSL v2/v3 supported (deprecated)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25529" y="3515274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44745" y="44745"/>
                </a:moveTo>
                <a:cubicBezTo>
                  <a:pt x="47263" y="42226"/>
                  <a:pt x="51336" y="42226"/>
                  <a:pt x="53828" y="44745"/>
                </a:cubicBezTo>
                <a:lnTo>
                  <a:pt x="68564" y="59481"/>
                </a:lnTo>
                <a:lnTo>
                  <a:pt x="83300" y="44745"/>
                </a:lnTo>
                <a:cubicBezTo>
                  <a:pt x="85819" y="42226"/>
                  <a:pt x="89891" y="42226"/>
                  <a:pt x="92383" y="44745"/>
                </a:cubicBezTo>
                <a:cubicBezTo>
                  <a:pt x="94875" y="47263"/>
                  <a:pt x="94902" y="51336"/>
                  <a:pt x="92383" y="53828"/>
                </a:cubicBezTo>
                <a:lnTo>
                  <a:pt x="77647" y="68564"/>
                </a:lnTo>
                <a:lnTo>
                  <a:pt x="92383" y="83300"/>
                </a:lnTo>
                <a:cubicBezTo>
                  <a:pt x="94902" y="85819"/>
                  <a:pt x="94902" y="89891"/>
                  <a:pt x="92383" y="92383"/>
                </a:cubicBezTo>
                <a:cubicBezTo>
                  <a:pt x="89865" y="94875"/>
                  <a:pt x="85792" y="94902"/>
                  <a:pt x="83300" y="92383"/>
                </a:cubicBezTo>
                <a:lnTo>
                  <a:pt x="68564" y="77647"/>
                </a:lnTo>
                <a:lnTo>
                  <a:pt x="53828" y="92383"/>
                </a:lnTo>
                <a:cubicBezTo>
                  <a:pt x="51309" y="94902"/>
                  <a:pt x="47236" y="94902"/>
                  <a:pt x="44745" y="92383"/>
                </a:cubicBezTo>
                <a:cubicBezTo>
                  <a:pt x="42253" y="89865"/>
                  <a:pt x="42226" y="85792"/>
                  <a:pt x="44745" y="83300"/>
                </a:cubicBezTo>
                <a:lnTo>
                  <a:pt x="59481" y="68564"/>
                </a:lnTo>
                <a:lnTo>
                  <a:pt x="44745" y="53828"/>
                </a:lnTo>
                <a:cubicBezTo>
                  <a:pt x="42226" y="51309"/>
                  <a:pt x="42226" y="47236"/>
                  <a:pt x="44745" y="4474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53" name="Text 51"/>
          <p:cNvSpPr/>
          <p:nvPr/>
        </p:nvSpPr>
        <p:spPr>
          <a:xfrm>
            <a:off x="6548449" y="3480979"/>
            <a:ext cx="2623595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Dangerous HTTP methods (PUT, DELETE) enabled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25529" y="3755342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44745" y="44745"/>
                </a:moveTo>
                <a:cubicBezTo>
                  <a:pt x="47263" y="42226"/>
                  <a:pt x="51336" y="42226"/>
                  <a:pt x="53828" y="44745"/>
                </a:cubicBezTo>
                <a:lnTo>
                  <a:pt x="68564" y="59481"/>
                </a:lnTo>
                <a:lnTo>
                  <a:pt x="83300" y="44745"/>
                </a:lnTo>
                <a:cubicBezTo>
                  <a:pt x="85819" y="42226"/>
                  <a:pt x="89891" y="42226"/>
                  <a:pt x="92383" y="44745"/>
                </a:cubicBezTo>
                <a:cubicBezTo>
                  <a:pt x="94875" y="47263"/>
                  <a:pt x="94902" y="51336"/>
                  <a:pt x="92383" y="53828"/>
                </a:cubicBezTo>
                <a:lnTo>
                  <a:pt x="77647" y="68564"/>
                </a:lnTo>
                <a:lnTo>
                  <a:pt x="92383" y="83300"/>
                </a:lnTo>
                <a:cubicBezTo>
                  <a:pt x="94902" y="85819"/>
                  <a:pt x="94902" y="89891"/>
                  <a:pt x="92383" y="92383"/>
                </a:cubicBezTo>
                <a:cubicBezTo>
                  <a:pt x="89865" y="94875"/>
                  <a:pt x="85792" y="94902"/>
                  <a:pt x="83300" y="92383"/>
                </a:cubicBezTo>
                <a:lnTo>
                  <a:pt x="68564" y="77647"/>
                </a:lnTo>
                <a:lnTo>
                  <a:pt x="53828" y="92383"/>
                </a:lnTo>
                <a:cubicBezTo>
                  <a:pt x="51309" y="94902"/>
                  <a:pt x="47236" y="94902"/>
                  <a:pt x="44745" y="92383"/>
                </a:cubicBezTo>
                <a:cubicBezTo>
                  <a:pt x="42253" y="89865"/>
                  <a:pt x="42226" y="85792"/>
                  <a:pt x="44745" y="83300"/>
                </a:cubicBezTo>
                <a:lnTo>
                  <a:pt x="59481" y="68564"/>
                </a:lnTo>
                <a:lnTo>
                  <a:pt x="44745" y="53828"/>
                </a:lnTo>
                <a:cubicBezTo>
                  <a:pt x="42226" y="51309"/>
                  <a:pt x="42226" y="47236"/>
                  <a:pt x="44745" y="4474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55" name="Text 53"/>
          <p:cNvSpPr/>
          <p:nvPr/>
        </p:nvSpPr>
        <p:spPr>
          <a:xfrm>
            <a:off x="6548449" y="3721046"/>
            <a:ext cx="4124017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critical security headers (X-Frame-Options, X-Content-Type-Options)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25529" y="3995409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0"/>
                </a:moveTo>
                <a:cubicBezTo>
                  <a:pt x="72529" y="0"/>
                  <a:pt x="76146" y="2170"/>
                  <a:pt x="78022" y="5627"/>
                </a:cubicBezTo>
                <a:lnTo>
                  <a:pt x="135895" y="112800"/>
                </a:lnTo>
                <a:cubicBezTo>
                  <a:pt x="137691" y="116122"/>
                  <a:pt x="137610" y="120141"/>
                  <a:pt x="135681" y="123383"/>
                </a:cubicBezTo>
                <a:cubicBezTo>
                  <a:pt x="133752" y="126625"/>
                  <a:pt x="130242" y="128608"/>
                  <a:pt x="126464" y="128608"/>
                </a:cubicBezTo>
                <a:lnTo>
                  <a:pt x="10717" y="128608"/>
                </a:lnTo>
                <a:cubicBezTo>
                  <a:pt x="6939" y="128608"/>
                  <a:pt x="3456" y="126625"/>
                  <a:pt x="1500" y="123383"/>
                </a:cubicBezTo>
                <a:cubicBezTo>
                  <a:pt x="-455" y="120141"/>
                  <a:pt x="-509" y="116122"/>
                  <a:pt x="1286" y="112800"/>
                </a:cubicBezTo>
                <a:lnTo>
                  <a:pt x="59159" y="5627"/>
                </a:lnTo>
                <a:cubicBezTo>
                  <a:pt x="61035" y="2170"/>
                  <a:pt x="64652" y="0"/>
                  <a:pt x="68591" y="0"/>
                </a:cubicBezTo>
                <a:close/>
                <a:moveTo>
                  <a:pt x="68591" y="45013"/>
                </a:moveTo>
                <a:cubicBezTo>
                  <a:pt x="65027" y="45013"/>
                  <a:pt x="62160" y="47880"/>
                  <a:pt x="62160" y="51443"/>
                </a:cubicBezTo>
                <a:lnTo>
                  <a:pt x="62160" y="81451"/>
                </a:lnTo>
                <a:cubicBezTo>
                  <a:pt x="62160" y="85015"/>
                  <a:pt x="65027" y="87882"/>
                  <a:pt x="68591" y="87882"/>
                </a:cubicBezTo>
                <a:cubicBezTo>
                  <a:pt x="72154" y="87882"/>
                  <a:pt x="75021" y="85015"/>
                  <a:pt x="75021" y="81451"/>
                </a:cubicBezTo>
                <a:lnTo>
                  <a:pt x="75021" y="51443"/>
                </a:lnTo>
                <a:cubicBezTo>
                  <a:pt x="75021" y="47880"/>
                  <a:pt x="72154" y="45013"/>
                  <a:pt x="68591" y="45013"/>
                </a:cubicBezTo>
                <a:close/>
                <a:moveTo>
                  <a:pt x="75745" y="102886"/>
                </a:moveTo>
                <a:cubicBezTo>
                  <a:pt x="75907" y="100231"/>
                  <a:pt x="74583" y="97704"/>
                  <a:pt x="72307" y="96327"/>
                </a:cubicBezTo>
                <a:cubicBezTo>
                  <a:pt x="70030" y="94950"/>
                  <a:pt x="67178" y="94950"/>
                  <a:pt x="64902" y="96327"/>
                </a:cubicBezTo>
                <a:cubicBezTo>
                  <a:pt x="62625" y="97704"/>
                  <a:pt x="61301" y="100231"/>
                  <a:pt x="61464" y="102886"/>
                </a:cubicBezTo>
                <a:cubicBezTo>
                  <a:pt x="61301" y="105541"/>
                  <a:pt x="62625" y="108068"/>
                  <a:pt x="64902" y="109445"/>
                </a:cubicBezTo>
                <a:cubicBezTo>
                  <a:pt x="67178" y="110822"/>
                  <a:pt x="70030" y="110822"/>
                  <a:pt x="72307" y="109445"/>
                </a:cubicBezTo>
                <a:cubicBezTo>
                  <a:pt x="74583" y="108068"/>
                  <a:pt x="75907" y="105541"/>
                  <a:pt x="75745" y="102886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57" name="Text 55"/>
          <p:cNvSpPr/>
          <p:nvPr/>
        </p:nvSpPr>
        <p:spPr>
          <a:xfrm>
            <a:off x="6548449" y="3961114"/>
            <a:ext cx="187767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version disclosure in banner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25529" y="4235477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0"/>
                </a:moveTo>
                <a:cubicBezTo>
                  <a:pt x="72529" y="0"/>
                  <a:pt x="76146" y="2170"/>
                  <a:pt x="78022" y="5627"/>
                </a:cubicBezTo>
                <a:lnTo>
                  <a:pt x="135895" y="112800"/>
                </a:lnTo>
                <a:cubicBezTo>
                  <a:pt x="137691" y="116122"/>
                  <a:pt x="137610" y="120141"/>
                  <a:pt x="135681" y="123383"/>
                </a:cubicBezTo>
                <a:cubicBezTo>
                  <a:pt x="133752" y="126625"/>
                  <a:pt x="130242" y="128608"/>
                  <a:pt x="126464" y="128608"/>
                </a:cubicBezTo>
                <a:lnTo>
                  <a:pt x="10717" y="128608"/>
                </a:lnTo>
                <a:cubicBezTo>
                  <a:pt x="6939" y="128608"/>
                  <a:pt x="3456" y="126625"/>
                  <a:pt x="1500" y="123383"/>
                </a:cubicBezTo>
                <a:cubicBezTo>
                  <a:pt x="-455" y="120141"/>
                  <a:pt x="-509" y="116122"/>
                  <a:pt x="1286" y="112800"/>
                </a:cubicBezTo>
                <a:lnTo>
                  <a:pt x="59159" y="5627"/>
                </a:lnTo>
                <a:cubicBezTo>
                  <a:pt x="61035" y="2170"/>
                  <a:pt x="64652" y="0"/>
                  <a:pt x="68591" y="0"/>
                </a:cubicBezTo>
                <a:close/>
                <a:moveTo>
                  <a:pt x="68591" y="45013"/>
                </a:moveTo>
                <a:cubicBezTo>
                  <a:pt x="65027" y="45013"/>
                  <a:pt x="62160" y="47880"/>
                  <a:pt x="62160" y="51443"/>
                </a:cubicBezTo>
                <a:lnTo>
                  <a:pt x="62160" y="81451"/>
                </a:lnTo>
                <a:cubicBezTo>
                  <a:pt x="62160" y="85015"/>
                  <a:pt x="65027" y="87882"/>
                  <a:pt x="68591" y="87882"/>
                </a:cubicBezTo>
                <a:cubicBezTo>
                  <a:pt x="72154" y="87882"/>
                  <a:pt x="75021" y="85015"/>
                  <a:pt x="75021" y="81451"/>
                </a:cubicBezTo>
                <a:lnTo>
                  <a:pt x="75021" y="51443"/>
                </a:lnTo>
                <a:cubicBezTo>
                  <a:pt x="75021" y="47880"/>
                  <a:pt x="72154" y="45013"/>
                  <a:pt x="68591" y="45013"/>
                </a:cubicBezTo>
                <a:close/>
                <a:moveTo>
                  <a:pt x="75745" y="102886"/>
                </a:moveTo>
                <a:cubicBezTo>
                  <a:pt x="75907" y="100231"/>
                  <a:pt x="74583" y="97704"/>
                  <a:pt x="72307" y="96327"/>
                </a:cubicBezTo>
                <a:cubicBezTo>
                  <a:pt x="70030" y="94950"/>
                  <a:pt x="67178" y="94950"/>
                  <a:pt x="64902" y="96327"/>
                </a:cubicBezTo>
                <a:cubicBezTo>
                  <a:pt x="62625" y="97704"/>
                  <a:pt x="61301" y="100231"/>
                  <a:pt x="61464" y="102886"/>
                </a:cubicBezTo>
                <a:cubicBezTo>
                  <a:pt x="61301" y="105541"/>
                  <a:pt x="62625" y="108068"/>
                  <a:pt x="64902" y="109445"/>
                </a:cubicBezTo>
                <a:cubicBezTo>
                  <a:pt x="67178" y="110822"/>
                  <a:pt x="70030" y="110822"/>
                  <a:pt x="72307" y="109445"/>
                </a:cubicBezTo>
                <a:cubicBezTo>
                  <a:pt x="74583" y="108068"/>
                  <a:pt x="75907" y="105541"/>
                  <a:pt x="75745" y="102886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59" name="Text 57"/>
          <p:cNvSpPr/>
          <p:nvPr/>
        </p:nvSpPr>
        <p:spPr>
          <a:xfrm>
            <a:off x="6548449" y="4201181"/>
            <a:ext cx="2117738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Deprecated SSL versions still supported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68342" y="4655598"/>
            <a:ext cx="5681598" cy="1857665"/>
          </a:xfrm>
          <a:custGeom>
            <a:avLst/>
            <a:gdLst/>
            <a:ahLst/>
            <a:cxnLst/>
            <a:rect l="l" t="t" r="r" b="b"/>
            <a:pathLst>
              <a:path w="5681598" h="1857665">
                <a:moveTo>
                  <a:pt x="102878" y="0"/>
                </a:moveTo>
                <a:lnTo>
                  <a:pt x="5578720" y="0"/>
                </a:lnTo>
                <a:cubicBezTo>
                  <a:pt x="5635538" y="0"/>
                  <a:pt x="5681598" y="46060"/>
                  <a:pt x="5681598" y="102878"/>
                </a:cubicBezTo>
                <a:lnTo>
                  <a:pt x="5681598" y="1754788"/>
                </a:lnTo>
                <a:cubicBezTo>
                  <a:pt x="5681598" y="1811605"/>
                  <a:pt x="5635538" y="1857665"/>
                  <a:pt x="5578720" y="1857665"/>
                </a:cubicBezTo>
                <a:lnTo>
                  <a:pt x="102878" y="1857665"/>
                </a:lnTo>
                <a:cubicBezTo>
                  <a:pt x="46060" y="1857665"/>
                  <a:pt x="0" y="1811605"/>
                  <a:pt x="0" y="1754788"/>
                </a:cubicBezTo>
                <a:lnTo>
                  <a:pt x="0" y="102878"/>
                </a:lnTo>
                <a:cubicBezTo>
                  <a:pt x="0" y="46098"/>
                  <a:pt x="46098" y="0"/>
                  <a:pt x="10287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29816" y="4829931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85738" y="0"/>
                </a:moveTo>
                <a:cubicBezTo>
                  <a:pt x="87279" y="0"/>
                  <a:pt x="88820" y="335"/>
                  <a:pt x="90226" y="971"/>
                </a:cubicBezTo>
                <a:lnTo>
                  <a:pt x="153324" y="27731"/>
                </a:lnTo>
                <a:cubicBezTo>
                  <a:pt x="160693" y="30846"/>
                  <a:pt x="166185" y="38113"/>
                  <a:pt x="166152" y="46888"/>
                </a:cubicBezTo>
                <a:cubicBezTo>
                  <a:pt x="165984" y="80112"/>
                  <a:pt x="152320" y="140899"/>
                  <a:pt x="94614" y="168530"/>
                </a:cubicBezTo>
                <a:cubicBezTo>
                  <a:pt x="89021" y="171209"/>
                  <a:pt x="82523" y="171209"/>
                  <a:pt x="76930" y="168530"/>
                </a:cubicBezTo>
                <a:cubicBezTo>
                  <a:pt x="19191" y="140899"/>
                  <a:pt x="5560" y="80112"/>
                  <a:pt x="5392" y="46888"/>
                </a:cubicBezTo>
                <a:cubicBezTo>
                  <a:pt x="5359" y="38113"/>
                  <a:pt x="10851" y="30846"/>
                  <a:pt x="18219" y="27731"/>
                </a:cubicBezTo>
                <a:lnTo>
                  <a:pt x="81284" y="971"/>
                </a:lnTo>
                <a:cubicBezTo>
                  <a:pt x="82691" y="335"/>
                  <a:pt x="84198" y="0"/>
                  <a:pt x="85738" y="0"/>
                </a:cubicBezTo>
                <a:close/>
                <a:moveTo>
                  <a:pt x="85738" y="22372"/>
                </a:moveTo>
                <a:lnTo>
                  <a:pt x="85738" y="149004"/>
                </a:lnTo>
                <a:cubicBezTo>
                  <a:pt x="131957" y="126632"/>
                  <a:pt x="144382" y="77064"/>
                  <a:pt x="144684" y="47391"/>
                </a:cubicBezTo>
                <a:lnTo>
                  <a:pt x="85738" y="22406"/>
                </a:lnTo>
                <a:lnTo>
                  <a:pt x="85738" y="22406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62" name="Text 60"/>
          <p:cNvSpPr/>
          <p:nvPr/>
        </p:nvSpPr>
        <p:spPr>
          <a:xfrm>
            <a:off x="6522727" y="4795636"/>
            <a:ext cx="5272911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OWASP ZAP Passive Scan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08382" y="5138589"/>
            <a:ext cx="5401519" cy="1234633"/>
          </a:xfrm>
          <a:custGeom>
            <a:avLst/>
            <a:gdLst/>
            <a:ahLst/>
            <a:cxnLst/>
            <a:rect l="l" t="t" r="r" b="b"/>
            <a:pathLst>
              <a:path w="5401519" h="1234633">
                <a:moveTo>
                  <a:pt x="68596" y="0"/>
                </a:moveTo>
                <a:lnTo>
                  <a:pt x="5332923" y="0"/>
                </a:lnTo>
                <a:cubicBezTo>
                  <a:pt x="5370807" y="0"/>
                  <a:pt x="5401519" y="30712"/>
                  <a:pt x="5401519" y="68596"/>
                </a:cubicBezTo>
                <a:lnTo>
                  <a:pt x="5401519" y="1166037"/>
                </a:lnTo>
                <a:cubicBezTo>
                  <a:pt x="5401519" y="1203921"/>
                  <a:pt x="5370807" y="1234633"/>
                  <a:pt x="5332923" y="1234633"/>
                </a:cubicBezTo>
                <a:lnTo>
                  <a:pt x="68596" y="1234633"/>
                </a:lnTo>
                <a:cubicBezTo>
                  <a:pt x="30712" y="1234633"/>
                  <a:pt x="0" y="1203921"/>
                  <a:pt x="0" y="1166037"/>
                </a:cubicBezTo>
                <a:lnTo>
                  <a:pt x="0" y="68596"/>
                </a:lnTo>
                <a:cubicBezTo>
                  <a:pt x="0" y="30737"/>
                  <a:pt x="30737" y="0"/>
                  <a:pt x="685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411268" y="5292918"/>
            <a:ext cx="651612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Alerts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429196" y="5241475"/>
            <a:ext cx="282937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411268" y="5584429"/>
            <a:ext cx="5195747" cy="68591"/>
          </a:xfrm>
          <a:custGeom>
            <a:avLst/>
            <a:gdLst/>
            <a:ahLst/>
            <a:cxnLst/>
            <a:rect l="l" t="t" r="r" b="b"/>
            <a:pathLst>
              <a:path w="5195747" h="68591">
                <a:moveTo>
                  <a:pt x="34295" y="0"/>
                </a:moveTo>
                <a:lnTo>
                  <a:pt x="5161451" y="0"/>
                </a:lnTo>
                <a:cubicBezTo>
                  <a:pt x="5180392" y="0"/>
                  <a:pt x="5195747" y="15355"/>
                  <a:pt x="5195747" y="34295"/>
                </a:cubicBezTo>
                <a:lnTo>
                  <a:pt x="5195747" y="34295"/>
                </a:lnTo>
                <a:cubicBezTo>
                  <a:pt x="5195747" y="53236"/>
                  <a:pt x="5180392" y="68591"/>
                  <a:pt x="5161451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6411268" y="5584429"/>
            <a:ext cx="5195747" cy="68591"/>
          </a:xfrm>
          <a:custGeom>
            <a:avLst/>
            <a:gdLst/>
            <a:ahLst/>
            <a:cxnLst/>
            <a:rect l="l" t="t" r="r" b="b"/>
            <a:pathLst>
              <a:path w="5195747" h="68591">
                <a:moveTo>
                  <a:pt x="34295" y="0"/>
                </a:moveTo>
                <a:lnTo>
                  <a:pt x="5161451" y="0"/>
                </a:lnTo>
                <a:cubicBezTo>
                  <a:pt x="5180392" y="0"/>
                  <a:pt x="5195747" y="15355"/>
                  <a:pt x="5195747" y="34295"/>
                </a:cubicBezTo>
                <a:lnTo>
                  <a:pt x="5195747" y="34295"/>
                </a:lnTo>
                <a:cubicBezTo>
                  <a:pt x="5195747" y="53236"/>
                  <a:pt x="5180392" y="68591"/>
                  <a:pt x="5161451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/>
              </a:gs>
              <a:gs pos="50000">
                <a:srgbClr val="FFA500"/>
              </a:gs>
              <a:gs pos="100000">
                <a:srgbClr val="FF6B6B"/>
              </a:gs>
            </a:gsLst>
            <a:lin ang="0" scaled="1"/>
          </a:gradFill>
          <a:ln/>
        </p:spPr>
      </p:sp>
      <p:sp>
        <p:nvSpPr>
          <p:cNvPr id="68" name="Shape 66"/>
          <p:cNvSpPr/>
          <p:nvPr/>
        </p:nvSpPr>
        <p:spPr>
          <a:xfrm>
            <a:off x="6411268" y="5755906"/>
            <a:ext cx="1243207" cy="514430"/>
          </a:xfrm>
          <a:custGeom>
            <a:avLst/>
            <a:gdLst/>
            <a:ahLst/>
            <a:cxnLst/>
            <a:rect l="l" t="t" r="r" b="b"/>
            <a:pathLst>
              <a:path w="1243207" h="514430">
                <a:moveTo>
                  <a:pt x="34297" y="0"/>
                </a:moveTo>
                <a:lnTo>
                  <a:pt x="1208910" y="0"/>
                </a:lnTo>
                <a:cubicBezTo>
                  <a:pt x="1227851" y="0"/>
                  <a:pt x="1243207" y="15355"/>
                  <a:pt x="1243207" y="34297"/>
                </a:cubicBezTo>
                <a:lnTo>
                  <a:pt x="1243207" y="480133"/>
                </a:lnTo>
                <a:cubicBezTo>
                  <a:pt x="1243207" y="499075"/>
                  <a:pt x="1227851" y="514430"/>
                  <a:pt x="1208910" y="514430"/>
                </a:cubicBezTo>
                <a:lnTo>
                  <a:pt x="34297" y="514430"/>
                </a:lnTo>
                <a:cubicBezTo>
                  <a:pt x="15355" y="514430"/>
                  <a:pt x="0" y="499075"/>
                  <a:pt x="0" y="480133"/>
                </a:cubicBezTo>
                <a:lnTo>
                  <a:pt x="0" y="34297"/>
                </a:lnTo>
                <a:cubicBezTo>
                  <a:pt x="0" y="15355"/>
                  <a:pt x="15355" y="0"/>
                  <a:pt x="34297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6436989" y="5824496"/>
            <a:ext cx="1191764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454137" y="6064564"/>
            <a:ext cx="1157468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726816" y="5755906"/>
            <a:ext cx="1243207" cy="514430"/>
          </a:xfrm>
          <a:custGeom>
            <a:avLst/>
            <a:gdLst/>
            <a:ahLst/>
            <a:cxnLst/>
            <a:rect l="l" t="t" r="r" b="b"/>
            <a:pathLst>
              <a:path w="1243207" h="514430">
                <a:moveTo>
                  <a:pt x="34297" y="0"/>
                </a:moveTo>
                <a:lnTo>
                  <a:pt x="1208910" y="0"/>
                </a:lnTo>
                <a:cubicBezTo>
                  <a:pt x="1227851" y="0"/>
                  <a:pt x="1243207" y="15355"/>
                  <a:pt x="1243207" y="34297"/>
                </a:cubicBezTo>
                <a:lnTo>
                  <a:pt x="1243207" y="480133"/>
                </a:lnTo>
                <a:cubicBezTo>
                  <a:pt x="1243207" y="499075"/>
                  <a:pt x="1227851" y="514430"/>
                  <a:pt x="1208910" y="514430"/>
                </a:cubicBezTo>
                <a:lnTo>
                  <a:pt x="34297" y="514430"/>
                </a:lnTo>
                <a:cubicBezTo>
                  <a:pt x="15355" y="514430"/>
                  <a:pt x="0" y="499075"/>
                  <a:pt x="0" y="480133"/>
                </a:cubicBezTo>
                <a:lnTo>
                  <a:pt x="0" y="34297"/>
                </a:lnTo>
                <a:cubicBezTo>
                  <a:pt x="0" y="15355"/>
                  <a:pt x="15355" y="0"/>
                  <a:pt x="34297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7752538" y="5824496"/>
            <a:ext cx="1191764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769685" y="6064564"/>
            <a:ext cx="1157468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042454" y="5755906"/>
            <a:ext cx="1243207" cy="514430"/>
          </a:xfrm>
          <a:custGeom>
            <a:avLst/>
            <a:gdLst/>
            <a:ahLst/>
            <a:cxnLst/>
            <a:rect l="l" t="t" r="r" b="b"/>
            <a:pathLst>
              <a:path w="1243207" h="514430">
                <a:moveTo>
                  <a:pt x="34297" y="0"/>
                </a:moveTo>
                <a:lnTo>
                  <a:pt x="1208910" y="0"/>
                </a:lnTo>
                <a:cubicBezTo>
                  <a:pt x="1227851" y="0"/>
                  <a:pt x="1243207" y="15355"/>
                  <a:pt x="1243207" y="34297"/>
                </a:cubicBezTo>
                <a:lnTo>
                  <a:pt x="1243207" y="480133"/>
                </a:lnTo>
                <a:cubicBezTo>
                  <a:pt x="1243207" y="499075"/>
                  <a:pt x="1227851" y="514430"/>
                  <a:pt x="1208910" y="514430"/>
                </a:cubicBezTo>
                <a:lnTo>
                  <a:pt x="34297" y="514430"/>
                </a:lnTo>
                <a:cubicBezTo>
                  <a:pt x="15355" y="514430"/>
                  <a:pt x="0" y="499075"/>
                  <a:pt x="0" y="480133"/>
                </a:cubicBezTo>
                <a:lnTo>
                  <a:pt x="0" y="34297"/>
                </a:lnTo>
                <a:cubicBezTo>
                  <a:pt x="0" y="15355"/>
                  <a:pt x="15355" y="0"/>
                  <a:pt x="34297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9068175" y="5824496"/>
            <a:ext cx="1191764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085323" y="6064564"/>
            <a:ext cx="1157468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10358092" y="5755906"/>
            <a:ext cx="1243207" cy="514430"/>
          </a:xfrm>
          <a:custGeom>
            <a:avLst/>
            <a:gdLst/>
            <a:ahLst/>
            <a:cxnLst/>
            <a:rect l="l" t="t" r="r" b="b"/>
            <a:pathLst>
              <a:path w="1243207" h="514430">
                <a:moveTo>
                  <a:pt x="34297" y="0"/>
                </a:moveTo>
                <a:lnTo>
                  <a:pt x="1208910" y="0"/>
                </a:lnTo>
                <a:cubicBezTo>
                  <a:pt x="1227851" y="0"/>
                  <a:pt x="1243207" y="15355"/>
                  <a:pt x="1243207" y="34297"/>
                </a:cubicBezTo>
                <a:lnTo>
                  <a:pt x="1243207" y="480133"/>
                </a:lnTo>
                <a:cubicBezTo>
                  <a:pt x="1243207" y="499075"/>
                  <a:pt x="1227851" y="514430"/>
                  <a:pt x="1208910" y="514430"/>
                </a:cubicBezTo>
                <a:lnTo>
                  <a:pt x="34297" y="514430"/>
                </a:lnTo>
                <a:cubicBezTo>
                  <a:pt x="15355" y="514430"/>
                  <a:pt x="0" y="499075"/>
                  <a:pt x="0" y="480133"/>
                </a:cubicBezTo>
                <a:lnTo>
                  <a:pt x="0" y="34297"/>
                </a:lnTo>
                <a:cubicBezTo>
                  <a:pt x="0" y="15355"/>
                  <a:pt x="15355" y="0"/>
                  <a:pt x="34297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10383814" y="5824496"/>
            <a:ext cx="1191764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0400961" y="6064564"/>
            <a:ext cx="1157468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2844" y="410128"/>
            <a:ext cx="521982" cy="521982"/>
          </a:xfrm>
          <a:custGeom>
            <a:avLst/>
            <a:gdLst/>
            <a:ahLst/>
            <a:cxnLst/>
            <a:rect l="l" t="t" r="r" b="b"/>
            <a:pathLst>
              <a:path w="521982" h="521982">
                <a:moveTo>
                  <a:pt x="111855" y="0"/>
                </a:moveTo>
                <a:lnTo>
                  <a:pt x="410126" y="0"/>
                </a:lnTo>
                <a:cubicBezTo>
                  <a:pt x="471902" y="0"/>
                  <a:pt x="521982" y="50079"/>
                  <a:pt x="521982" y="111855"/>
                </a:cubicBezTo>
                <a:lnTo>
                  <a:pt x="521982" y="410126"/>
                </a:lnTo>
                <a:cubicBezTo>
                  <a:pt x="521982" y="471902"/>
                  <a:pt x="471902" y="521982"/>
                  <a:pt x="410126" y="521982"/>
                </a:cubicBezTo>
                <a:lnTo>
                  <a:pt x="111855" y="521982"/>
                </a:lnTo>
                <a:cubicBezTo>
                  <a:pt x="50079" y="521982"/>
                  <a:pt x="0" y="471902"/>
                  <a:pt x="0" y="410126"/>
                </a:cubicBezTo>
                <a:lnTo>
                  <a:pt x="0" y="111855"/>
                </a:lnTo>
                <a:cubicBezTo>
                  <a:pt x="0" y="50079"/>
                  <a:pt x="50079" y="0"/>
                  <a:pt x="11185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A500"/>
              </a:gs>
              <a:gs pos="100000">
                <a:srgbClr val="FFA500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21982" y="559266"/>
            <a:ext cx="223706" cy="223706"/>
          </a:xfrm>
          <a:custGeom>
            <a:avLst/>
            <a:gdLst/>
            <a:ahLst/>
            <a:cxnLst/>
            <a:rect l="l" t="t" r="r" b="b"/>
            <a:pathLst>
              <a:path w="223706" h="223706">
                <a:moveTo>
                  <a:pt x="27963" y="27963"/>
                </a:moveTo>
                <a:cubicBezTo>
                  <a:pt x="27963" y="20230"/>
                  <a:pt x="21715" y="13982"/>
                  <a:pt x="13982" y="13982"/>
                </a:cubicBezTo>
                <a:cubicBezTo>
                  <a:pt x="6248" y="13982"/>
                  <a:pt x="0" y="20230"/>
                  <a:pt x="0" y="27963"/>
                </a:cubicBezTo>
                <a:lnTo>
                  <a:pt x="0" y="174771"/>
                </a:lnTo>
                <a:cubicBezTo>
                  <a:pt x="0" y="194083"/>
                  <a:pt x="15642" y="209725"/>
                  <a:pt x="34954" y="209725"/>
                </a:cubicBezTo>
                <a:lnTo>
                  <a:pt x="209725" y="209725"/>
                </a:lnTo>
                <a:cubicBezTo>
                  <a:pt x="217458" y="209725"/>
                  <a:pt x="223706" y="203477"/>
                  <a:pt x="223706" y="195743"/>
                </a:cubicBezTo>
                <a:cubicBezTo>
                  <a:pt x="223706" y="188010"/>
                  <a:pt x="217458" y="181761"/>
                  <a:pt x="209725" y="181761"/>
                </a:cubicBezTo>
                <a:lnTo>
                  <a:pt x="34954" y="181761"/>
                </a:lnTo>
                <a:cubicBezTo>
                  <a:pt x="31109" y="181761"/>
                  <a:pt x="27963" y="178616"/>
                  <a:pt x="27963" y="174771"/>
                </a:cubicBezTo>
                <a:lnTo>
                  <a:pt x="27963" y="27963"/>
                </a:lnTo>
                <a:close/>
                <a:moveTo>
                  <a:pt x="205618" y="65801"/>
                </a:moveTo>
                <a:cubicBezTo>
                  <a:pt x="211079" y="60340"/>
                  <a:pt x="211079" y="51470"/>
                  <a:pt x="205618" y="46008"/>
                </a:cubicBezTo>
                <a:cubicBezTo>
                  <a:pt x="200156" y="40547"/>
                  <a:pt x="191286" y="40547"/>
                  <a:pt x="185825" y="46008"/>
                </a:cubicBezTo>
                <a:lnTo>
                  <a:pt x="139817" y="92060"/>
                </a:lnTo>
                <a:lnTo>
                  <a:pt x="114737" y="67025"/>
                </a:lnTo>
                <a:cubicBezTo>
                  <a:pt x="109275" y="61563"/>
                  <a:pt x="100406" y="61563"/>
                  <a:pt x="94944" y="67025"/>
                </a:cubicBezTo>
                <a:lnTo>
                  <a:pt x="52999" y="108969"/>
                </a:lnTo>
                <a:cubicBezTo>
                  <a:pt x="47538" y="114431"/>
                  <a:pt x="47538" y="123301"/>
                  <a:pt x="52999" y="128762"/>
                </a:cubicBezTo>
                <a:cubicBezTo>
                  <a:pt x="58461" y="134224"/>
                  <a:pt x="67330" y="134224"/>
                  <a:pt x="72792" y="128762"/>
                </a:cubicBezTo>
                <a:lnTo>
                  <a:pt x="104862" y="96692"/>
                </a:lnTo>
                <a:lnTo>
                  <a:pt x="129942" y="121771"/>
                </a:lnTo>
                <a:cubicBezTo>
                  <a:pt x="135404" y="127233"/>
                  <a:pt x="144273" y="127233"/>
                  <a:pt x="149735" y="121771"/>
                </a:cubicBezTo>
                <a:lnTo>
                  <a:pt x="205661" y="6584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43963" y="372844"/>
            <a:ext cx="4362275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spc="117" kern="0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3963" y="596550"/>
            <a:ext cx="4455486" cy="37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2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Security Rating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2165" y="1165138"/>
            <a:ext cx="4474128" cy="2619229"/>
          </a:xfrm>
          <a:custGeom>
            <a:avLst/>
            <a:gdLst/>
            <a:ahLst/>
            <a:cxnLst/>
            <a:rect l="l" t="t" r="r" b="b"/>
            <a:pathLst>
              <a:path w="4474128" h="2619229">
                <a:moveTo>
                  <a:pt x="111841" y="0"/>
                </a:moveTo>
                <a:lnTo>
                  <a:pt x="4362287" y="0"/>
                </a:lnTo>
                <a:cubicBezTo>
                  <a:pt x="4424055" y="0"/>
                  <a:pt x="4474128" y="50073"/>
                  <a:pt x="4474128" y="111841"/>
                </a:cubicBezTo>
                <a:lnTo>
                  <a:pt x="4474128" y="2507388"/>
                </a:lnTo>
                <a:cubicBezTo>
                  <a:pt x="4474128" y="2569156"/>
                  <a:pt x="4424055" y="2619229"/>
                  <a:pt x="4362287" y="2619229"/>
                </a:cubicBezTo>
                <a:lnTo>
                  <a:pt x="111841" y="2619229"/>
                </a:lnTo>
                <a:cubicBezTo>
                  <a:pt x="50073" y="2619229"/>
                  <a:pt x="0" y="2569156"/>
                  <a:pt x="0" y="2507388"/>
                </a:cubicBezTo>
                <a:lnTo>
                  <a:pt x="0" y="111841"/>
                </a:lnTo>
                <a:cubicBezTo>
                  <a:pt x="0" y="50073"/>
                  <a:pt x="50073" y="0"/>
                  <a:pt x="111841" y="0"/>
                </a:cubicBezTo>
                <a:close/>
              </a:path>
            </a:pathLst>
          </a:custGeom>
          <a:gradFill rotWithShape="1" flip="none">
            <a:gsLst>
              <a:gs pos="0">
                <a:srgbClr val="FFA500">
                  <a:alpha val="30000"/>
                </a:srgbClr>
              </a:gs>
              <a:gs pos="100000">
                <a:srgbClr val="FFA500">
                  <a:alpha val="10000"/>
                </a:srgbClr>
              </a:gs>
            </a:gsLst>
            <a:lin ang="2700000" scaled="1"/>
          </a:gradFill>
          <a:ln w="25400">
            <a:solidFill>
              <a:srgbClr val="FFA500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63960" y="1432346"/>
            <a:ext cx="708404" cy="708404"/>
          </a:xfrm>
          <a:custGeom>
            <a:avLst/>
            <a:gdLst/>
            <a:ahLst/>
            <a:cxnLst/>
            <a:rect l="l" t="t" r="r" b="b"/>
            <a:pathLst>
              <a:path w="708404" h="708404">
                <a:moveTo>
                  <a:pt x="354202" y="0"/>
                </a:moveTo>
                <a:lnTo>
                  <a:pt x="354202" y="0"/>
                </a:lnTo>
                <a:cubicBezTo>
                  <a:pt x="549822" y="0"/>
                  <a:pt x="708404" y="158582"/>
                  <a:pt x="708404" y="354202"/>
                </a:cubicBezTo>
                <a:lnTo>
                  <a:pt x="708404" y="354202"/>
                </a:lnTo>
                <a:cubicBezTo>
                  <a:pt x="708404" y="549822"/>
                  <a:pt x="549822" y="708404"/>
                  <a:pt x="354202" y="708404"/>
                </a:cubicBezTo>
                <a:lnTo>
                  <a:pt x="354202" y="708404"/>
                </a:lnTo>
                <a:cubicBezTo>
                  <a:pt x="158582" y="708404"/>
                  <a:pt x="0" y="549822"/>
                  <a:pt x="0" y="354202"/>
                </a:cubicBezTo>
                <a:lnTo>
                  <a:pt x="0" y="354202"/>
                </a:lnTo>
                <a:cubicBezTo>
                  <a:pt x="0" y="158582"/>
                  <a:pt x="158582" y="0"/>
                  <a:pt x="354202" y="0"/>
                </a:cubicBezTo>
                <a:close/>
              </a:path>
            </a:pathLst>
          </a:custGeom>
          <a:solidFill>
            <a:srgbClr val="FFA500">
              <a:alpha val="20000"/>
            </a:srgbClr>
          </a:solidFill>
          <a:ln w="50800">
            <a:solidFill>
              <a:srgbClr val="FFA5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50382" y="1618768"/>
            <a:ext cx="335560" cy="335560"/>
          </a:xfrm>
          <a:custGeom>
            <a:avLst/>
            <a:gdLst/>
            <a:ahLst/>
            <a:cxnLst/>
            <a:rect l="l" t="t" r="r" b="b"/>
            <a:pathLst>
              <a:path w="335560" h="335560">
                <a:moveTo>
                  <a:pt x="167780" y="0"/>
                </a:moveTo>
                <a:cubicBezTo>
                  <a:pt x="177414" y="0"/>
                  <a:pt x="186262" y="5309"/>
                  <a:pt x="190850" y="13763"/>
                </a:cubicBezTo>
                <a:lnTo>
                  <a:pt x="332414" y="275919"/>
                </a:lnTo>
                <a:cubicBezTo>
                  <a:pt x="336805" y="284046"/>
                  <a:pt x="336608" y="293877"/>
                  <a:pt x="331889" y="301807"/>
                </a:cubicBezTo>
                <a:cubicBezTo>
                  <a:pt x="327171" y="309737"/>
                  <a:pt x="318585" y="314587"/>
                  <a:pt x="309344" y="314587"/>
                </a:cubicBezTo>
                <a:lnTo>
                  <a:pt x="26216" y="314587"/>
                </a:lnTo>
                <a:cubicBezTo>
                  <a:pt x="16975" y="314587"/>
                  <a:pt x="8455" y="309737"/>
                  <a:pt x="3670" y="301807"/>
                </a:cubicBezTo>
                <a:cubicBezTo>
                  <a:pt x="-1114" y="293877"/>
                  <a:pt x="-1245" y="284046"/>
                  <a:pt x="3146" y="275919"/>
                </a:cubicBezTo>
                <a:lnTo>
                  <a:pt x="144710" y="13763"/>
                </a:lnTo>
                <a:cubicBezTo>
                  <a:pt x="149298" y="5309"/>
                  <a:pt x="158146" y="0"/>
                  <a:pt x="167780" y="0"/>
                </a:cubicBezTo>
                <a:close/>
                <a:moveTo>
                  <a:pt x="167780" y="110106"/>
                </a:moveTo>
                <a:cubicBezTo>
                  <a:pt x="159063" y="110106"/>
                  <a:pt x="152050" y="117118"/>
                  <a:pt x="152050" y="125835"/>
                </a:cubicBezTo>
                <a:lnTo>
                  <a:pt x="152050" y="199239"/>
                </a:lnTo>
                <a:cubicBezTo>
                  <a:pt x="152050" y="207955"/>
                  <a:pt x="159063" y="214968"/>
                  <a:pt x="167780" y="214968"/>
                </a:cubicBezTo>
                <a:cubicBezTo>
                  <a:pt x="176497" y="214968"/>
                  <a:pt x="183509" y="207955"/>
                  <a:pt x="183509" y="199239"/>
                </a:cubicBezTo>
                <a:lnTo>
                  <a:pt x="183509" y="125835"/>
                </a:lnTo>
                <a:cubicBezTo>
                  <a:pt x="183509" y="117118"/>
                  <a:pt x="176497" y="110106"/>
                  <a:pt x="167780" y="110106"/>
                </a:cubicBezTo>
                <a:close/>
                <a:moveTo>
                  <a:pt x="185279" y="251670"/>
                </a:moveTo>
                <a:cubicBezTo>
                  <a:pt x="185677" y="245174"/>
                  <a:pt x="182438" y="238995"/>
                  <a:pt x="176869" y="235626"/>
                </a:cubicBezTo>
                <a:cubicBezTo>
                  <a:pt x="171301" y="232258"/>
                  <a:pt x="164324" y="232258"/>
                  <a:pt x="158756" y="235626"/>
                </a:cubicBezTo>
                <a:cubicBezTo>
                  <a:pt x="153188" y="238995"/>
                  <a:pt x="149948" y="245174"/>
                  <a:pt x="150346" y="251670"/>
                </a:cubicBezTo>
                <a:cubicBezTo>
                  <a:pt x="149948" y="258165"/>
                  <a:pt x="153188" y="264345"/>
                  <a:pt x="158756" y="267713"/>
                </a:cubicBezTo>
                <a:cubicBezTo>
                  <a:pt x="164324" y="271081"/>
                  <a:pt x="171301" y="271081"/>
                  <a:pt x="176869" y="267713"/>
                </a:cubicBezTo>
                <a:cubicBezTo>
                  <a:pt x="182438" y="264345"/>
                  <a:pt x="185677" y="258165"/>
                  <a:pt x="185279" y="251670"/>
                </a:cubicBezTo>
                <a:close/>
              </a:path>
            </a:pathLst>
          </a:custGeom>
          <a:solidFill>
            <a:srgbClr val="FFA500"/>
          </a:solidFill>
          <a:ln/>
        </p:spPr>
      </p:sp>
      <p:sp>
        <p:nvSpPr>
          <p:cNvPr id="9" name="Text 7"/>
          <p:cNvSpPr/>
          <p:nvPr/>
        </p:nvSpPr>
        <p:spPr>
          <a:xfrm>
            <a:off x="521982" y="2271245"/>
            <a:ext cx="4194495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1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 Security Rating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4018" y="2644089"/>
            <a:ext cx="4250422" cy="37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42" b="1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 RISK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0624" y="3091502"/>
            <a:ext cx="4157211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application is operational but running with significant security debt.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5951" y="3949046"/>
            <a:ext cx="4480343" cy="2532232"/>
          </a:xfrm>
          <a:custGeom>
            <a:avLst/>
            <a:gdLst/>
            <a:ahLst/>
            <a:cxnLst/>
            <a:rect l="l" t="t" r="r" b="b"/>
            <a:pathLst>
              <a:path w="4480343" h="2532232">
                <a:moveTo>
                  <a:pt x="111849" y="0"/>
                </a:moveTo>
                <a:lnTo>
                  <a:pt x="4368494" y="0"/>
                </a:lnTo>
                <a:cubicBezTo>
                  <a:pt x="4430266" y="0"/>
                  <a:pt x="4480343" y="50076"/>
                  <a:pt x="4480343" y="111849"/>
                </a:cubicBezTo>
                <a:lnTo>
                  <a:pt x="4480343" y="2420384"/>
                </a:lnTo>
                <a:cubicBezTo>
                  <a:pt x="4480343" y="2482156"/>
                  <a:pt x="4430266" y="2532232"/>
                  <a:pt x="4368494" y="2532232"/>
                </a:cubicBezTo>
                <a:lnTo>
                  <a:pt x="111849" y="2532232"/>
                </a:lnTo>
                <a:cubicBezTo>
                  <a:pt x="50118" y="2532232"/>
                  <a:pt x="0" y="2482115"/>
                  <a:pt x="0" y="2420384"/>
                </a:cubicBezTo>
                <a:lnTo>
                  <a:pt x="0" y="111849"/>
                </a:lnTo>
                <a:cubicBezTo>
                  <a:pt x="0" y="50118"/>
                  <a:pt x="50118" y="0"/>
                  <a:pt x="11184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1498" y="4138569"/>
            <a:ext cx="186422" cy="186422"/>
          </a:xfrm>
          <a:custGeom>
            <a:avLst/>
            <a:gdLst/>
            <a:ahLst/>
            <a:cxnLst/>
            <a:rect l="l" t="t" r="r" b="b"/>
            <a:pathLst>
              <a:path w="186422" h="186422">
                <a:moveTo>
                  <a:pt x="93211" y="186422"/>
                </a:moveTo>
                <a:cubicBezTo>
                  <a:pt x="144656" y="186422"/>
                  <a:pt x="186422" y="144656"/>
                  <a:pt x="186422" y="93211"/>
                </a:cubicBezTo>
                <a:cubicBezTo>
                  <a:pt x="186422" y="41766"/>
                  <a:pt x="144656" y="0"/>
                  <a:pt x="93211" y="0"/>
                </a:cubicBezTo>
                <a:cubicBezTo>
                  <a:pt x="41766" y="0"/>
                  <a:pt x="0" y="41766"/>
                  <a:pt x="0" y="93211"/>
                </a:cubicBezTo>
                <a:cubicBezTo>
                  <a:pt x="0" y="144656"/>
                  <a:pt x="41766" y="186422"/>
                  <a:pt x="93211" y="186422"/>
                </a:cubicBezTo>
                <a:close/>
                <a:moveTo>
                  <a:pt x="93211" y="49518"/>
                </a:moveTo>
                <a:cubicBezTo>
                  <a:pt x="98054" y="49518"/>
                  <a:pt x="101950" y="53414"/>
                  <a:pt x="101950" y="58257"/>
                </a:cubicBezTo>
                <a:lnTo>
                  <a:pt x="101950" y="99037"/>
                </a:lnTo>
                <a:cubicBezTo>
                  <a:pt x="101950" y="103879"/>
                  <a:pt x="98054" y="107775"/>
                  <a:pt x="93211" y="107775"/>
                </a:cubicBezTo>
                <a:cubicBezTo>
                  <a:pt x="88368" y="107775"/>
                  <a:pt x="84472" y="103879"/>
                  <a:pt x="84472" y="99037"/>
                </a:cubicBezTo>
                <a:lnTo>
                  <a:pt x="84472" y="58257"/>
                </a:lnTo>
                <a:cubicBezTo>
                  <a:pt x="84472" y="53414"/>
                  <a:pt x="88368" y="49518"/>
                  <a:pt x="93211" y="49518"/>
                </a:cubicBezTo>
                <a:close/>
                <a:moveTo>
                  <a:pt x="83489" y="128165"/>
                </a:moveTo>
                <a:cubicBezTo>
                  <a:pt x="83268" y="124557"/>
                  <a:pt x="85068" y="121123"/>
                  <a:pt x="88161" y="119252"/>
                </a:cubicBezTo>
                <a:cubicBezTo>
                  <a:pt x="91255" y="117381"/>
                  <a:pt x="95131" y="117381"/>
                  <a:pt x="98224" y="119252"/>
                </a:cubicBezTo>
                <a:cubicBezTo>
                  <a:pt x="101318" y="121123"/>
                  <a:pt x="103117" y="124557"/>
                  <a:pt x="102896" y="128165"/>
                </a:cubicBezTo>
                <a:cubicBezTo>
                  <a:pt x="103117" y="131774"/>
                  <a:pt x="101318" y="135207"/>
                  <a:pt x="98224" y="137078"/>
                </a:cubicBezTo>
                <a:cubicBezTo>
                  <a:pt x="95131" y="138949"/>
                  <a:pt x="91255" y="138949"/>
                  <a:pt x="88161" y="137078"/>
                </a:cubicBezTo>
                <a:cubicBezTo>
                  <a:pt x="85068" y="135207"/>
                  <a:pt x="83268" y="131774"/>
                  <a:pt x="83489" y="12816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761223" y="4101284"/>
            <a:ext cx="4036037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Concerns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8196" y="4492771"/>
            <a:ext cx="298275" cy="298275"/>
          </a:xfrm>
          <a:custGeom>
            <a:avLst/>
            <a:gdLst/>
            <a:ahLst/>
            <a:cxnLst/>
            <a:rect l="l" t="t" r="r" b="b"/>
            <a:pathLst>
              <a:path w="298275" h="298275">
                <a:moveTo>
                  <a:pt x="74569" y="0"/>
                </a:moveTo>
                <a:lnTo>
                  <a:pt x="223706" y="0"/>
                </a:lnTo>
                <a:cubicBezTo>
                  <a:pt x="264890" y="0"/>
                  <a:pt x="298275" y="33386"/>
                  <a:pt x="298275" y="74569"/>
                </a:cubicBezTo>
                <a:lnTo>
                  <a:pt x="298275" y="223706"/>
                </a:lnTo>
                <a:cubicBezTo>
                  <a:pt x="298275" y="264890"/>
                  <a:pt x="264890" y="298275"/>
                  <a:pt x="223706" y="298275"/>
                </a:cubicBezTo>
                <a:lnTo>
                  <a:pt x="74569" y="298275"/>
                </a:lnTo>
                <a:cubicBezTo>
                  <a:pt x="33386" y="298275"/>
                  <a:pt x="0" y="264890"/>
                  <a:pt x="0" y="223706"/>
                </a:cubicBezTo>
                <a:lnTo>
                  <a:pt x="0" y="74569"/>
                </a:lnTo>
                <a:cubicBezTo>
                  <a:pt x="0" y="33386"/>
                  <a:pt x="33386" y="0"/>
                  <a:pt x="74569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56555" y="4548697"/>
            <a:ext cx="102532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8324" y="4474128"/>
            <a:ext cx="3840294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Absence of essential HTTP security headers exposes users to client-side attacks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8196" y="5052037"/>
            <a:ext cx="298275" cy="298275"/>
          </a:xfrm>
          <a:custGeom>
            <a:avLst/>
            <a:gdLst/>
            <a:ahLst/>
            <a:cxnLst/>
            <a:rect l="l" t="t" r="r" b="b"/>
            <a:pathLst>
              <a:path w="298275" h="298275">
                <a:moveTo>
                  <a:pt x="74569" y="0"/>
                </a:moveTo>
                <a:lnTo>
                  <a:pt x="223706" y="0"/>
                </a:lnTo>
                <a:cubicBezTo>
                  <a:pt x="264890" y="0"/>
                  <a:pt x="298275" y="33386"/>
                  <a:pt x="298275" y="74569"/>
                </a:cubicBezTo>
                <a:lnTo>
                  <a:pt x="298275" y="223706"/>
                </a:lnTo>
                <a:cubicBezTo>
                  <a:pt x="298275" y="264890"/>
                  <a:pt x="264890" y="298275"/>
                  <a:pt x="223706" y="298275"/>
                </a:cubicBezTo>
                <a:lnTo>
                  <a:pt x="74569" y="298275"/>
                </a:lnTo>
                <a:cubicBezTo>
                  <a:pt x="33386" y="298275"/>
                  <a:pt x="0" y="264890"/>
                  <a:pt x="0" y="223706"/>
                </a:cubicBezTo>
                <a:lnTo>
                  <a:pt x="0" y="74569"/>
                </a:lnTo>
                <a:cubicBezTo>
                  <a:pt x="0" y="33386"/>
                  <a:pt x="33386" y="0"/>
                  <a:pt x="74569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4030" y="5107963"/>
            <a:ext cx="13049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8324" y="5033394"/>
            <a:ext cx="3840294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Decade-old server component (Apache Tomcat Coyote 1.1) has known vulnerabilities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8196" y="5611303"/>
            <a:ext cx="298275" cy="298275"/>
          </a:xfrm>
          <a:custGeom>
            <a:avLst/>
            <a:gdLst/>
            <a:ahLst/>
            <a:cxnLst/>
            <a:rect l="l" t="t" r="r" b="b"/>
            <a:pathLst>
              <a:path w="298275" h="298275">
                <a:moveTo>
                  <a:pt x="74569" y="0"/>
                </a:moveTo>
                <a:lnTo>
                  <a:pt x="223706" y="0"/>
                </a:lnTo>
                <a:cubicBezTo>
                  <a:pt x="264890" y="0"/>
                  <a:pt x="298275" y="33386"/>
                  <a:pt x="298275" y="74569"/>
                </a:cubicBezTo>
                <a:lnTo>
                  <a:pt x="298275" y="223706"/>
                </a:lnTo>
                <a:cubicBezTo>
                  <a:pt x="298275" y="264890"/>
                  <a:pt x="264890" y="298275"/>
                  <a:pt x="223706" y="298275"/>
                </a:cubicBezTo>
                <a:lnTo>
                  <a:pt x="74569" y="298275"/>
                </a:lnTo>
                <a:cubicBezTo>
                  <a:pt x="33386" y="298275"/>
                  <a:pt x="0" y="264890"/>
                  <a:pt x="0" y="223706"/>
                </a:cubicBezTo>
                <a:lnTo>
                  <a:pt x="0" y="74569"/>
                </a:lnTo>
                <a:cubicBezTo>
                  <a:pt x="0" y="33386"/>
                  <a:pt x="33386" y="0"/>
                  <a:pt x="74569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2379" y="5667229"/>
            <a:ext cx="139817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8324" y="5592661"/>
            <a:ext cx="3840294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exposed to well-documented, easily executed attacks against user base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15724" y="1158924"/>
            <a:ext cx="6801297" cy="3930398"/>
          </a:xfrm>
          <a:custGeom>
            <a:avLst/>
            <a:gdLst/>
            <a:ahLst/>
            <a:cxnLst/>
            <a:rect l="l" t="t" r="r" b="b"/>
            <a:pathLst>
              <a:path w="6801297" h="3930398">
                <a:moveTo>
                  <a:pt x="111859" y="0"/>
                </a:moveTo>
                <a:lnTo>
                  <a:pt x="6689438" y="0"/>
                </a:lnTo>
                <a:cubicBezTo>
                  <a:pt x="6751216" y="0"/>
                  <a:pt x="6801297" y="50081"/>
                  <a:pt x="6801297" y="111859"/>
                </a:cubicBezTo>
                <a:lnTo>
                  <a:pt x="6801297" y="3818538"/>
                </a:lnTo>
                <a:cubicBezTo>
                  <a:pt x="6801297" y="3880317"/>
                  <a:pt x="6751216" y="3930398"/>
                  <a:pt x="6689438" y="3930398"/>
                </a:cubicBezTo>
                <a:lnTo>
                  <a:pt x="111859" y="3930398"/>
                </a:lnTo>
                <a:cubicBezTo>
                  <a:pt x="50081" y="3930398"/>
                  <a:pt x="0" y="3880317"/>
                  <a:pt x="0" y="3818538"/>
                </a:cubicBezTo>
                <a:lnTo>
                  <a:pt x="0" y="111859"/>
                </a:lnTo>
                <a:cubicBezTo>
                  <a:pt x="0" y="50122"/>
                  <a:pt x="50122" y="0"/>
                  <a:pt x="11185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4573" y="1348456"/>
            <a:ext cx="139817" cy="186422"/>
          </a:xfrm>
          <a:custGeom>
            <a:avLst/>
            <a:gdLst/>
            <a:ahLst/>
            <a:cxnLst/>
            <a:rect l="l" t="t" r="r" b="b"/>
            <a:pathLst>
              <a:path w="139817" h="186422">
                <a:moveTo>
                  <a:pt x="0" y="23303"/>
                </a:moveTo>
                <a:cubicBezTo>
                  <a:pt x="0" y="10450"/>
                  <a:pt x="10450" y="0"/>
                  <a:pt x="23303" y="0"/>
                </a:cubicBezTo>
                <a:lnTo>
                  <a:pt x="77737" y="0"/>
                </a:lnTo>
                <a:cubicBezTo>
                  <a:pt x="83926" y="0"/>
                  <a:pt x="89861" y="2440"/>
                  <a:pt x="94231" y="6809"/>
                </a:cubicBezTo>
                <a:lnTo>
                  <a:pt x="133008" y="45622"/>
                </a:lnTo>
                <a:cubicBezTo>
                  <a:pt x="137377" y="49992"/>
                  <a:pt x="139817" y="55927"/>
                  <a:pt x="139817" y="62116"/>
                </a:cubicBezTo>
                <a:lnTo>
                  <a:pt x="139817" y="163119"/>
                </a:lnTo>
                <a:cubicBezTo>
                  <a:pt x="139817" y="175972"/>
                  <a:pt x="129367" y="186422"/>
                  <a:pt x="116514" y="186422"/>
                </a:cubicBezTo>
                <a:lnTo>
                  <a:pt x="23303" y="186422"/>
                </a:lnTo>
                <a:cubicBezTo>
                  <a:pt x="10450" y="186422"/>
                  <a:pt x="0" y="175972"/>
                  <a:pt x="0" y="163119"/>
                </a:cubicBezTo>
                <a:lnTo>
                  <a:pt x="0" y="23303"/>
                </a:lnTo>
                <a:close/>
                <a:moveTo>
                  <a:pt x="75734" y="21300"/>
                </a:moveTo>
                <a:lnTo>
                  <a:pt x="75734" y="55344"/>
                </a:lnTo>
                <a:cubicBezTo>
                  <a:pt x="75734" y="60187"/>
                  <a:pt x="79630" y="64083"/>
                  <a:pt x="84472" y="64083"/>
                </a:cubicBezTo>
                <a:lnTo>
                  <a:pt x="118516" y="64083"/>
                </a:lnTo>
                <a:lnTo>
                  <a:pt x="75734" y="21300"/>
                </a:lnTo>
                <a:close/>
                <a:moveTo>
                  <a:pt x="43693" y="93211"/>
                </a:moveTo>
                <a:cubicBezTo>
                  <a:pt x="38850" y="93211"/>
                  <a:pt x="34954" y="97107"/>
                  <a:pt x="34954" y="101950"/>
                </a:cubicBezTo>
                <a:cubicBezTo>
                  <a:pt x="34954" y="106792"/>
                  <a:pt x="38850" y="110688"/>
                  <a:pt x="43693" y="110688"/>
                </a:cubicBezTo>
                <a:lnTo>
                  <a:pt x="96124" y="110688"/>
                </a:lnTo>
                <a:cubicBezTo>
                  <a:pt x="100966" y="110688"/>
                  <a:pt x="104862" y="106792"/>
                  <a:pt x="104862" y="101950"/>
                </a:cubicBezTo>
                <a:cubicBezTo>
                  <a:pt x="104862" y="97107"/>
                  <a:pt x="100966" y="93211"/>
                  <a:pt x="96124" y="93211"/>
                </a:cubicBezTo>
                <a:lnTo>
                  <a:pt x="43693" y="93211"/>
                </a:lnTo>
                <a:close/>
                <a:moveTo>
                  <a:pt x="43693" y="128165"/>
                </a:moveTo>
                <a:cubicBezTo>
                  <a:pt x="38850" y="128165"/>
                  <a:pt x="34954" y="132061"/>
                  <a:pt x="34954" y="136904"/>
                </a:cubicBezTo>
                <a:cubicBezTo>
                  <a:pt x="34954" y="141746"/>
                  <a:pt x="38850" y="145642"/>
                  <a:pt x="43693" y="145642"/>
                </a:cubicBezTo>
                <a:lnTo>
                  <a:pt x="96124" y="145642"/>
                </a:lnTo>
                <a:cubicBezTo>
                  <a:pt x="100966" y="145642"/>
                  <a:pt x="104862" y="141746"/>
                  <a:pt x="104862" y="136904"/>
                </a:cubicBezTo>
                <a:cubicBezTo>
                  <a:pt x="104862" y="132061"/>
                  <a:pt x="100966" y="128165"/>
                  <a:pt x="96124" y="128165"/>
                </a:cubicBezTo>
                <a:lnTo>
                  <a:pt x="43693" y="128165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6" name="Text 24"/>
          <p:cNvSpPr/>
          <p:nvPr/>
        </p:nvSpPr>
        <p:spPr>
          <a:xfrm>
            <a:off x="5400995" y="1311171"/>
            <a:ext cx="6356991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Assessment Summary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67968" y="1684015"/>
            <a:ext cx="6496807" cy="1193101"/>
          </a:xfrm>
          <a:custGeom>
            <a:avLst/>
            <a:gdLst/>
            <a:ahLst/>
            <a:cxnLst/>
            <a:rect l="l" t="t" r="r" b="b"/>
            <a:pathLst>
              <a:path w="6496807" h="1193101">
                <a:moveTo>
                  <a:pt x="74569" y="0"/>
                </a:moveTo>
                <a:lnTo>
                  <a:pt x="6422239" y="0"/>
                </a:lnTo>
                <a:cubicBezTo>
                  <a:pt x="6463422" y="0"/>
                  <a:pt x="6496807" y="33386"/>
                  <a:pt x="6496807" y="74569"/>
                </a:cubicBezTo>
                <a:lnTo>
                  <a:pt x="6496807" y="1118532"/>
                </a:lnTo>
                <a:cubicBezTo>
                  <a:pt x="6496807" y="1159715"/>
                  <a:pt x="6463422" y="1193101"/>
                  <a:pt x="6422239" y="1193101"/>
                </a:cubicBezTo>
                <a:lnTo>
                  <a:pt x="74569" y="1193101"/>
                </a:lnTo>
                <a:cubicBezTo>
                  <a:pt x="33386" y="1193101"/>
                  <a:pt x="0" y="1159715"/>
                  <a:pt x="0" y="1118532"/>
                </a:cubicBezTo>
                <a:lnTo>
                  <a:pt x="0" y="74569"/>
                </a:lnTo>
                <a:cubicBezTo>
                  <a:pt x="0" y="33386"/>
                  <a:pt x="33386" y="0"/>
                  <a:pt x="7456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279821" y="1795868"/>
            <a:ext cx="6347670" cy="96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Altoro Mutual application is </a:t>
            </a:r>
            <a:pPr>
              <a:lnSpc>
                <a:spcPct val="140000"/>
              </a:lnSpc>
            </a:pPr>
            <a:r>
              <a:rPr lang="en-US" sz="1174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but is running with significant security debt</a:t>
            </a:r>
            <a:pPr>
              <a:lnSpc>
                <a:spcPct val="140000"/>
              </a:lnSpc>
            </a:pPr>
            <a:r>
              <a:rPr lang="en-US" sz="117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absence of essential HTTP security headers and the use of a decade-old server component expose the platform to well-documented, easily executed attacks — particularly against its user base.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71075" y="2954792"/>
            <a:ext cx="2084820" cy="789187"/>
          </a:xfrm>
          <a:custGeom>
            <a:avLst/>
            <a:gdLst/>
            <a:ahLst/>
            <a:cxnLst/>
            <a:rect l="l" t="t" r="r" b="b"/>
            <a:pathLst>
              <a:path w="2084820" h="789187">
                <a:moveTo>
                  <a:pt x="74570" y="0"/>
                </a:moveTo>
                <a:lnTo>
                  <a:pt x="2010249" y="0"/>
                </a:lnTo>
                <a:cubicBezTo>
                  <a:pt x="2051433" y="0"/>
                  <a:pt x="2084820" y="33386"/>
                  <a:pt x="2084820" y="74570"/>
                </a:cubicBezTo>
                <a:lnTo>
                  <a:pt x="2084820" y="714616"/>
                </a:lnTo>
                <a:cubicBezTo>
                  <a:pt x="2084820" y="755800"/>
                  <a:pt x="2051433" y="789187"/>
                  <a:pt x="2010249" y="789187"/>
                </a:cubicBezTo>
                <a:lnTo>
                  <a:pt x="74570" y="789187"/>
                </a:lnTo>
                <a:cubicBezTo>
                  <a:pt x="33414" y="789187"/>
                  <a:pt x="0" y="755773"/>
                  <a:pt x="0" y="714616"/>
                </a:cubicBezTo>
                <a:lnTo>
                  <a:pt x="0" y="74570"/>
                </a:lnTo>
                <a:cubicBezTo>
                  <a:pt x="0" y="33386"/>
                  <a:pt x="33386" y="0"/>
                  <a:pt x="74570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w="8467">
            <a:solidFill>
              <a:srgbClr val="00D4AA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6127" y="3069755"/>
            <a:ext cx="1994716" cy="335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2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53412" y="3442599"/>
            <a:ext cx="1920147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Findings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74933" y="2954792"/>
            <a:ext cx="2084820" cy="789187"/>
          </a:xfrm>
          <a:custGeom>
            <a:avLst/>
            <a:gdLst/>
            <a:ahLst/>
            <a:cxnLst/>
            <a:rect l="l" t="t" r="r" b="b"/>
            <a:pathLst>
              <a:path w="2084820" h="789187">
                <a:moveTo>
                  <a:pt x="74570" y="0"/>
                </a:moveTo>
                <a:lnTo>
                  <a:pt x="2010249" y="0"/>
                </a:lnTo>
                <a:cubicBezTo>
                  <a:pt x="2051433" y="0"/>
                  <a:pt x="2084820" y="33386"/>
                  <a:pt x="2084820" y="74570"/>
                </a:cubicBezTo>
                <a:lnTo>
                  <a:pt x="2084820" y="714616"/>
                </a:lnTo>
                <a:cubicBezTo>
                  <a:pt x="2084820" y="755800"/>
                  <a:pt x="2051433" y="789187"/>
                  <a:pt x="2010249" y="789187"/>
                </a:cubicBezTo>
                <a:lnTo>
                  <a:pt x="74570" y="789187"/>
                </a:lnTo>
                <a:cubicBezTo>
                  <a:pt x="33414" y="789187"/>
                  <a:pt x="0" y="755773"/>
                  <a:pt x="0" y="714616"/>
                </a:cubicBezTo>
                <a:lnTo>
                  <a:pt x="0" y="74570"/>
                </a:lnTo>
                <a:cubicBezTo>
                  <a:pt x="0" y="33386"/>
                  <a:pt x="33386" y="0"/>
                  <a:pt x="74570" y="0"/>
                </a:cubicBezTo>
                <a:close/>
              </a:path>
            </a:pathLst>
          </a:custGeom>
          <a:solidFill>
            <a:srgbClr val="FFA500">
              <a:alpha val="10196"/>
            </a:srgbClr>
          </a:solidFill>
          <a:ln w="8467">
            <a:solidFill>
              <a:srgbClr val="FFA500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19985" y="3069755"/>
            <a:ext cx="1994716" cy="335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2" b="1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57269" y="3442599"/>
            <a:ext cx="1920147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 Risk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578791" y="2954792"/>
            <a:ext cx="2084820" cy="789187"/>
          </a:xfrm>
          <a:custGeom>
            <a:avLst/>
            <a:gdLst/>
            <a:ahLst/>
            <a:cxnLst/>
            <a:rect l="l" t="t" r="r" b="b"/>
            <a:pathLst>
              <a:path w="2084820" h="789187">
                <a:moveTo>
                  <a:pt x="74570" y="0"/>
                </a:moveTo>
                <a:lnTo>
                  <a:pt x="2010249" y="0"/>
                </a:lnTo>
                <a:cubicBezTo>
                  <a:pt x="2051433" y="0"/>
                  <a:pt x="2084820" y="33386"/>
                  <a:pt x="2084820" y="74570"/>
                </a:cubicBezTo>
                <a:lnTo>
                  <a:pt x="2084820" y="714616"/>
                </a:lnTo>
                <a:cubicBezTo>
                  <a:pt x="2084820" y="755800"/>
                  <a:pt x="2051433" y="789187"/>
                  <a:pt x="2010249" y="789187"/>
                </a:cubicBezTo>
                <a:lnTo>
                  <a:pt x="74570" y="789187"/>
                </a:lnTo>
                <a:cubicBezTo>
                  <a:pt x="33414" y="789187"/>
                  <a:pt x="0" y="755773"/>
                  <a:pt x="0" y="714616"/>
                </a:cubicBezTo>
                <a:lnTo>
                  <a:pt x="0" y="74570"/>
                </a:lnTo>
                <a:cubicBezTo>
                  <a:pt x="0" y="33386"/>
                  <a:pt x="33386" y="0"/>
                  <a:pt x="74570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23843" y="3069755"/>
            <a:ext cx="1994716" cy="335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2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61128" y="3442599"/>
            <a:ext cx="1920147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Risk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167968" y="3821651"/>
            <a:ext cx="6496807" cy="1118532"/>
          </a:xfrm>
          <a:custGeom>
            <a:avLst/>
            <a:gdLst/>
            <a:ahLst/>
            <a:cxnLst/>
            <a:rect l="l" t="t" r="r" b="b"/>
            <a:pathLst>
              <a:path w="6496807" h="1118532">
                <a:moveTo>
                  <a:pt x="74573" y="0"/>
                </a:moveTo>
                <a:lnTo>
                  <a:pt x="6422235" y="0"/>
                </a:lnTo>
                <a:cubicBezTo>
                  <a:pt x="6463420" y="0"/>
                  <a:pt x="6496807" y="33387"/>
                  <a:pt x="6496807" y="74573"/>
                </a:cubicBezTo>
                <a:lnTo>
                  <a:pt x="6496807" y="1043960"/>
                </a:lnTo>
                <a:cubicBezTo>
                  <a:pt x="6496807" y="1085117"/>
                  <a:pt x="6463393" y="1118532"/>
                  <a:pt x="6422235" y="1118532"/>
                </a:cubicBezTo>
                <a:lnTo>
                  <a:pt x="74573" y="1118532"/>
                </a:lnTo>
                <a:cubicBezTo>
                  <a:pt x="33387" y="1118532"/>
                  <a:pt x="0" y="1085145"/>
                  <a:pt x="0" y="1043960"/>
                </a:cubicBezTo>
                <a:lnTo>
                  <a:pt x="0" y="74573"/>
                </a:lnTo>
                <a:cubicBezTo>
                  <a:pt x="0" y="33415"/>
                  <a:pt x="33415" y="0"/>
                  <a:pt x="7457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14775" y="3958364"/>
            <a:ext cx="97872" cy="130495"/>
          </a:xfrm>
          <a:custGeom>
            <a:avLst/>
            <a:gdLst/>
            <a:ahLst/>
            <a:cxnLst/>
            <a:rect l="l" t="t" r="r" b="b"/>
            <a:pathLst>
              <a:path w="97872" h="130495">
                <a:moveTo>
                  <a:pt x="74653" y="97872"/>
                </a:moveTo>
                <a:cubicBezTo>
                  <a:pt x="76513" y="92188"/>
                  <a:pt x="80234" y="87039"/>
                  <a:pt x="84440" y="82605"/>
                </a:cubicBezTo>
                <a:cubicBezTo>
                  <a:pt x="92774" y="73837"/>
                  <a:pt x="97872" y="61985"/>
                  <a:pt x="97872" y="48936"/>
                </a:cubicBezTo>
                <a:cubicBezTo>
                  <a:pt x="97872" y="21919"/>
                  <a:pt x="75952" y="0"/>
                  <a:pt x="48936" y="0"/>
                </a:cubicBezTo>
                <a:cubicBezTo>
                  <a:pt x="21919" y="0"/>
                  <a:pt x="0" y="21919"/>
                  <a:pt x="0" y="48936"/>
                </a:cubicBezTo>
                <a:cubicBezTo>
                  <a:pt x="0" y="61985"/>
                  <a:pt x="5097" y="73837"/>
                  <a:pt x="13432" y="82605"/>
                </a:cubicBezTo>
                <a:cubicBezTo>
                  <a:pt x="17637" y="87039"/>
                  <a:pt x="21384" y="92188"/>
                  <a:pt x="23219" y="97872"/>
                </a:cubicBezTo>
                <a:lnTo>
                  <a:pt x="74627" y="97872"/>
                </a:lnTo>
                <a:close/>
                <a:moveTo>
                  <a:pt x="73404" y="110106"/>
                </a:moveTo>
                <a:lnTo>
                  <a:pt x="24468" y="110106"/>
                </a:lnTo>
                <a:lnTo>
                  <a:pt x="24468" y="114183"/>
                </a:lnTo>
                <a:cubicBezTo>
                  <a:pt x="24468" y="125449"/>
                  <a:pt x="33592" y="134573"/>
                  <a:pt x="44858" y="134573"/>
                </a:cubicBezTo>
                <a:lnTo>
                  <a:pt x="53014" y="134573"/>
                </a:lnTo>
                <a:cubicBezTo>
                  <a:pt x="64279" y="134573"/>
                  <a:pt x="73404" y="125449"/>
                  <a:pt x="73404" y="114183"/>
                </a:cubicBezTo>
                <a:lnTo>
                  <a:pt x="73404" y="110106"/>
                </a:lnTo>
                <a:close/>
                <a:moveTo>
                  <a:pt x="46897" y="28546"/>
                </a:moveTo>
                <a:cubicBezTo>
                  <a:pt x="36753" y="28546"/>
                  <a:pt x="28546" y="36753"/>
                  <a:pt x="28546" y="46897"/>
                </a:cubicBezTo>
                <a:cubicBezTo>
                  <a:pt x="28546" y="50287"/>
                  <a:pt x="25819" y="53014"/>
                  <a:pt x="22429" y="53014"/>
                </a:cubicBezTo>
                <a:cubicBezTo>
                  <a:pt x="19039" y="53014"/>
                  <a:pt x="16312" y="50287"/>
                  <a:pt x="16312" y="46897"/>
                </a:cubicBezTo>
                <a:cubicBezTo>
                  <a:pt x="16312" y="29999"/>
                  <a:pt x="29999" y="16312"/>
                  <a:pt x="46897" y="16312"/>
                </a:cubicBezTo>
                <a:cubicBezTo>
                  <a:pt x="50287" y="16312"/>
                  <a:pt x="53014" y="19039"/>
                  <a:pt x="53014" y="22429"/>
                </a:cubicBezTo>
                <a:cubicBezTo>
                  <a:pt x="53014" y="25819"/>
                  <a:pt x="50287" y="28546"/>
                  <a:pt x="46897" y="28546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0" name="Text 38"/>
          <p:cNvSpPr/>
          <p:nvPr/>
        </p:nvSpPr>
        <p:spPr>
          <a:xfrm>
            <a:off x="5502330" y="3933505"/>
            <a:ext cx="6115839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Positive Aspects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298463" y="4231780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99153" y="61956"/>
                </a:moveTo>
                <a:lnTo>
                  <a:pt x="75850" y="99241"/>
                </a:lnTo>
                <a:cubicBezTo>
                  <a:pt x="74627" y="101192"/>
                  <a:pt x="72530" y="102416"/>
                  <a:pt x="70229" y="102532"/>
                </a:cubicBezTo>
                <a:cubicBezTo>
                  <a:pt x="67928" y="102649"/>
                  <a:pt x="65714" y="101600"/>
                  <a:pt x="64345" y="99736"/>
                </a:cubicBezTo>
                <a:lnTo>
                  <a:pt x="50363" y="81094"/>
                </a:lnTo>
                <a:cubicBezTo>
                  <a:pt x="48033" y="78006"/>
                  <a:pt x="48674" y="73637"/>
                  <a:pt x="51761" y="71306"/>
                </a:cubicBezTo>
                <a:cubicBezTo>
                  <a:pt x="54849" y="68976"/>
                  <a:pt x="59218" y="69617"/>
                  <a:pt x="61548" y="72705"/>
                </a:cubicBezTo>
                <a:lnTo>
                  <a:pt x="69413" y="83191"/>
                </a:lnTo>
                <a:lnTo>
                  <a:pt x="87298" y="54558"/>
                </a:lnTo>
                <a:cubicBezTo>
                  <a:pt x="89337" y="51295"/>
                  <a:pt x="93648" y="50276"/>
                  <a:pt x="96939" y="52344"/>
                </a:cubicBezTo>
                <a:cubicBezTo>
                  <a:pt x="100231" y="54412"/>
                  <a:pt x="101221" y="58694"/>
                  <a:pt x="99153" y="61985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2" name="Text 40"/>
          <p:cNvSpPr/>
          <p:nvPr/>
        </p:nvSpPr>
        <p:spPr>
          <a:xfrm>
            <a:off x="5540812" y="4194495"/>
            <a:ext cx="4352954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high-severity exploitable vulnerabilities detected within read-only scope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298463" y="4455486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99153" y="61956"/>
                </a:moveTo>
                <a:lnTo>
                  <a:pt x="75850" y="99241"/>
                </a:lnTo>
                <a:cubicBezTo>
                  <a:pt x="74627" y="101192"/>
                  <a:pt x="72530" y="102416"/>
                  <a:pt x="70229" y="102532"/>
                </a:cubicBezTo>
                <a:cubicBezTo>
                  <a:pt x="67928" y="102649"/>
                  <a:pt x="65714" y="101600"/>
                  <a:pt x="64345" y="99736"/>
                </a:cubicBezTo>
                <a:lnTo>
                  <a:pt x="50363" y="81094"/>
                </a:lnTo>
                <a:cubicBezTo>
                  <a:pt x="48033" y="78006"/>
                  <a:pt x="48674" y="73637"/>
                  <a:pt x="51761" y="71306"/>
                </a:cubicBezTo>
                <a:cubicBezTo>
                  <a:pt x="54849" y="68976"/>
                  <a:pt x="59218" y="69617"/>
                  <a:pt x="61548" y="72705"/>
                </a:cubicBezTo>
                <a:lnTo>
                  <a:pt x="69413" y="83191"/>
                </a:lnTo>
                <a:lnTo>
                  <a:pt x="87298" y="54558"/>
                </a:lnTo>
                <a:cubicBezTo>
                  <a:pt x="89337" y="51295"/>
                  <a:pt x="93648" y="50276"/>
                  <a:pt x="96939" y="52344"/>
                </a:cubicBezTo>
                <a:cubicBezTo>
                  <a:pt x="100231" y="54412"/>
                  <a:pt x="101221" y="58694"/>
                  <a:pt x="99153" y="61985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4" name="Text 42"/>
          <p:cNvSpPr/>
          <p:nvPr/>
        </p:nvSpPr>
        <p:spPr>
          <a:xfrm>
            <a:off x="5540812" y="4418202"/>
            <a:ext cx="359794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uses HTTPS encryption for secure communications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298463" y="4679193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99153" y="61956"/>
                </a:moveTo>
                <a:lnTo>
                  <a:pt x="75850" y="99241"/>
                </a:lnTo>
                <a:cubicBezTo>
                  <a:pt x="74627" y="101192"/>
                  <a:pt x="72530" y="102416"/>
                  <a:pt x="70229" y="102532"/>
                </a:cubicBezTo>
                <a:cubicBezTo>
                  <a:pt x="67928" y="102649"/>
                  <a:pt x="65714" y="101600"/>
                  <a:pt x="64345" y="99736"/>
                </a:cubicBezTo>
                <a:lnTo>
                  <a:pt x="50363" y="81094"/>
                </a:lnTo>
                <a:cubicBezTo>
                  <a:pt x="48033" y="78006"/>
                  <a:pt x="48674" y="73637"/>
                  <a:pt x="51761" y="71306"/>
                </a:cubicBezTo>
                <a:cubicBezTo>
                  <a:pt x="54849" y="68976"/>
                  <a:pt x="59218" y="69617"/>
                  <a:pt x="61548" y="72705"/>
                </a:cubicBezTo>
                <a:lnTo>
                  <a:pt x="69413" y="83191"/>
                </a:lnTo>
                <a:lnTo>
                  <a:pt x="87298" y="54558"/>
                </a:lnTo>
                <a:cubicBezTo>
                  <a:pt x="89337" y="51295"/>
                  <a:pt x="93648" y="50276"/>
                  <a:pt x="96939" y="52344"/>
                </a:cubicBezTo>
                <a:cubicBezTo>
                  <a:pt x="100231" y="54412"/>
                  <a:pt x="101221" y="58694"/>
                  <a:pt x="99153" y="61985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6" name="Text 44"/>
          <p:cNvSpPr/>
          <p:nvPr/>
        </p:nvSpPr>
        <p:spPr>
          <a:xfrm>
            <a:off x="5540812" y="4641908"/>
            <a:ext cx="4809688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web application frameworks detected (potential for security improvements)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015724" y="5247783"/>
            <a:ext cx="6801297" cy="1236599"/>
          </a:xfrm>
          <a:custGeom>
            <a:avLst/>
            <a:gdLst/>
            <a:ahLst/>
            <a:cxnLst/>
            <a:rect l="l" t="t" r="r" b="b"/>
            <a:pathLst>
              <a:path w="6801297" h="1236599">
                <a:moveTo>
                  <a:pt x="111850" y="0"/>
                </a:moveTo>
                <a:lnTo>
                  <a:pt x="6689446" y="0"/>
                </a:lnTo>
                <a:cubicBezTo>
                  <a:pt x="6751220" y="0"/>
                  <a:pt x="6801297" y="50077"/>
                  <a:pt x="6801297" y="111850"/>
                </a:cubicBezTo>
                <a:lnTo>
                  <a:pt x="6801297" y="1124749"/>
                </a:lnTo>
                <a:cubicBezTo>
                  <a:pt x="6801297" y="1186522"/>
                  <a:pt x="6751220" y="1236599"/>
                  <a:pt x="6689446" y="1236599"/>
                </a:cubicBezTo>
                <a:lnTo>
                  <a:pt x="111850" y="1236599"/>
                </a:lnTo>
                <a:cubicBezTo>
                  <a:pt x="50077" y="1236599"/>
                  <a:pt x="0" y="1186522"/>
                  <a:pt x="0" y="1124749"/>
                </a:cubicBezTo>
                <a:lnTo>
                  <a:pt x="0" y="111850"/>
                </a:lnTo>
                <a:cubicBezTo>
                  <a:pt x="0" y="50118"/>
                  <a:pt x="50118" y="0"/>
                  <a:pt x="11185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>
                  <a:alpha val="20000"/>
                </a:srgbClr>
              </a:gs>
              <a:gs pos="100000">
                <a:srgbClr val="00D4AA">
                  <a:alpha val="10000"/>
                </a:srgbClr>
              </a:gs>
            </a:gsLst>
            <a:lin ang="0" scaled="1"/>
          </a:gradFill>
          <a:ln w="8467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44665" y="5754232"/>
            <a:ext cx="223706" cy="223706"/>
          </a:xfrm>
          <a:custGeom>
            <a:avLst/>
            <a:gdLst/>
            <a:ahLst/>
            <a:cxnLst/>
            <a:rect l="l" t="t" r="r" b="b"/>
            <a:pathLst>
              <a:path w="223706" h="223706">
                <a:moveTo>
                  <a:pt x="111853" y="223706"/>
                </a:moveTo>
                <a:cubicBezTo>
                  <a:pt x="173587" y="223706"/>
                  <a:pt x="223706" y="173587"/>
                  <a:pt x="223706" y="111853"/>
                </a:cubicBezTo>
                <a:cubicBezTo>
                  <a:pt x="223706" y="50120"/>
                  <a:pt x="173587" y="0"/>
                  <a:pt x="111853" y="0"/>
                </a:cubicBezTo>
                <a:cubicBezTo>
                  <a:pt x="50120" y="0"/>
                  <a:pt x="0" y="50120"/>
                  <a:pt x="0" y="111853"/>
                </a:cubicBezTo>
                <a:cubicBezTo>
                  <a:pt x="0" y="173587"/>
                  <a:pt x="50120" y="223706"/>
                  <a:pt x="111853" y="223706"/>
                </a:cubicBezTo>
                <a:close/>
                <a:moveTo>
                  <a:pt x="97872" y="69908"/>
                </a:moveTo>
                <a:cubicBezTo>
                  <a:pt x="97872" y="62192"/>
                  <a:pt x="104137" y="55927"/>
                  <a:pt x="111853" y="55927"/>
                </a:cubicBezTo>
                <a:cubicBezTo>
                  <a:pt x="119570" y="55927"/>
                  <a:pt x="125835" y="62192"/>
                  <a:pt x="125835" y="69908"/>
                </a:cubicBezTo>
                <a:cubicBezTo>
                  <a:pt x="125835" y="77625"/>
                  <a:pt x="119570" y="83890"/>
                  <a:pt x="111853" y="83890"/>
                </a:cubicBezTo>
                <a:cubicBezTo>
                  <a:pt x="104137" y="83890"/>
                  <a:pt x="97872" y="77625"/>
                  <a:pt x="97872" y="69908"/>
                </a:cubicBezTo>
                <a:close/>
                <a:moveTo>
                  <a:pt x="94376" y="97872"/>
                </a:moveTo>
                <a:lnTo>
                  <a:pt x="115349" y="97872"/>
                </a:lnTo>
                <a:cubicBezTo>
                  <a:pt x="121160" y="97872"/>
                  <a:pt x="125835" y="102547"/>
                  <a:pt x="125835" y="108358"/>
                </a:cubicBezTo>
                <a:lnTo>
                  <a:pt x="125835" y="146807"/>
                </a:lnTo>
                <a:lnTo>
                  <a:pt x="129330" y="146807"/>
                </a:lnTo>
                <a:cubicBezTo>
                  <a:pt x="135141" y="146807"/>
                  <a:pt x="139817" y="151482"/>
                  <a:pt x="139817" y="157294"/>
                </a:cubicBezTo>
                <a:cubicBezTo>
                  <a:pt x="139817" y="163105"/>
                  <a:pt x="135141" y="167780"/>
                  <a:pt x="129330" y="167780"/>
                </a:cubicBezTo>
                <a:lnTo>
                  <a:pt x="94376" y="167780"/>
                </a:lnTo>
                <a:cubicBezTo>
                  <a:pt x="88565" y="167780"/>
                  <a:pt x="83890" y="163105"/>
                  <a:pt x="83890" y="157294"/>
                </a:cubicBezTo>
                <a:cubicBezTo>
                  <a:pt x="83890" y="151482"/>
                  <a:pt x="88565" y="146807"/>
                  <a:pt x="94376" y="146807"/>
                </a:cubicBezTo>
                <a:lnTo>
                  <a:pt x="104862" y="146807"/>
                </a:lnTo>
                <a:lnTo>
                  <a:pt x="104862" y="118844"/>
                </a:lnTo>
                <a:lnTo>
                  <a:pt x="94376" y="118844"/>
                </a:lnTo>
                <a:cubicBezTo>
                  <a:pt x="88565" y="118844"/>
                  <a:pt x="83890" y="114169"/>
                  <a:pt x="83890" y="108358"/>
                </a:cubicBezTo>
                <a:cubicBezTo>
                  <a:pt x="83890" y="102547"/>
                  <a:pt x="88565" y="97872"/>
                  <a:pt x="94376" y="97872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9" name="Text 47"/>
          <p:cNvSpPr/>
          <p:nvPr/>
        </p:nvSpPr>
        <p:spPr>
          <a:xfrm>
            <a:off x="5453912" y="5400031"/>
            <a:ext cx="6291743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453912" y="5661021"/>
            <a:ext cx="6291743" cy="671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While no critical vulnerabilities were found in the passive assessment, the </a:t>
            </a:r>
            <a:pPr>
              <a:lnSpc>
                <a:spcPct val="130000"/>
              </a:lnSpc>
            </a:pPr>
            <a:r>
              <a:rPr lang="en-US" sz="1174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configuration weaknesses and outdated infrastructure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 a concerning security posture that should be addressed promptly.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6c9e2d8017a926c35df60917ad231af6393b87cf.jpe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6030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60302"/>
          </a:xfrm>
          <a:custGeom>
            <a:avLst/>
            <a:gdLst/>
            <a:ahLst/>
            <a:cxnLst/>
            <a:rect l="l" t="t" r="r" b="b"/>
            <a:pathLst>
              <a:path w="12192000" h="6860302">
                <a:moveTo>
                  <a:pt x="0" y="0"/>
                </a:moveTo>
                <a:lnTo>
                  <a:pt x="12192000" y="0"/>
                </a:lnTo>
                <a:lnTo>
                  <a:pt x="12192000" y="6860302"/>
                </a:lnTo>
                <a:lnTo>
                  <a:pt x="0" y="6860302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D4A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68338" y="405172"/>
            <a:ext cx="515674" cy="515674"/>
          </a:xfrm>
          <a:custGeom>
            <a:avLst/>
            <a:gdLst/>
            <a:ahLst/>
            <a:cxnLst/>
            <a:rect l="l" t="t" r="r" b="b"/>
            <a:pathLst>
              <a:path w="515674" h="515674">
                <a:moveTo>
                  <a:pt x="110504" y="0"/>
                </a:moveTo>
                <a:lnTo>
                  <a:pt x="405170" y="0"/>
                </a:lnTo>
                <a:cubicBezTo>
                  <a:pt x="466200" y="0"/>
                  <a:pt x="515674" y="49474"/>
                  <a:pt x="515674" y="110504"/>
                </a:cubicBezTo>
                <a:lnTo>
                  <a:pt x="515674" y="405170"/>
                </a:lnTo>
                <a:cubicBezTo>
                  <a:pt x="515674" y="466200"/>
                  <a:pt x="466200" y="515674"/>
                  <a:pt x="405170" y="515674"/>
                </a:cubicBezTo>
                <a:lnTo>
                  <a:pt x="110504" y="515674"/>
                </a:lnTo>
                <a:cubicBezTo>
                  <a:pt x="49474" y="515674"/>
                  <a:pt x="0" y="466200"/>
                  <a:pt x="0" y="405170"/>
                </a:cubicBezTo>
                <a:lnTo>
                  <a:pt x="0" y="110504"/>
                </a:lnTo>
                <a:cubicBezTo>
                  <a:pt x="0" y="49474"/>
                  <a:pt x="49474" y="0"/>
                  <a:pt x="110504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/>
              </a:gs>
              <a:gs pos="100000">
                <a:srgbClr val="00D4AA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5" name="Shape 2"/>
          <p:cNvSpPr/>
          <p:nvPr/>
        </p:nvSpPr>
        <p:spPr>
          <a:xfrm>
            <a:off x="515674" y="552508"/>
            <a:ext cx="221003" cy="221003"/>
          </a:xfrm>
          <a:custGeom>
            <a:avLst/>
            <a:gdLst/>
            <a:ahLst/>
            <a:cxnLst/>
            <a:rect l="l" t="t" r="r" b="b"/>
            <a:pathLst>
              <a:path w="221003" h="221003">
                <a:moveTo>
                  <a:pt x="57754" y="15669"/>
                </a:moveTo>
                <a:cubicBezTo>
                  <a:pt x="62459" y="18949"/>
                  <a:pt x="63582" y="25424"/>
                  <a:pt x="60301" y="30086"/>
                </a:cubicBezTo>
                <a:lnTo>
                  <a:pt x="36129" y="64617"/>
                </a:lnTo>
                <a:cubicBezTo>
                  <a:pt x="34359" y="67121"/>
                  <a:pt x="31597" y="68718"/>
                  <a:pt x="28532" y="68977"/>
                </a:cubicBezTo>
                <a:cubicBezTo>
                  <a:pt x="25467" y="69236"/>
                  <a:pt x="22446" y="68200"/>
                  <a:pt x="20287" y="66042"/>
                </a:cubicBezTo>
                <a:lnTo>
                  <a:pt x="3022" y="48776"/>
                </a:lnTo>
                <a:cubicBezTo>
                  <a:pt x="-993" y="44719"/>
                  <a:pt x="-993" y="38158"/>
                  <a:pt x="3022" y="34100"/>
                </a:cubicBezTo>
                <a:cubicBezTo>
                  <a:pt x="7036" y="30043"/>
                  <a:pt x="13640" y="30086"/>
                  <a:pt x="17698" y="34100"/>
                </a:cubicBezTo>
                <a:lnTo>
                  <a:pt x="26244" y="42647"/>
                </a:lnTo>
                <a:lnTo>
                  <a:pt x="43337" y="18215"/>
                </a:lnTo>
                <a:cubicBezTo>
                  <a:pt x="46618" y="13511"/>
                  <a:pt x="53093" y="12388"/>
                  <a:pt x="57754" y="15669"/>
                </a:cubicBezTo>
                <a:close/>
                <a:moveTo>
                  <a:pt x="57754" y="84732"/>
                </a:moveTo>
                <a:cubicBezTo>
                  <a:pt x="62459" y="88013"/>
                  <a:pt x="63582" y="94487"/>
                  <a:pt x="60301" y="99149"/>
                </a:cubicBezTo>
                <a:lnTo>
                  <a:pt x="36129" y="133681"/>
                </a:lnTo>
                <a:cubicBezTo>
                  <a:pt x="34359" y="136184"/>
                  <a:pt x="31597" y="137782"/>
                  <a:pt x="28532" y="138041"/>
                </a:cubicBezTo>
                <a:cubicBezTo>
                  <a:pt x="25467" y="138300"/>
                  <a:pt x="22446" y="137264"/>
                  <a:pt x="20287" y="135105"/>
                </a:cubicBezTo>
                <a:lnTo>
                  <a:pt x="3022" y="117840"/>
                </a:lnTo>
                <a:cubicBezTo>
                  <a:pt x="-1036" y="113782"/>
                  <a:pt x="-1036" y="107221"/>
                  <a:pt x="3022" y="103207"/>
                </a:cubicBezTo>
                <a:cubicBezTo>
                  <a:pt x="7079" y="99192"/>
                  <a:pt x="13640" y="99149"/>
                  <a:pt x="17654" y="103207"/>
                </a:cubicBezTo>
                <a:lnTo>
                  <a:pt x="26201" y="111753"/>
                </a:lnTo>
                <a:lnTo>
                  <a:pt x="43294" y="87322"/>
                </a:lnTo>
                <a:cubicBezTo>
                  <a:pt x="46575" y="82617"/>
                  <a:pt x="53049" y="81495"/>
                  <a:pt x="57711" y="84775"/>
                </a:cubicBezTo>
                <a:close/>
                <a:moveTo>
                  <a:pt x="96689" y="41438"/>
                </a:moveTo>
                <a:cubicBezTo>
                  <a:pt x="96689" y="33798"/>
                  <a:pt x="102861" y="27625"/>
                  <a:pt x="110502" y="27625"/>
                </a:cubicBezTo>
                <a:lnTo>
                  <a:pt x="207190" y="27625"/>
                </a:lnTo>
                <a:cubicBezTo>
                  <a:pt x="214830" y="27625"/>
                  <a:pt x="221003" y="33798"/>
                  <a:pt x="221003" y="41438"/>
                </a:cubicBezTo>
                <a:cubicBezTo>
                  <a:pt x="221003" y="49078"/>
                  <a:pt x="214830" y="55251"/>
                  <a:pt x="207190" y="55251"/>
                </a:cubicBezTo>
                <a:lnTo>
                  <a:pt x="110502" y="55251"/>
                </a:lnTo>
                <a:cubicBezTo>
                  <a:pt x="102861" y="55251"/>
                  <a:pt x="96689" y="49078"/>
                  <a:pt x="96689" y="41438"/>
                </a:cubicBezTo>
                <a:close/>
                <a:moveTo>
                  <a:pt x="96689" y="110502"/>
                </a:moveTo>
                <a:cubicBezTo>
                  <a:pt x="96689" y="102861"/>
                  <a:pt x="102861" y="96689"/>
                  <a:pt x="110502" y="96689"/>
                </a:cubicBezTo>
                <a:lnTo>
                  <a:pt x="207190" y="96689"/>
                </a:lnTo>
                <a:cubicBezTo>
                  <a:pt x="214830" y="96689"/>
                  <a:pt x="221003" y="102861"/>
                  <a:pt x="221003" y="110502"/>
                </a:cubicBezTo>
                <a:cubicBezTo>
                  <a:pt x="221003" y="118142"/>
                  <a:pt x="214830" y="124314"/>
                  <a:pt x="207190" y="124314"/>
                </a:cubicBezTo>
                <a:lnTo>
                  <a:pt x="110502" y="124314"/>
                </a:lnTo>
                <a:cubicBezTo>
                  <a:pt x="102861" y="124314"/>
                  <a:pt x="96689" y="118142"/>
                  <a:pt x="96689" y="110502"/>
                </a:cubicBezTo>
                <a:close/>
                <a:moveTo>
                  <a:pt x="69063" y="179565"/>
                </a:moveTo>
                <a:cubicBezTo>
                  <a:pt x="69063" y="171925"/>
                  <a:pt x="75236" y="165752"/>
                  <a:pt x="82876" y="165752"/>
                </a:cubicBezTo>
                <a:lnTo>
                  <a:pt x="207190" y="165752"/>
                </a:lnTo>
                <a:cubicBezTo>
                  <a:pt x="214830" y="165752"/>
                  <a:pt x="221003" y="171925"/>
                  <a:pt x="221003" y="179565"/>
                </a:cubicBezTo>
                <a:cubicBezTo>
                  <a:pt x="221003" y="187205"/>
                  <a:pt x="214830" y="193378"/>
                  <a:pt x="207190" y="193378"/>
                </a:cubicBezTo>
                <a:lnTo>
                  <a:pt x="82876" y="193378"/>
                </a:lnTo>
                <a:cubicBezTo>
                  <a:pt x="75236" y="193378"/>
                  <a:pt x="69063" y="187205"/>
                  <a:pt x="69063" y="179565"/>
                </a:cubicBezTo>
                <a:close/>
                <a:moveTo>
                  <a:pt x="27625" y="162299"/>
                </a:moveTo>
                <a:cubicBezTo>
                  <a:pt x="37155" y="162299"/>
                  <a:pt x="44891" y="170036"/>
                  <a:pt x="44891" y="179565"/>
                </a:cubicBezTo>
                <a:cubicBezTo>
                  <a:pt x="44891" y="189094"/>
                  <a:pt x="37155" y="196831"/>
                  <a:pt x="27625" y="196831"/>
                </a:cubicBezTo>
                <a:cubicBezTo>
                  <a:pt x="18096" y="196831"/>
                  <a:pt x="10360" y="189094"/>
                  <a:pt x="10360" y="179565"/>
                </a:cubicBezTo>
                <a:cubicBezTo>
                  <a:pt x="10360" y="170036"/>
                  <a:pt x="18096" y="162299"/>
                  <a:pt x="27625" y="16229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" name="Text 3"/>
          <p:cNvSpPr/>
          <p:nvPr/>
        </p:nvSpPr>
        <p:spPr>
          <a:xfrm>
            <a:off x="1031347" y="368338"/>
            <a:ext cx="3729426" cy="22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spc="116" kern="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31347" y="589341"/>
            <a:ext cx="3821511" cy="36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Priority Remediation Plan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71408" y="1108085"/>
            <a:ext cx="11452254" cy="4858997"/>
          </a:xfrm>
          <a:custGeom>
            <a:avLst/>
            <a:gdLst/>
            <a:ahLst/>
            <a:cxnLst/>
            <a:rect l="l" t="t" r="r" b="b"/>
            <a:pathLst>
              <a:path w="11452254" h="4858997">
                <a:moveTo>
                  <a:pt x="110494" y="0"/>
                </a:moveTo>
                <a:lnTo>
                  <a:pt x="11341760" y="0"/>
                </a:lnTo>
                <a:cubicBezTo>
                  <a:pt x="11402784" y="0"/>
                  <a:pt x="11452254" y="49470"/>
                  <a:pt x="11452254" y="110494"/>
                </a:cubicBezTo>
                <a:lnTo>
                  <a:pt x="11452254" y="4748503"/>
                </a:lnTo>
                <a:cubicBezTo>
                  <a:pt x="11452254" y="4809527"/>
                  <a:pt x="11402784" y="4858997"/>
                  <a:pt x="11341760" y="4858997"/>
                </a:cubicBezTo>
                <a:lnTo>
                  <a:pt x="110494" y="4858997"/>
                </a:lnTo>
                <a:cubicBezTo>
                  <a:pt x="49470" y="4858997"/>
                  <a:pt x="0" y="4809527"/>
                  <a:pt x="0" y="4748503"/>
                </a:cubicBezTo>
                <a:lnTo>
                  <a:pt x="0" y="110494"/>
                </a:lnTo>
                <a:cubicBezTo>
                  <a:pt x="0" y="49470"/>
                  <a:pt x="49470" y="0"/>
                  <a:pt x="11049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813" y="1258492"/>
          <a:ext cx="11151444" cy="4558187"/>
        </p:xfrm>
        <a:graphic>
          <a:graphicData uri="http://schemas.openxmlformats.org/drawingml/2006/table">
            <a:tbl>
              <a:tblPr/>
              <a:tblGrid>
                <a:gridCol w="1086598"/>
                <a:gridCol w="7431227"/>
                <a:gridCol w="1243142"/>
                <a:gridCol w="1390477"/>
              </a:tblGrid>
              <a:tr h="506465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0D4A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Priority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0D4A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Action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00D4A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Effort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00D4A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Impact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0646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Upgrade Apache Tomcat to latest LTS versionCritical infrastructure update to address known CVEs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Critical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>
                        <a:alpha val="10000"/>
                      </a:srgbClr>
                    </a:solidFill>
                  </a:tcPr>
                </a:tc>
              </a:tr>
              <a:tr h="50646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Implement CSRF tokens on all formsAdd per-session, server-validated tokens to login, feedback, subscription forms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Medium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>
                        <a:alpha val="10000"/>
                      </a:srgbClr>
                    </a:solidFill>
                  </a:tcPr>
                </a:tc>
              </a:tr>
              <a:tr h="50646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Add Content-Security-Policy headerConfigure CSP to prevent XSS attacks: default-src 'self'; script-src 'self'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>
                        <a:alpha val="10000"/>
                      </a:srgbClr>
                    </a:solidFill>
                  </a:tcPr>
                </a:tc>
              </a:tr>
              <a:tr h="50646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Add X-Frame-Options: SAMEORIGIN headerPrevent clickjacking attacks by restricting iframe embedding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>
                        <a:alpha val="10000"/>
                      </a:srgbClr>
                    </a:solidFill>
                  </a:tcPr>
                </a:tc>
              </a:tr>
              <a:tr h="50646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Add Strict-Transport-Security headerEnable HSTS to prevent SSL strip attacks: max-age=31536000; includeSubDomains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Medium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0646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Add X-Content-Type-Options: nosniff headerPrevent MIME type sniffing attacks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Medium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0646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Disable PUT / DELETE HTTP methodsRestrict to GET and POST only; return 405 for others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Medium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0646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Add SameSite=Strict to session cookiesEnhance CSRF protection for session management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Low-Med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668" marR="73668" marT="73668" marB="736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71408" y="6117486"/>
            <a:ext cx="3717148" cy="742816"/>
          </a:xfrm>
          <a:custGeom>
            <a:avLst/>
            <a:gdLst/>
            <a:ahLst/>
            <a:cxnLst/>
            <a:rect l="l" t="t" r="r" b="b"/>
            <a:pathLst>
              <a:path w="3717148" h="742816">
                <a:moveTo>
                  <a:pt x="110501" y="0"/>
                </a:moveTo>
                <a:lnTo>
                  <a:pt x="3606647" y="0"/>
                </a:lnTo>
                <a:cubicBezTo>
                  <a:pt x="3667675" y="0"/>
                  <a:pt x="3717148" y="49473"/>
                  <a:pt x="3717148" y="110501"/>
                </a:cubicBezTo>
                <a:lnTo>
                  <a:pt x="3717148" y="632314"/>
                </a:lnTo>
                <a:cubicBezTo>
                  <a:pt x="3717148" y="693343"/>
                  <a:pt x="3667675" y="742816"/>
                  <a:pt x="3606647" y="742816"/>
                </a:cubicBezTo>
                <a:lnTo>
                  <a:pt x="110501" y="742816"/>
                </a:lnTo>
                <a:cubicBezTo>
                  <a:pt x="49473" y="742816"/>
                  <a:pt x="0" y="693343"/>
                  <a:pt x="0" y="632314"/>
                </a:cubicBezTo>
                <a:lnTo>
                  <a:pt x="0" y="110501"/>
                </a:lnTo>
                <a:cubicBezTo>
                  <a:pt x="0" y="49514"/>
                  <a:pt x="49514" y="0"/>
                  <a:pt x="110501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FF6B6B">
                  <a:alpha val="10000"/>
                </a:srgbClr>
              </a:gs>
            </a:gsLst>
            <a:lin ang="2700000" scaled="1"/>
          </a:gradFill>
          <a:ln w="8467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2749" y="6231060"/>
            <a:ext cx="3554465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P1 (Critical)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29728" y="6452063"/>
            <a:ext cx="3600508" cy="294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Actions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240304" y="6117486"/>
            <a:ext cx="3717148" cy="742816"/>
          </a:xfrm>
          <a:custGeom>
            <a:avLst/>
            <a:gdLst/>
            <a:ahLst/>
            <a:cxnLst/>
            <a:rect l="l" t="t" r="r" b="b"/>
            <a:pathLst>
              <a:path w="3717148" h="742816">
                <a:moveTo>
                  <a:pt x="110501" y="0"/>
                </a:moveTo>
                <a:lnTo>
                  <a:pt x="3606647" y="0"/>
                </a:lnTo>
                <a:cubicBezTo>
                  <a:pt x="3667675" y="0"/>
                  <a:pt x="3717148" y="49473"/>
                  <a:pt x="3717148" y="110501"/>
                </a:cubicBezTo>
                <a:lnTo>
                  <a:pt x="3717148" y="632314"/>
                </a:lnTo>
                <a:cubicBezTo>
                  <a:pt x="3717148" y="693343"/>
                  <a:pt x="3667675" y="742816"/>
                  <a:pt x="3606647" y="742816"/>
                </a:cubicBezTo>
                <a:lnTo>
                  <a:pt x="110501" y="742816"/>
                </a:lnTo>
                <a:cubicBezTo>
                  <a:pt x="49473" y="742816"/>
                  <a:pt x="0" y="693343"/>
                  <a:pt x="0" y="632314"/>
                </a:cubicBezTo>
                <a:lnTo>
                  <a:pt x="0" y="110501"/>
                </a:lnTo>
                <a:cubicBezTo>
                  <a:pt x="0" y="49514"/>
                  <a:pt x="49514" y="0"/>
                  <a:pt x="110501" y="0"/>
                </a:cubicBezTo>
                <a:close/>
              </a:path>
            </a:pathLst>
          </a:custGeom>
          <a:gradFill rotWithShape="1" flip="none">
            <a:gsLst>
              <a:gs pos="0">
                <a:srgbClr val="FFA500">
                  <a:alpha val="20000"/>
                </a:srgbClr>
              </a:gs>
              <a:gs pos="100000">
                <a:srgbClr val="FFA500">
                  <a:alpha val="10000"/>
                </a:srgbClr>
              </a:gs>
            </a:gsLst>
            <a:lin ang="2700000" scaled="1"/>
          </a:gradFill>
          <a:ln w="8467">
            <a:solidFill>
              <a:srgbClr val="FFA500">
                <a:alpha val="4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321645" y="6231060"/>
            <a:ext cx="3554465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P2 (High)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298624" y="6452063"/>
            <a:ext cx="3600508" cy="294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0" b="1" dirty="0">
                <a:solidFill>
                  <a:srgbClr val="FFA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Actions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109200" y="6117486"/>
            <a:ext cx="3717148" cy="742816"/>
          </a:xfrm>
          <a:custGeom>
            <a:avLst/>
            <a:gdLst/>
            <a:ahLst/>
            <a:cxnLst/>
            <a:rect l="l" t="t" r="r" b="b"/>
            <a:pathLst>
              <a:path w="3717148" h="742816">
                <a:moveTo>
                  <a:pt x="110501" y="0"/>
                </a:moveTo>
                <a:lnTo>
                  <a:pt x="3606647" y="0"/>
                </a:lnTo>
                <a:cubicBezTo>
                  <a:pt x="3667675" y="0"/>
                  <a:pt x="3717148" y="49473"/>
                  <a:pt x="3717148" y="110501"/>
                </a:cubicBezTo>
                <a:lnTo>
                  <a:pt x="3717148" y="632314"/>
                </a:lnTo>
                <a:cubicBezTo>
                  <a:pt x="3717148" y="693343"/>
                  <a:pt x="3667675" y="742816"/>
                  <a:pt x="3606647" y="742816"/>
                </a:cubicBezTo>
                <a:lnTo>
                  <a:pt x="110501" y="742816"/>
                </a:lnTo>
                <a:cubicBezTo>
                  <a:pt x="49473" y="742816"/>
                  <a:pt x="0" y="693343"/>
                  <a:pt x="0" y="632314"/>
                </a:cubicBezTo>
                <a:lnTo>
                  <a:pt x="0" y="110501"/>
                </a:lnTo>
                <a:cubicBezTo>
                  <a:pt x="0" y="49514"/>
                  <a:pt x="49514" y="0"/>
                  <a:pt x="110501" y="0"/>
                </a:cubicBezTo>
                <a:close/>
              </a:path>
            </a:pathLst>
          </a:custGeom>
          <a:gradFill rotWithShape="1" flip="none">
            <a:gsLst>
              <a:gs pos="0">
                <a:srgbClr val="00D4AA">
                  <a:alpha val="20000"/>
                </a:srgbClr>
              </a:gs>
              <a:gs pos="100000">
                <a:srgbClr val="00D4AA">
                  <a:alpha val="10000"/>
                </a:srgbClr>
              </a:gs>
            </a:gsLst>
            <a:lin ang="2700000" scaled="1"/>
          </a:gradFill>
          <a:ln w="8467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90541" y="6231060"/>
            <a:ext cx="3554465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P3-P4 (Medium/Low)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167520" y="6452063"/>
            <a:ext cx="3600508" cy="294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Actions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Vulnerability Assessment Report - Altoro Mutual</dc:title>
  <dc:subject>Vulnerability Assessment Report - Altoro Mutual</dc:subject>
  <dc:creator>Kimi</dc:creator>
  <cp:lastModifiedBy>Kimi</cp:lastModifiedBy>
  <cp:revision>1</cp:revision>
  <dcterms:created xsi:type="dcterms:W3CDTF">2026-03-23T02:41:02Z</dcterms:created>
  <dcterms:modified xsi:type="dcterms:W3CDTF">2026-03-23T02:41:02Z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{"Label":"Vulnerability Assessment Report - Altoro Mutual","ContentProducer":"001191110108MACG2KBH8F10000","ProduceID":"19d18642-2962-85d6-8000-00001b92d3c8","ReservedCode1":"","ContentPropagator":"001191110108MACG2KBH8F20000","PropagateID":"19d18642-2962-85d6-8000-00001b92d3c8","ReservedCode2":""}</vt:lpwstr>
  </property>
</Properties>
</file>